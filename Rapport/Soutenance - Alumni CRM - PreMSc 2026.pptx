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ik djemadi" userId="2dcf6afdb52b8155" providerId="LiveId" clId="{ED258C4A-5798-4758-A095-3C1672EF9DFC}"/>
    <pc:docChg chg="modSld">
      <pc:chgData name="Rafik djemadi" userId="2dcf6afdb52b8155" providerId="LiveId" clId="{ED258C4A-5798-4758-A095-3C1672EF9DFC}" dt="2026-08-31T11:16:40.350" v="3" actId="14100"/>
      <pc:docMkLst>
        <pc:docMk/>
      </pc:docMkLst>
      <pc:sldChg chg="modSp mod">
        <pc:chgData name="Rafik djemadi" userId="2dcf6afdb52b8155" providerId="LiveId" clId="{ED258C4A-5798-4758-A095-3C1672EF9DFC}" dt="2026-08-31T11:16:40.350" v="3" actId="14100"/>
        <pc:sldMkLst>
          <pc:docMk/>
          <pc:sldMk cId="0" sldId="264"/>
        </pc:sldMkLst>
        <pc:picChg chg="mod">
          <ac:chgData name="Rafik djemadi" userId="2dcf6afdb52b8155" providerId="LiveId" clId="{ED258C4A-5798-4758-A095-3C1672EF9DFC}" dt="2026-08-31T11:16:40.350" v="3" actId="14100"/>
          <ac:picMkLst>
            <pc:docMk/>
            <pc:sldMk cId="0" sldId="264"/>
            <ac:picMk id="4" creationId="{00000000-0000-0000-0000-00000000000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011680"/>
            <a:ext cx="12191695" cy="12801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99669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200"/>
              </a:spcAft>
              <a:defRPr sz="3400" b="1">
                <a:solidFill>
                  <a:srgbClr val="1E40AF"/>
                </a:solidFill>
              </a:defRPr>
            </a:pPr>
            <a:r>
              <a:t>CONCEPTION ET DÉVELOPPEMENT D'UN ALUMNI CRM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99669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200"/>
              </a:spcAft>
              <a:defRPr sz="1800" b="0">
                <a:solidFill>
                  <a:srgbClr val="6B7280"/>
                </a:solidFill>
              </a:defRPr>
            </a:pPr>
            <a:r>
              <a:t>Système de suivi du parcours étudiant et de valorisation du réseau des anciens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200"/>
              </a:spcAft>
              <a:defRPr sz="3000" b="1">
                <a:solidFill>
                  <a:srgbClr val="111827"/>
                </a:solidFill>
              </a:defRPr>
            </a:pPr>
            <a:r>
              <a:t>Rafik DJEMADI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200"/>
              </a:spcAft>
              <a:defRPr sz="1700" b="0">
                <a:solidFill>
                  <a:srgbClr val="6B7280"/>
                </a:solidFill>
              </a:defRPr>
            </a:pPr>
            <a:r>
              <a:t>Stage de substitution — Programme Pré-MSc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657600"/>
            <a:ext cx="99669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200"/>
              </a:spcAft>
              <a:defRPr sz="1700" b="0">
                <a:solidFill>
                  <a:srgbClr val="1E40AF"/>
                </a:solidFill>
              </a:defRPr>
            </a:pPr>
            <a:r>
              <a:t>IONIS-STM — Ionis Education 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200"/>
              </a:spcAft>
              <a:defRPr sz="1500" b="0">
                <a:solidFill>
                  <a:srgbClr val="6B7280"/>
                </a:solidFill>
              </a:defRPr>
            </a:pPr>
            <a:r>
              <a:t>Soutenance — 19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Plan de la présentation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1508760"/>
            <a:ext cx="94183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rPr dirty="0" err="1"/>
              <a:t>Contexte</a:t>
            </a:r>
            <a:r>
              <a:rPr dirty="0"/>
              <a:t>, </a:t>
            </a:r>
            <a:r>
              <a:rPr dirty="0" err="1"/>
              <a:t>objectifs</a:t>
            </a:r>
            <a:r>
              <a:rPr dirty="0"/>
              <a:t> et </a:t>
            </a:r>
            <a:r>
              <a:rPr dirty="0" err="1"/>
              <a:t>problématique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822960" y="2212848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350008"/>
            <a:ext cx="94183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Méthodologie et choix technologiques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54096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3191256"/>
            <a:ext cx="94183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Développement technique (architecture, données, sécurité)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95344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4032504"/>
            <a:ext cx="94183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Démonstration — espaces Admin et Alumni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36592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873752"/>
            <a:ext cx="94183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Indicateurs d'insertion et conformité RGPD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577840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5715000"/>
            <a:ext cx="94183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Difficultés, bilan et perspectives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Contexte et enjeux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607040" cy="42062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• IONIS Education Group : premier groupe d'enseignement supérieur privé en France, multi-écoles (EPITECH, ESGI, IIM, ESM, ISA…).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• Le suivi de l'insertion des diplômés est un enjeu stratégique : pilotage de la formation, animation du réseau, obligations réglementaires.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• Sans système centralisé, les données d'insertion périment vite et la collecte est manuelle.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• Un chantier prioritaire : disposer d'un dispositif de suivi alumni scalable et conforme au RGPD.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120640"/>
            <a:ext cx="10607040" cy="100584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5257800"/>
            <a:ext cx="1005840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E40AF"/>
                </a:solidFill>
              </a:defRPr>
            </a:pPr>
            <a:r>
              <a:t>Problématique : comment structurer la donnée alumni, piloter l'insertion par des indicateurs fiables, et animer le réseau dans le respect du RGPD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Objectifs du stage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914400" cy="7772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1463040"/>
            <a:ext cx="94183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111827"/>
                </a:solidFill>
              </a:defRPr>
            </a:pPr>
            <a:r>
              <a:t>Créer un CRM alumni complet (espace admin + espace alumni)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76272"/>
            <a:ext cx="914400" cy="7772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313432"/>
            <a:ext cx="94183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111827"/>
                </a:solidFill>
              </a:defRPr>
            </a:pPr>
            <a:r>
              <a:t>Modéliser et implémenter une base relationnelle SQL (14 tables)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26664"/>
            <a:ext cx="914400" cy="7772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3163824"/>
            <a:ext cx="94183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111827"/>
                </a:solidFill>
              </a:defRPr>
            </a:pPr>
            <a:r>
              <a:t>Développer un tableau de bord admin avec indicateurs d'insertion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77056"/>
            <a:ext cx="914400" cy="7772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4014216"/>
            <a:ext cx="94183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111827"/>
                </a:solidFill>
              </a:defRPr>
            </a:pPr>
            <a:r>
              <a:t>Implémenter la conformité RGPD (consentement, export, suppression, audit)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27448"/>
            <a:ext cx="914400" cy="7772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864608"/>
            <a:ext cx="94183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111827"/>
                </a:solidFill>
              </a:defRPr>
            </a:pPr>
            <a:r>
              <a:t>Automatiser l'import/export des données (Excel / CSV)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577840"/>
            <a:ext cx="914400" cy="7772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5715000"/>
            <a:ext cx="94183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111827"/>
                </a:solidFill>
              </a:defRPr>
            </a:pPr>
            <a:r>
              <a:t>Documenter les processus managériaux (gouvernance, newsletter, questionnaire)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Méthodologie et déroulement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607040" cy="27432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• Phase d'analyse : cahier des charges, étude des solutions existantes, choix de la stack.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• Phase de conception : MCD/MLD, règle d'intégrité, schéma d'API.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• Phase de développement : backend FastAPI, frontend React, conformité RGPD.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• Phase de consolidation : revue de conformité, documentation des livrables, préparation du guide des processus.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607040" cy="1828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Démarche itérative en solo : audit de cohérence par introspection SQL, rejeu des migrations, tests manuels des parcours.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Documentation « comme du code » : tous les livrables générés par script (PDF, DOCX, PPTX).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Choix technologiques et arbitrages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0607040" cy="109728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29260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E40AF"/>
                </a:solidFill>
              </a:defRPr>
            </a:pPr>
            <a:r>
              <a:t>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74520"/>
            <a:ext cx="7498079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600" b="0">
                <a:solidFill>
                  <a:srgbClr val="111827"/>
                </a:solidFill>
              </a:defRPr>
            </a:pPr>
            <a:r>
              <a:t>FastAPI (Python) + Pydantic : validation, docs Swagger automatiques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1828800"/>
            <a:ext cx="237744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82 endpoints REST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06040"/>
            <a:ext cx="10607040" cy="109728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2697480"/>
            <a:ext cx="29260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E40AF"/>
                </a:solidFill>
              </a:defRPr>
            </a:pPr>
            <a: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108960"/>
            <a:ext cx="7498079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600" b="0">
                <a:solidFill>
                  <a:srgbClr val="111827"/>
                </a:solidFill>
              </a:defRPr>
            </a:pPr>
            <a:r>
              <a:t>React + Vite : SPA fluide, composants partagés, garde de routes par rôle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3063240"/>
            <a:ext cx="237744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14 pages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840480"/>
            <a:ext cx="10607040" cy="109728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931920"/>
            <a:ext cx="29260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E40AF"/>
                </a:solidFill>
              </a:defRPr>
            </a:pPr>
            <a:r>
              <a:t>Base de données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7498079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600" b="0">
                <a:solidFill>
                  <a:srgbClr val="111827"/>
                </a:solidFill>
              </a:defRPr>
            </a:pPr>
            <a:r>
              <a:t>PostgreSQL + driver pg8000 : relationnel, JSONB, intégrité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4297680"/>
            <a:ext cx="237744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14 tables, 16 migrations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74920"/>
            <a:ext cx="10607040" cy="109728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5166360"/>
            <a:ext cx="292608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E40AF"/>
                </a:solidFill>
              </a:defRPr>
            </a:pPr>
            <a:r>
              <a:t>Sécurité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577840"/>
            <a:ext cx="7498079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600" b="0">
                <a:solidFill>
                  <a:srgbClr val="111827"/>
                </a:solidFill>
              </a:defRPr>
            </a:pPr>
            <a:r>
              <a:t>OTP email, JWT, clé API admin, garde anti-IDOR, sanitisation des erreurs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5532120"/>
            <a:ext cx="237744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Conforme RGPD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Modèle de données (MCD/MLD)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303520" cy="47548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5 domaines, 14 tables.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Données étudiantes : ETUDIANT, PROMOTION (N:1).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Parcours pro : ENTREPRISE, EXPERIENCE_PRO, CERTIFICATION, OBTIENT (N:M).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RGPD : CONSENTEMENT_RGPD, DEMANDE_RGPD, AUDIT_LOG.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Questionnaires : QUESTIONNAIRE, QUESTION, REPONSE_QUESTIONNAIRE (JSON).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Infrastructure : otp_codes, schema_migrations.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Règles de cascade et contraintes d'unicité garantissant la cohérence.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475488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E40AF"/>
                </a:solidFill>
              </a:defRPr>
            </a:pPr>
            <a:r>
              <a:t>Cartographie simplifiée des entités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828800"/>
            <a:ext cx="2377440" cy="448056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961120" y="1828800"/>
            <a:ext cx="2377440" cy="448056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201168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11827"/>
                </a:solidFill>
              </a:defRPr>
            </a:pPr>
            <a:r>
              <a:t>Toutes les données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920240"/>
            <a:ext cx="201168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11827"/>
                </a:solidFill>
              </a:defRPr>
            </a:pPr>
            <a:r>
              <a:t>RGPD &amp; pilotage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Architecture 3-tiers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1554480"/>
            <a:ext cx="3291840" cy="402336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FRONTEND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t>React + Vite (SPA)</a:t>
            </a:r>
            <a:br/>
            <a:r>
              <a:t>Espace Admin / Espace Alumni</a:t>
            </a:r>
            <a:br/>
            <a:r>
              <a:t>proxy /api → port 8000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069080" y="3383280"/>
            <a:ext cx="256032" cy="36576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434840" y="1554480"/>
            <a:ext cx="3291840" cy="40233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BACKEND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t>FastAPI — 82 endpoints, 16 routeurs</a:t>
            </a:r>
            <a:br/>
            <a:r>
              <a:t>auth OTP + JWT, clé API, RGPD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680960" y="3383280"/>
            <a:ext cx="256032" cy="36576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046720" y="1554480"/>
            <a:ext cx="3291840" cy="4023360"/>
          </a:xfrm>
          <a:prstGeom prst="round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BASE DE DONNÉES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t>PostgreSQL</a:t>
            </a:r>
            <a:br/>
            <a:r>
              <a:t>14 tables, 16 migrations, JSONB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E40AF"/>
                </a:solidFill>
              </a:defRPr>
            </a:pPr>
            <a:r>
              <a:t>Côté applicatif : authentification OTP (alumni) / clé API + hash (admin) ; sessions JWT.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Démonstration — Espace Administration</a:t>
            </a:r>
          </a:p>
          <a:p>
            <a:pPr>
              <a:defRPr sz="1400">
                <a:solidFill>
                  <a:srgbClr val="EFF6FF"/>
                </a:solidFill>
              </a:defRPr>
            </a:pPr>
            <a:r>
              <a:t>Tableau de bord, annuaire, RGPD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nB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870" y="1113745"/>
            <a:ext cx="8736874" cy="5460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Démonstration — Espace Alumni</a:t>
            </a:r>
          </a:p>
          <a:p>
            <a:pPr>
              <a:defRPr sz="1400">
                <a:solidFill>
                  <a:srgbClr val="EFF6FF"/>
                </a:solidFill>
              </a:defRPr>
            </a:pPr>
            <a:r>
              <a:t>Profil, parcours, consentement, questionnaire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nC_parcou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10607040" cy="662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Conformité RGPD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607040" cy="1463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Consentement explicite : 4 types (contact, partenaires, enquêtes, newsletter), horodaté et réellement consommé.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Droits des personnes : export en auto-service (JSON/Excel/CSV), demande de suppression avec workflow verrouillé.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Anonymisation vs suppression ; traçabilité via journal d'audit ; purge différée des comptes anonymisés.</a:t>
            </a:r>
          </a:p>
        </p:txBody>
      </p:sp>
      <p:pic>
        <p:nvPicPr>
          <p:cNvPr id="5" name="Picture 4" descr="anC_consent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926080"/>
            <a:ext cx="5303520" cy="3314700"/>
          </a:xfrm>
          <a:prstGeom prst="rect">
            <a:avLst/>
          </a:prstGeom>
        </p:spPr>
      </p:pic>
      <p:pic>
        <p:nvPicPr>
          <p:cNvPr id="6" name="Picture 5" descr="anB_demandes_rgp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926080"/>
            <a:ext cx="5303520" cy="3314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Indicateurs d'insertion professionnelle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303520" cy="4937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8 indicateurs reproductibles, avec formule et source de données explicites.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Taux d'emploi à 6 mois : expériences actives à la date de référence.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Adéquation formation/emploi via les tags KPI du questionnaire.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Salaire moyen / min / max sur le champ salaire annuel.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Répartition par promotion et par secteur, taux de complétion.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Refus d'afficher un chiffre trompeur (cohortes immatures → non disponible).</a:t>
            </a:r>
          </a:p>
        </p:txBody>
      </p:sp>
      <p:pic>
        <p:nvPicPr>
          <p:cNvPr id="5" name="Picture 4" descr="anB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Difficultés rencontrées et solutions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607040" cy="47548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Auth croisée admin/alumni (403) → clés distinctes, vérification du rôle, purge des sessions orphelines.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Dérive modèle/base → migrations correctives + rejeu complet sur base vide.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Indicateur d'insertion trompeur → filtrage des expériences actives, exclusion des cohortes immatures.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Incident OneDrive → dépôt Git + .gitignore consolidé (versionner avant la première ligne de code).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Failles sécurité (IDOR, upload, secrets) → correctifs documentés, sanitisation des erreurs.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Limites exposées de façon transparente (tests, newsletter, mise à jour d'expérience).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Bilan et perspectives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607040" cy="31089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Prototype complet et opérationnel : 82 endpoints, 14 pages, 14 tables, conformité RGPD.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Compétences : full-stack, sécurité applicative, migrations versionnées, RGPD, méthodologie.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• Documentation « comme du code » : rapports, cartographies, guide des processus, ce support.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10607040" cy="1828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111827"/>
                </a:solidFill>
              </a:defRPr>
            </a:pPr>
            <a:r>
              <a:t>• Court terme : suite de tests automatisés, automatisation du questionnaire, frontend newsletter.</a:t>
            </a:r>
          </a:p>
          <a:p>
            <a:pPr>
              <a:spcAft>
                <a:spcPts val="400"/>
              </a:spcAft>
              <a:defRPr sz="1700">
                <a:solidFill>
                  <a:srgbClr val="111827"/>
                </a:solidFill>
              </a:defRPr>
            </a:pPr>
            <a:r>
              <a:t>• Moyen terme : module de mentorat, chiffrement applicatif, route de mise à jour d'une expérience.</a:t>
            </a:r>
          </a:p>
          <a:p>
            <a:pPr>
              <a:spcAft>
                <a:spcPts val="400"/>
              </a:spcAft>
              <a:defRPr sz="1700">
                <a:solidFill>
                  <a:srgbClr val="111827"/>
                </a:solidFill>
              </a:defRPr>
            </a:pPr>
            <a:r>
              <a:t>• Long terme : application mobile, PWA, notification de violation (art. 33 RGPD).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200"/>
              </a:spcAft>
              <a:defRPr sz="4000" b="1">
                <a:solidFill>
                  <a:srgbClr val="1E40AF"/>
                </a:solidFill>
              </a:defRPr>
            </a:pPr>
            <a:r>
              <a:t>Merci pour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834640"/>
            <a:ext cx="99669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200"/>
              </a:spcAft>
              <a:defRPr sz="2200" b="0">
                <a:solidFill>
                  <a:srgbClr val="6B7280"/>
                </a:solidFill>
              </a:defRPr>
            </a:pPr>
            <a:r>
              <a:t>Questions / échanges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754880"/>
            <a:ext cx="996696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200"/>
              </a:spcAft>
              <a:defRPr sz="1600" b="0">
                <a:solidFill>
                  <a:srgbClr val="111827"/>
                </a:solidFill>
              </a:defRPr>
            </a:pPr>
            <a:r>
              <a:t>Rafik DJEMADI</a:t>
            </a:r>
          </a:p>
          <a:p>
            <a:pPr algn="ctr">
              <a:spcAft>
                <a:spcPts val="200"/>
              </a:spcAft>
              <a:defRPr sz="1600" b="0">
                <a:solidFill>
                  <a:srgbClr val="111827"/>
                </a:solidFill>
              </a:defRPr>
            </a:pPr>
            <a:r>
              <a:t>Alumni CRM — Stage PreMSc 2026 — IONIS-STM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1145</Words>
  <Application>Microsoft Office PowerPoint</Application>
  <PresentationFormat>Widescreen</PresentationFormat>
  <Paragraphs>123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Rafik djemadi</cp:lastModifiedBy>
  <cp:revision>1</cp:revision>
  <dcterms:created xsi:type="dcterms:W3CDTF">2013-01-27T09:14:16Z</dcterms:created>
  <dcterms:modified xsi:type="dcterms:W3CDTF">2026-08-31T13:24:17Z</dcterms:modified>
  <cp:category/>
</cp:coreProperties>
</file>