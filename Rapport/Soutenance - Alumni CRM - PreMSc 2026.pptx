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12801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3400" b="1">
                <a:solidFill>
                  <a:srgbClr val="1E40AF"/>
                </a:solidFill>
              </a:defRPr>
            </a:pPr>
            <a:r>
              <a:t>CONCEPTION ET DÉVELOPPEMENT D'UN ALUMNI CRM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800" b="0">
                <a:solidFill>
                  <a:srgbClr val="6B7280"/>
                </a:solidFill>
              </a:defRPr>
            </a:pPr>
            <a:r>
              <a:t>Système de suivi du parcours étudiant et de valorisation du réseau des anciens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3000" b="1">
                <a:solidFill>
                  <a:srgbClr val="111827"/>
                </a:solidFill>
              </a:defRPr>
            </a:pPr>
            <a:r>
              <a:t>Rafik DJEMADI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700" b="0">
                <a:solidFill>
                  <a:srgbClr val="6B7280"/>
                </a:solidFill>
              </a:defRPr>
            </a:pPr>
            <a:r>
              <a:t>Stage de substitution — Programme Pré-MSc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65760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700" b="0">
                <a:solidFill>
                  <a:srgbClr val="1E40AF"/>
                </a:solidFill>
              </a:defRPr>
            </a:pPr>
            <a:r>
              <a:t>IONIS-STM — Ionis Education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500" b="0">
                <a:solidFill>
                  <a:srgbClr val="6B7280"/>
                </a:solidFill>
              </a:defRPr>
            </a:pPr>
            <a:r>
              <a:t>Soutenance — 19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Plan de la présentation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1508760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Contexte, objectifs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12848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350008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Méthodologie et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54096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3191256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Modèle de données et RGPD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95344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4032504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Démonstration — espaces Admin et Alumni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36592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873752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Indicateurs d'insertion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577840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5715000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Bilan et perspectives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Contexte, enjeux et objectifs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1554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Le suivi de l'insertion des diplômés est stratégique : pilotage de la formation, animation du réseau, obligations réglementaires (RGPD).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Sans système centralisé, les données périment vite et la collecte est manuelle.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10607040" cy="82296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852928"/>
            <a:ext cx="10058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E40AF"/>
                </a:solidFill>
              </a:defRPr>
            </a:pPr>
            <a:r>
              <a:t>Problématique : structurer la donnée alumni, piloter l'insertion par des indicateurs fiables, et animer le réseau dans le respect du RGPD.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57600"/>
            <a:ext cx="914400" cy="777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3794760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11827"/>
                </a:solidFill>
              </a:defRPr>
            </a:pPr>
            <a:r>
              <a:t>Un CRM complet : espace admin + espace alumni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80560"/>
            <a:ext cx="914400" cy="777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4617720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11827"/>
                </a:solidFill>
              </a:defRPr>
            </a:pPr>
            <a:r>
              <a:t>Une base relationnelle SQL modélisée (MCD/MLD)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303520"/>
            <a:ext cx="914400" cy="777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5440680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11827"/>
                </a:solidFill>
              </a:defRPr>
            </a:pPr>
            <a:r>
              <a:t>Un tableau de bord avec indicateurs d'insertion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6126480"/>
            <a:ext cx="914400" cy="777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6263640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11827"/>
                </a:solidFill>
              </a:defRPr>
            </a:pPr>
            <a:r>
              <a:t>Une conformité RGPD réelle (consentement, export, suppression, audit)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6949440"/>
            <a:ext cx="914400" cy="777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7086600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11827"/>
                </a:solidFill>
              </a:defRPr>
            </a:pPr>
            <a:r>
              <a:t>L'import/export automatisé (Excel / CSV)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Méthodologie et architecture 3-tiers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5394960" cy="43891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11827"/>
                </a:solidFill>
              </a:defRPr>
            </a:pPr>
            <a:r>
              <a:t>• Phases : analyse → conception (MCD/MLD) → développement → consolidation.</a:t>
            </a:r>
          </a:p>
          <a:p>
            <a:pPr>
              <a:spcAft>
                <a:spcPts val="1000"/>
              </a:spcAft>
              <a:defRPr sz="1700">
                <a:solidFill>
                  <a:srgbClr val="111827"/>
                </a:solidFill>
              </a:defRPr>
            </a:pPr>
            <a:r>
              <a:t>• Démarche itérative en solo : audit SQL, rejeu des migrations, tests manuels.</a:t>
            </a:r>
          </a:p>
          <a:p>
            <a:pPr>
              <a:spcAft>
                <a:spcPts val="1000"/>
              </a:spcAft>
              <a:defRPr sz="1700">
                <a:solidFill>
                  <a:srgbClr val="111827"/>
                </a:solidFill>
              </a:defRPr>
            </a:pPr>
            <a:r>
              <a:t>• Failles sécurité identifiées (IDOR, upload, secrets) → correctifs documentés.</a:t>
            </a:r>
          </a:p>
          <a:p>
            <a:pPr>
              <a:spcAft>
                <a:spcPts val="1000"/>
              </a:spcAft>
              <a:defRPr sz="1700">
                <a:solidFill>
                  <a:srgbClr val="111827"/>
                </a:solidFill>
              </a:defRPr>
            </a:pPr>
            <a:r>
              <a:t>• Documentation « comme du code » : tous les livrables générés par script.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463040"/>
            <a:ext cx="1828800" cy="448056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FRONTEND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React + Vite (SPA)</a:t>
            </a:r>
            <a:br/>
            <a:r>
              <a:t>Admin / Alumni</a:t>
            </a:r>
            <a:br/>
            <a:r>
              <a:t>proxy /api → 8000</a:t>
            </a:r>
          </a:p>
        </p:txBody>
      </p:sp>
      <p:sp>
        <p:nvSpPr>
          <p:cNvPr id="6" name="Right Arrow 5"/>
          <p:cNvSpPr/>
          <p:nvPr/>
        </p:nvSpPr>
        <p:spPr>
          <a:xfrm>
            <a:off x="8202168" y="3474720"/>
            <a:ext cx="219456" cy="36576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85631" y="1463040"/>
            <a:ext cx="1828800" cy="44805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BACKEND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FastAPI</a:t>
            </a:r>
            <a:br/>
            <a:r>
              <a:t>82 endpoints, 16 routeurs</a:t>
            </a:r>
            <a:br/>
            <a:r>
              <a:t>auth OTP + JWT, clé API, RGPD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0286999" y="3474720"/>
            <a:ext cx="219456" cy="36576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70462" y="1463040"/>
            <a:ext cx="1828800" cy="4480560"/>
          </a:xfrm>
          <a:prstGeom prst="round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BASE DE DONNÉES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PostgreSQL</a:t>
            </a:r>
            <a:br/>
            <a:r>
              <a:t>14 tables, 16 migrations, JSONB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Modèle de données (MCD/MLD)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607040" cy="47548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11827"/>
                </a:solidFill>
              </a:defRPr>
            </a:pPr>
            <a:r>
              <a:t>• 5 domaines, 14 tables.</a:t>
            </a:r>
          </a:p>
          <a:p>
            <a:pPr>
              <a:spcAft>
                <a:spcPts val="1200"/>
              </a:spcAft>
              <a:defRPr sz="1800">
                <a:solidFill>
                  <a:srgbClr val="111827"/>
                </a:solidFill>
              </a:defRPr>
            </a:pPr>
            <a:r>
              <a:t>• Étudiants : ETUDIANT, PROMOTION (N:1).</a:t>
            </a:r>
          </a:p>
          <a:p>
            <a:pPr>
              <a:spcAft>
                <a:spcPts val="1200"/>
              </a:spcAft>
              <a:defRPr sz="1800">
                <a:solidFill>
                  <a:srgbClr val="111827"/>
                </a:solidFill>
              </a:defRPr>
            </a:pPr>
            <a:r>
              <a:t>• Parcours pro : ENTREPRISE, EXPERIENCE_PRO, CERTIFICATION, OBTIENT (N:M).</a:t>
            </a:r>
          </a:p>
          <a:p>
            <a:pPr>
              <a:spcAft>
                <a:spcPts val="1200"/>
              </a:spcAft>
              <a:defRPr sz="1800">
                <a:solidFill>
                  <a:srgbClr val="111827"/>
                </a:solidFill>
              </a:defRPr>
            </a:pPr>
            <a:r>
              <a:t>• RGPD : CONSENTEMENT_RGPD, DEMANDE_RGPD, AUDIT_LOG.</a:t>
            </a:r>
          </a:p>
          <a:p>
            <a:pPr>
              <a:spcAft>
                <a:spcPts val="1200"/>
              </a:spcAft>
              <a:defRPr sz="1800">
                <a:solidFill>
                  <a:srgbClr val="111827"/>
                </a:solidFill>
              </a:defRPr>
            </a:pPr>
            <a:r>
              <a:t>• Questionnaires : QUESTIONNAIRE, QUESTION, REPONSE_QUESTIONNAIRE (JSON).</a:t>
            </a:r>
          </a:p>
          <a:p>
            <a:pPr>
              <a:spcAft>
                <a:spcPts val="1200"/>
              </a:spcAft>
              <a:defRPr sz="1800">
                <a:solidFill>
                  <a:srgbClr val="111827"/>
                </a:solidFill>
              </a:defRPr>
            </a:pPr>
            <a:r>
              <a:t>• Cascade et contraintes d'unicité garantissent la cohérence.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Conformité RGPD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5394960" cy="23774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• Consentement explicite : 4 types, horodaté et réellement consommé.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• Droits : export en auto-service (JSON/Excel/CSV), suppression avec workflow verrouillé.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• Anonymisation vs suppression ; journal d'audit ; purge différée.</a:t>
            </a:r>
          </a:p>
        </p:txBody>
      </p:sp>
      <p:pic>
        <p:nvPicPr>
          <p:cNvPr id="5" name="Picture 4" descr="anC_consentement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657600"/>
            <a:ext cx="5394960" cy="3371850"/>
          </a:xfrm>
          <a:prstGeom prst="rect">
            <a:avLst/>
          </a:prstGeom>
        </p:spPr>
      </p:pic>
      <p:pic>
        <p:nvPicPr>
          <p:cNvPr id="6" name="Picture 5" descr="anB_demandes_rgpd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280160"/>
            <a:ext cx="5394960" cy="33718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Démonstration — Espace Administration</a:t>
            </a:r>
          </a:p>
          <a:p>
            <a:pPr>
              <a:defRPr sz="1400">
                <a:solidFill>
                  <a:srgbClr val="EFF6FF"/>
                </a:solidFill>
              </a:defRPr>
            </a:pPr>
            <a:r>
              <a:t>Tableau de bord, annuaire, RGPD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nB_dashboard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10607040" cy="662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Démonstration — Espace Alumni</a:t>
            </a:r>
          </a:p>
          <a:p>
            <a:pPr>
              <a:defRPr sz="1400">
                <a:solidFill>
                  <a:srgbClr val="EFF6FF"/>
                </a:solidFill>
              </a:defRPr>
            </a:pPr>
            <a:r>
              <a:t>Profil, parcours, consentement, questionnaire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nC_parcours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10607040" cy="662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Indicateurs d'insertion professionnelle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394960" cy="4937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8 indicateurs reproductibles, formule et source explicites.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Taux d'emploi à 6 mois (expériences actives).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Adéquation formation/emploi via les tags KPI.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Salaire moyen / min / max (champ annuel).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Répartition par promotion et secteur, taux de complétion.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Pas de chiffre trompeur : cohortes immatures → « non disponible ».</a:t>
            </a:r>
          </a:p>
        </p:txBody>
      </p:sp>
      <p:pic>
        <p:nvPicPr>
          <p:cNvPr id="5" name="Picture 4" descr="anB_dashboard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Bilan, difficultés et perspectives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6070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Prototype complet et opérationnel, documenté « comme du code ».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Compétences : full-stack, sécurité applicative, migrations versionnées, RGPD.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607040" cy="1554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• Limites assumées : tests automatisés non conservés, newsletter et mise à jour d'expérience à faire.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607040" cy="1828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11827"/>
                </a:solidFill>
              </a:defRPr>
            </a:pPr>
            <a:r>
              <a:t>• Court terme : suite de tests, automatisation du questionnaire, frontend newsletter.</a:t>
            </a:r>
          </a:p>
          <a:p>
            <a:pPr>
              <a:spcAft>
                <a:spcPts val="600"/>
              </a:spcAft>
              <a:defRPr sz="1600">
                <a:solidFill>
                  <a:srgbClr val="111827"/>
                </a:solidFill>
              </a:defRPr>
            </a:pPr>
            <a:r>
              <a:t>• Moyen/long terme : mentorat, chiffrement applicatif, application mobile / PWA.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4000" b="1">
                <a:solidFill>
                  <a:srgbClr val="1E40AF"/>
                </a:solidFill>
              </a:defRPr>
            </a:pPr>
            <a:r>
              <a:t>Merci pour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83464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2200" b="0">
                <a:solidFill>
                  <a:srgbClr val="6B7280"/>
                </a:solidFill>
              </a:defRPr>
            </a:pPr>
            <a:r>
              <a:t>Questions / échanges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754880"/>
            <a:ext cx="9966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Rafik DJEMADI</a:t>
            </a:r>
          </a:p>
          <a:p>
            <a:pPr algn="ctr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Alumni CRM — Stage PreMSc 2026 — IONIS-STM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