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12801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82296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400" b="1">
                <a:solidFill>
                  <a:srgbClr val="1E40AF"/>
                </a:solidFill>
              </a:defRPr>
            </a:pPr>
            <a:r>
              <a:t>CONCEPTION ET DÉVELOPPEMENT D'UN ALUMNI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800" b="0">
                <a:solidFill>
                  <a:srgbClr val="6B7280"/>
                </a:solidFill>
              </a:defRPr>
            </a:pPr>
            <a:r>
              <a:t>Système de suivi du parcours étudiant et de valorisation du réseau des anciens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3000" b="1">
                <a:solidFill>
                  <a:srgbClr val="111827"/>
                </a:solidFill>
              </a:defRPr>
            </a:pPr>
            <a:r>
              <a:t>Rafik DJEMADI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0896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6B7280"/>
                </a:solidFill>
              </a:defRPr>
            </a:pPr>
            <a:r>
              <a:t>Stage de substitution — Programme Pré-MSc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1E40AF"/>
                </a:solidFill>
              </a:defRPr>
            </a:pPr>
            <a:r>
              <a:t>IONIS-STM — Ionis Education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500" b="0">
                <a:solidFill>
                  <a:srgbClr val="6B7280"/>
                </a:solidFill>
              </a:defRPr>
            </a:pPr>
            <a:r>
              <a:t>Soutenance — 19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Plan de la présentation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2588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65960" y="141732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Contexte et objectifs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14884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Méthodologie et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78892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288036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Modèle de données (MCD)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61188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Conformité RGPD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25196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34340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Démonstration — Admin et Alumni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98348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07492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Indicateurs d'insertion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715000"/>
            <a:ext cx="914400" cy="658368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5806440"/>
            <a:ext cx="941832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111827"/>
                </a:solidFill>
              </a:defRPr>
            </a:pPr>
            <a:r>
              <a:t>Bilan et perspectives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Contexte et enjeux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21945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11827"/>
                </a:solidFill>
              </a:defRPr>
            </a:pPr>
            <a:r>
              <a:t>• IONIS-STM : formations Pré-MSc / MSc1 / MSc2 (développement, cyber, data, management, marketing digital).</a:t>
            </a:r>
          </a:p>
          <a:p>
            <a:pPr>
              <a:spcAft>
                <a:spcPts val="600"/>
              </a:spcAft>
              <a:defRPr sz="1400">
                <a:solidFill>
                  <a:srgbClr val="111827"/>
                </a:solidFill>
              </a:defRPr>
            </a:pPr>
            <a:r>
              <a:t>• Plusieurs centaines de diplômés par an : suivre leur insertion est stratégique (pilotage, tutelle CTI/HCERES, animation du réseau).</a:t>
            </a:r>
          </a:p>
          <a:p>
            <a:pPr>
              <a:spcAft>
                <a:spcPts val="600"/>
              </a:spcAft>
              <a:defRPr sz="1400">
                <a:solidFill>
                  <a:srgbClr val="111827"/>
                </a:solidFill>
              </a:defRPr>
            </a:pPr>
            <a:r>
              <a:t>• Sans outil centralisé : données dispersées, indicateurs à la main, réseau inactif, RGPD non formalisé.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77639"/>
            <a:ext cx="10607040" cy="100584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096512"/>
            <a:ext cx="1005840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FFFF"/>
                </a:solidFill>
              </a:defRPr>
            </a:pPr>
            <a:r>
              <a:t>Problématique : comment structurer la donnée alumni, produire des indicateurs d'insertion fiables et animer le réseau dans le respect du RGPD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Contexte : retrouver les anciens d'une promotion repose aujourd'hui sur des fichiers épars et des relances manuelles — la base centrale remplace ce bricolage.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Objectifs du stage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389888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 CRM complet : espace admin + espace alumni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56816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975104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Une base relationnelle SQL modélisée (MCD/MLD)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542032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560320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 tableau de bord avec indicateurs d'insertion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27248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145536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Une conformité RGPD réelle (consentement, export, suppression, audit)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712464"/>
            <a:ext cx="8229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O5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730752"/>
            <a:ext cx="95097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111827"/>
                </a:solidFill>
              </a:defRPr>
            </a:pPr>
            <a:r>
              <a:t>L'import/export automatisé (Excel / CSV)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Objectif O3 : un directeur voit en une page le taux d'emploi, le salaire moyen et la répartition par secteur de la promotion 2026.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Méthodologie et déroulement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607040" cy="3017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Analyse : cahier des charges, étude des solutions, choix de la stack.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Conception : MCD/MLD (Looping), règles d'intégrité, schéma d'API.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Développement : backend FastAPI, frontend React, conformité RGPD.</a:t>
            </a:r>
          </a:p>
          <a:p>
            <a:pPr>
              <a:spcAft>
                <a:spcPts val="1000"/>
              </a:spcAft>
              <a:defRPr sz="1700">
                <a:solidFill>
                  <a:srgbClr val="111827"/>
                </a:solidFill>
              </a:defRPr>
            </a:pPr>
            <a:r>
              <a:t>• Consolidation : revue, documentation « comme du code », guide des processus.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Démarche itérative : chaque brique est livrée puis testée sur les parcours réels (connexion OTP, import Excel, demande RGPD) avant d'enchaîner la suivante.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Architecture 3-tiers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5486400" cy="27432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Frontend React + Vite (SPA) : espace Admin et Alumni, proxy /api → 8000.</a:t>
            </a:r>
          </a:p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Backend FastAPI : 82 endpoints, 16 routeurs, validations Pydantic, Swagger.</a:t>
            </a:r>
          </a:p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PostgreSQL : 14 tables, 16 migrations versionnées, JSONB.</a:t>
            </a:r>
          </a:p>
          <a:p>
            <a:pPr>
              <a:spcAft>
                <a:spcPts val="700"/>
              </a:spcAft>
              <a:defRPr sz="1500">
                <a:solidFill>
                  <a:srgbClr val="111827"/>
                </a:solidFill>
              </a:defRPr>
            </a:pPr>
            <a:r>
              <a:t>• Sécurité : OTP email, JWT, clé API admin, anti-IDOR.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4348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5262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45445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Flux d'une requête : un alumni saisit son code OTP à 6 chiffres → FastAPI le valide → un JWT est émis pour accéder à son profil.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417320"/>
            <a:ext cx="1691640" cy="2743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FRONTEND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React + Vite</a:t>
            </a:r>
            <a:br/>
            <a:r>
              <a:t>(SPA)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247888" y="2560320"/>
            <a:ext cx="201168" cy="4114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22208" y="1417320"/>
            <a:ext cx="1691640" cy="27432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BACKEND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FastAPI</a:t>
            </a:r>
            <a:br/>
            <a:r>
              <a:t>82 endpoints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0186416" y="2560320"/>
            <a:ext cx="201168" cy="4114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460736" y="1417320"/>
            <a:ext cx="1691640" cy="2743200"/>
          </a:xfrm>
          <a:prstGeom prst="round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BASE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PostgreSQL</a:t>
            </a:r>
            <a:br/>
            <a:r>
              <a:t>14 tables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Modèle de données (MCD)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28016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</a:defRPr>
            </a:pPr>
            <a:r>
              <a:t>• 5 domaines, 14 tables : étudiants, parcours pro, RGPD, questionnaires, INFRA.</a:t>
            </a:r>
          </a:p>
          <a:p>
            <a:pPr>
              <a:spcAft>
                <a:spcPts val="500"/>
              </a:spcAft>
              <a:defRPr sz="1500">
                <a:solidFill>
                  <a:srgbClr val="111827"/>
                </a:solidFill>
              </a:defRPr>
            </a:pPr>
            <a:r>
              <a:t>• Relations clés : ETUDIANT → PROMOTION (N:1) ; EXPERIENCE_PRO (postes &amp; salaires) ; OBTIENT (certifications N:M).</a:t>
            </a:r>
          </a:p>
        </p:txBody>
      </p:sp>
      <p:pic>
        <p:nvPicPr>
          <p:cNvPr id="5" name="Picture 4" descr="M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9295" y="2514600"/>
            <a:ext cx="7393104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Conformité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5544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Consentement explicite (4 types), horodaté et réellement consommé.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Droits : export en auto-service (JSON/Excel/CSV), suppression avec workflow verrouillé et anonymisation.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Traçabilité : journal d'audit, purge différée des comptes anonymisés.</a:t>
            </a:r>
          </a:p>
        </p:txBody>
      </p:sp>
      <p:pic>
        <p:nvPicPr>
          <p:cNvPr id="5" name="Picture 4" descr="anC_consentemen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4640"/>
            <a:ext cx="4206240" cy="2628900"/>
          </a:xfrm>
          <a:prstGeom prst="rect">
            <a:avLst/>
          </a:prstGeom>
        </p:spPr>
      </p:pic>
      <p:pic>
        <p:nvPicPr>
          <p:cNvPr id="6" name="Picture 5" descr="anB_demandes_rgpd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2834640"/>
            <a:ext cx="4206240" cy="2628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Administration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Tableau de bord, annuaire, RGPD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234440"/>
            <a:ext cx="8119872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Démonstration — Espace Alumni</a:t>
            </a:r>
          </a:p>
          <a:p>
            <a:pPr>
              <a:defRPr sz="1400">
                <a:solidFill>
                  <a:srgbClr val="EFF6FF"/>
                </a:solidFill>
              </a:defRPr>
            </a:pPr>
            <a:r>
              <a:t>Profil, parcours, consentement, questionnaire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nC_parcours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234440"/>
            <a:ext cx="8119872" cy="5074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Indicateurs d'insertion professionnelle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5394960" cy="29260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8 indicateurs reproductibles, formule et source explicites.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Taux d'emploi à 6 mois (expériences actives).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Adéquation formation/emploi via les tags KPI.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Salaire moyen / min / max (champ annuel).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Répartition par promotion et secteur.</a:t>
            </a:r>
          </a:p>
          <a:p>
            <a:pPr>
              <a:spcAft>
                <a:spcPts val="600"/>
              </a:spcAft>
              <a:defRPr sz="1500">
                <a:solidFill>
                  <a:srgbClr val="111827"/>
                </a:solidFill>
              </a:defRPr>
            </a:pPr>
            <a:r>
              <a:t>• Pas de chiffre trompeur : cohortes immatures → « non disponible 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Calcul : taux d'emploi à 6 mois = diplômés de la promo en poste actif à la date de référence / diplômés de la promo (cohorte mature).</a:t>
            </a:r>
          </a:p>
        </p:txBody>
      </p:sp>
      <p:pic>
        <p:nvPicPr>
          <p:cNvPr id="8" name="Picture 7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3200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37160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Bilan et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607040" cy="29260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11827"/>
                </a:solidFill>
              </a:defRPr>
            </a:pPr>
            <a:r>
              <a:t>• Prototype complet et opérationnel, documenté « comme du code » (rapports, cartographies, guide des processus, support de soutenance).</a:t>
            </a:r>
          </a:p>
          <a:p>
            <a:pPr>
              <a:spcAft>
                <a:spcPts val="900"/>
              </a:spcAft>
              <a:defRPr sz="1600">
                <a:solidFill>
                  <a:srgbClr val="111827"/>
                </a:solidFill>
              </a:defRPr>
            </a:pPr>
            <a:r>
              <a:t>• Compétences : full-stack, sécurité applicative, migrations versionnées, RGPD.</a:t>
            </a:r>
          </a:p>
          <a:p>
            <a:pPr>
              <a:spcAft>
                <a:spcPts val="900"/>
              </a:spcAft>
              <a:defRPr sz="1600">
                <a:solidFill>
                  <a:srgbClr val="111827"/>
                </a:solidFill>
              </a:defRPr>
            </a:pPr>
            <a:r>
              <a:t>• Perspectives : suite de tests automatisés, automatisation du questionnaire, frontend newsletter, mentorat, application mobile / PWA.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349240"/>
            <a:ext cx="10607040" cy="8686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5440680"/>
            <a:ext cx="192024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400" b="1">
                <a:solidFill>
                  <a:srgbClr val="10B981"/>
                </a:solidFill>
              </a:defRPr>
            </a:pPr>
            <a:r>
              <a:t>EXEMPLE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5458968"/>
            <a:ext cx="82296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spcAft>
                <a:spcPts val="200"/>
              </a:spcAft>
              <a:defRPr sz="1500" b="0">
                <a:solidFill>
                  <a:srgbClr val="111827"/>
                </a:solidFill>
              </a:defRPr>
            </a:pPr>
            <a:r>
              <a:t>Suite : le dépôt Git versionne les migrations et les scripts de génération : le projet reste rejouable et transmissible à la reprise.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Alumni CRM — Stage PreMSc 2026 — IONIS-STM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1E40AF"/>
                </a:solidFill>
              </a:defRPr>
            </a:pPr>
            <a:r>
              <a:t>Merci pour votre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834640"/>
            <a:ext cx="99669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6B7280"/>
                </a:solidFill>
              </a:defRPr>
            </a:pPr>
            <a:r>
              <a:t>Questions / échanges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Rafik DJEMADI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111827"/>
                </a:solidFill>
              </a:defRPr>
            </a:pPr>
            <a:r>
              <a:t>Alumni CRM — Stage PreMSc 2026 — IONIS-STM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