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011680"/>
            <a:ext cx="12191695" cy="128016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822960"/>
            <a:ext cx="996696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spcAft>
                <a:spcPts val="200"/>
              </a:spcAft>
              <a:defRPr sz="3400" b="1">
                <a:solidFill>
                  <a:srgbClr val="1E40AF"/>
                </a:solidFill>
              </a:defRPr>
            </a:pPr>
            <a:r>
              <a:t>CONCEPTION ET DÉVELOPPEMENT D'UN ALUMNI CRM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1417320"/>
            <a:ext cx="996696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spcAft>
                <a:spcPts val="200"/>
              </a:spcAft>
              <a:defRPr sz="1800" b="0">
                <a:solidFill>
                  <a:srgbClr val="6B7280"/>
                </a:solidFill>
              </a:defRPr>
            </a:pPr>
            <a:r>
              <a:t>Système de suivi du parcours étudiant et de valorisation du réseau des anciens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377440"/>
            <a:ext cx="9966960" cy="8229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spcAft>
                <a:spcPts val="200"/>
              </a:spcAft>
              <a:defRPr sz="3000" b="1">
                <a:solidFill>
                  <a:srgbClr val="111827"/>
                </a:solidFill>
              </a:defRPr>
            </a:pPr>
            <a:r>
              <a:t>Rafik DJEMADI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108960"/>
            <a:ext cx="9966960" cy="5486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spcAft>
                <a:spcPts val="200"/>
              </a:spcAft>
              <a:defRPr sz="1700" b="0">
                <a:solidFill>
                  <a:srgbClr val="6B7280"/>
                </a:solidFill>
              </a:defRPr>
            </a:pPr>
            <a:r>
              <a:t>Stage de substitution — Programme Pré-MSc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3657600"/>
            <a:ext cx="996696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spcAft>
                <a:spcPts val="200"/>
              </a:spcAft>
              <a:defRPr sz="1700" b="0">
                <a:solidFill>
                  <a:srgbClr val="1E40AF"/>
                </a:solidFill>
              </a:defRPr>
            </a:pPr>
            <a:r>
              <a:t>IONIS-STM — Ionis Education Group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5760720"/>
            <a:ext cx="996696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spcAft>
                <a:spcPts val="200"/>
              </a:spcAft>
              <a:defRPr sz="1500" b="0">
                <a:solidFill>
                  <a:srgbClr val="6B7280"/>
                </a:solidFill>
              </a:defRPr>
            </a:pPr>
            <a:r>
              <a:t>Soutenance — 19 septembre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137160" wrap="square"/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Plan de la présentation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22960" y="1371600"/>
            <a:ext cx="914400" cy="73152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6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65960" y="1508760"/>
            <a:ext cx="9418320" cy="5486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spcAft>
                <a:spcPts val="200"/>
              </a:spcAft>
              <a:defRPr sz="2000" b="0">
                <a:solidFill>
                  <a:srgbClr val="111827"/>
                </a:solidFill>
              </a:defRPr>
            </a:pPr>
            <a:r>
              <a:t>Contexte, objectifs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212848"/>
            <a:ext cx="914400" cy="73152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6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65960" y="2350008"/>
            <a:ext cx="9418320" cy="5486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spcAft>
                <a:spcPts val="200"/>
              </a:spcAft>
              <a:defRPr sz="2000" b="0">
                <a:solidFill>
                  <a:srgbClr val="111827"/>
                </a:solidFill>
              </a:defRPr>
            </a:pPr>
            <a:r>
              <a:t>Méthodologie et architecture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3054096"/>
            <a:ext cx="914400" cy="73152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6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965960" y="3191256"/>
            <a:ext cx="9418320" cy="5486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spcAft>
                <a:spcPts val="200"/>
              </a:spcAft>
              <a:defRPr sz="2000" b="0">
                <a:solidFill>
                  <a:srgbClr val="111827"/>
                </a:solidFill>
              </a:defRPr>
            </a:pPr>
            <a:r>
              <a:t>Modèle de données et RGPD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895344"/>
            <a:ext cx="914400" cy="73152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6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65960" y="4032504"/>
            <a:ext cx="9418320" cy="5486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spcAft>
                <a:spcPts val="200"/>
              </a:spcAft>
              <a:defRPr sz="2000" b="0">
                <a:solidFill>
                  <a:srgbClr val="111827"/>
                </a:solidFill>
              </a:defRPr>
            </a:pPr>
            <a:r>
              <a:t>Démonstration — espaces Admin et Alumni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4736592"/>
            <a:ext cx="914400" cy="73152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6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65960" y="4873752"/>
            <a:ext cx="9418320" cy="5486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spcAft>
                <a:spcPts val="200"/>
              </a:spcAft>
              <a:defRPr sz="2000" b="0">
                <a:solidFill>
                  <a:srgbClr val="111827"/>
                </a:solidFill>
              </a:defRPr>
            </a:pPr>
            <a:r>
              <a:t>Indicateurs d'insertion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5577840"/>
            <a:ext cx="914400" cy="73152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600" b="1">
                <a:solidFill>
                  <a:srgbClr val="FFFFFF"/>
                </a:solidFill>
              </a:defRPr>
            </a:pPr>
            <a:r>
              <a:t>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65960" y="5715000"/>
            <a:ext cx="9418320" cy="5486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spcAft>
                <a:spcPts val="200"/>
              </a:spcAft>
              <a:defRPr sz="2000" b="0">
                <a:solidFill>
                  <a:srgbClr val="111827"/>
                </a:solidFill>
              </a:defRPr>
            </a:pPr>
            <a:r>
              <a:t>Bilan et perspectives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644652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6B7280"/>
                </a:solidFill>
              </a:defRPr>
            </a:pPr>
            <a:r>
              <a:t>Alumni CRM — Stage PreMSc 2026 — IONIS-STM       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137160" wrap="square"/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Contexte, enjeux et objectifs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143000"/>
            <a:ext cx="10607040" cy="128016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111827"/>
                </a:solidFill>
              </a:defRPr>
            </a:pPr>
            <a:r>
              <a:t>• Le suivi de l'insertion des diplômés est stratégique : pilotage de la formation, animation du réseau, obligations réglementaires (RGPD).</a:t>
            </a:r>
          </a:p>
          <a:p>
            <a:pPr>
              <a:spcAft>
                <a:spcPts val="600"/>
              </a:spcAft>
              <a:defRPr sz="1500">
                <a:solidFill>
                  <a:srgbClr val="111827"/>
                </a:solidFill>
              </a:defRPr>
            </a:pPr>
            <a:r>
              <a:t>• Sans système centralisé, les données périment vite et la collecte est manuelle.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560320"/>
            <a:ext cx="10607040" cy="731520"/>
          </a:xfrm>
          <a:prstGeom prst="roundRect">
            <a:avLst/>
          </a:prstGeom>
          <a:solidFill>
            <a:srgbClr val="EFF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2633472"/>
            <a:ext cx="10058400" cy="5943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spcAft>
                <a:spcPts val="200"/>
              </a:spcAft>
              <a:defRPr sz="1500" b="1">
                <a:solidFill>
                  <a:srgbClr val="1E40AF"/>
                </a:solidFill>
              </a:defRPr>
            </a:pPr>
            <a:r>
              <a:t>Problématique : structurer la donnée alumni, piloter l'insertion par des indicateurs fiables, et animer le réseau dans le respect du RGPD.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3429000"/>
            <a:ext cx="822960" cy="548640"/>
          </a:xfrm>
          <a:prstGeom prst="round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700" b="1">
                <a:solidFill>
                  <a:srgbClr val="FFFFFF"/>
                </a:solidFill>
              </a:defRPr>
            </a:pPr>
            <a:r>
              <a:t>O1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3456432"/>
            <a:ext cx="9509760" cy="5029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spcAft>
                <a:spcPts val="200"/>
              </a:spcAft>
              <a:defRPr sz="1700" b="1">
                <a:solidFill>
                  <a:srgbClr val="111827"/>
                </a:solidFill>
              </a:defRPr>
            </a:pPr>
            <a:r>
              <a:t>Un CRM complet : espace admin + espace alumni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3995928"/>
            <a:ext cx="822960" cy="548640"/>
          </a:xfrm>
          <a:prstGeom prst="round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700" b="1">
                <a:solidFill>
                  <a:srgbClr val="FFFFFF"/>
                </a:solidFill>
              </a:defRPr>
            </a:pPr>
            <a:r>
              <a:t>O2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4023360"/>
            <a:ext cx="9509760" cy="5029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spcAft>
                <a:spcPts val="200"/>
              </a:spcAft>
              <a:defRPr sz="1700" b="1">
                <a:solidFill>
                  <a:srgbClr val="111827"/>
                </a:solidFill>
              </a:defRPr>
            </a:pPr>
            <a:r>
              <a:t>Une base relationnelle SQL modélisée (MCD/MLD)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562856"/>
            <a:ext cx="822960" cy="548640"/>
          </a:xfrm>
          <a:prstGeom prst="round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700" b="1">
                <a:solidFill>
                  <a:srgbClr val="FFFFFF"/>
                </a:solidFill>
              </a:defRPr>
            </a:pPr>
            <a:r>
              <a:t>O3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4590288"/>
            <a:ext cx="9509760" cy="5029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spcAft>
                <a:spcPts val="200"/>
              </a:spcAft>
              <a:defRPr sz="1700" b="1">
                <a:solidFill>
                  <a:srgbClr val="111827"/>
                </a:solidFill>
              </a:defRPr>
            </a:pPr>
            <a:r>
              <a:t>Un tableau de bord avec indicateurs d'insertion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5129784"/>
            <a:ext cx="822960" cy="548640"/>
          </a:xfrm>
          <a:prstGeom prst="round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700" b="1">
                <a:solidFill>
                  <a:srgbClr val="FFFFFF"/>
                </a:solidFill>
              </a:defRPr>
            </a:pPr>
            <a:r>
              <a:t>O4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5157216"/>
            <a:ext cx="9509760" cy="5029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spcAft>
                <a:spcPts val="200"/>
              </a:spcAft>
              <a:defRPr sz="1700" b="1">
                <a:solidFill>
                  <a:srgbClr val="111827"/>
                </a:solidFill>
              </a:defRPr>
            </a:pPr>
            <a:r>
              <a:t>Une conformité RGPD réelle (consentement, export, suppression, audit)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5696712"/>
            <a:ext cx="822960" cy="548640"/>
          </a:xfrm>
          <a:prstGeom prst="round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700" b="1">
                <a:solidFill>
                  <a:srgbClr val="FFFFFF"/>
                </a:solidFill>
              </a:defRPr>
            </a:pPr>
            <a:r>
              <a:t>O5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5724144"/>
            <a:ext cx="9509760" cy="5029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spcAft>
                <a:spcPts val="200"/>
              </a:spcAft>
              <a:defRPr sz="1700" b="1">
                <a:solidFill>
                  <a:srgbClr val="111827"/>
                </a:solidFill>
              </a:defRPr>
            </a:pPr>
            <a:r>
              <a:t>L'import/export automatisé (Excel / CSV)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644652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6B7280"/>
                </a:solidFill>
              </a:defRPr>
            </a:pPr>
            <a:r>
              <a:t>Alumni CRM — Stage PreMSc 2026 — IONIS-STM        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137160" wrap="square"/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Méthodologie et architecture 3-tiers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234440"/>
            <a:ext cx="5394960" cy="438912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spcAft>
                <a:spcPts val="1000"/>
              </a:spcAft>
              <a:defRPr sz="1700">
                <a:solidFill>
                  <a:srgbClr val="111827"/>
                </a:solidFill>
              </a:defRPr>
            </a:pPr>
            <a:r>
              <a:t>• Phases : analyse → conception (MCD/MLD) → développement → consolidation.</a:t>
            </a:r>
          </a:p>
          <a:p>
            <a:pPr>
              <a:spcAft>
                <a:spcPts val="1000"/>
              </a:spcAft>
              <a:defRPr sz="1700">
                <a:solidFill>
                  <a:srgbClr val="111827"/>
                </a:solidFill>
              </a:defRPr>
            </a:pPr>
            <a:r>
              <a:t>• Démarche itérative en solo : audit SQL, rejeu des migrations, tests manuels.</a:t>
            </a:r>
          </a:p>
          <a:p>
            <a:pPr>
              <a:spcAft>
                <a:spcPts val="1000"/>
              </a:spcAft>
              <a:defRPr sz="1700">
                <a:solidFill>
                  <a:srgbClr val="111827"/>
                </a:solidFill>
              </a:defRPr>
            </a:pPr>
            <a:r>
              <a:t>• Failles sécurité identifiées (IDOR, upload, secrets) → correctifs documentés.</a:t>
            </a:r>
          </a:p>
          <a:p>
            <a:pPr>
              <a:spcAft>
                <a:spcPts val="1000"/>
              </a:spcAft>
              <a:defRPr sz="1700">
                <a:solidFill>
                  <a:srgbClr val="111827"/>
                </a:solidFill>
              </a:defRPr>
            </a:pPr>
            <a:r>
              <a:t>• Documentation « comme du code » : tous les livrables générés par script.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0" y="1463040"/>
            <a:ext cx="1828800" cy="448056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700" b="1">
                <a:solidFill>
                  <a:srgbClr val="FFFFFF"/>
                </a:solidFill>
              </a:defRPr>
            </a:pPr>
            <a:r>
              <a:t>FRONTEND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React + Vite (SPA)</a:t>
            </a:r>
            <a:br/>
            <a:r>
              <a:t>Admin / Alumni</a:t>
            </a:r>
            <a:br/>
            <a:r>
              <a:t>proxy /api → 8000</a:t>
            </a:r>
          </a:p>
        </p:txBody>
      </p:sp>
      <p:sp>
        <p:nvSpPr>
          <p:cNvPr id="6" name="Right Arrow 5"/>
          <p:cNvSpPr/>
          <p:nvPr/>
        </p:nvSpPr>
        <p:spPr>
          <a:xfrm>
            <a:off x="8202168" y="3474720"/>
            <a:ext cx="219456" cy="365760"/>
          </a:xfrm>
          <a:prstGeom prst="rightArrow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485631" y="1463040"/>
            <a:ext cx="1828800" cy="4480560"/>
          </a:xfrm>
          <a:prstGeom prst="round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700" b="1">
                <a:solidFill>
                  <a:srgbClr val="FFFFFF"/>
                </a:solidFill>
              </a:defRPr>
            </a:pPr>
            <a:r>
              <a:t>BACKEND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FastAPI</a:t>
            </a:r>
            <a:br/>
            <a:r>
              <a:t>82 endpoints, 16 routeurs</a:t>
            </a:r>
            <a:br/>
            <a:r>
              <a:t>auth OTP + JWT, clé API, RGPD</a:t>
            </a:r>
          </a:p>
        </p:txBody>
      </p:sp>
      <p:sp>
        <p:nvSpPr>
          <p:cNvPr id="8" name="Right Arrow 7"/>
          <p:cNvSpPr/>
          <p:nvPr/>
        </p:nvSpPr>
        <p:spPr>
          <a:xfrm>
            <a:off x="10286999" y="3474720"/>
            <a:ext cx="219456" cy="365760"/>
          </a:xfrm>
          <a:prstGeom prst="rightArrow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0570462" y="1463040"/>
            <a:ext cx="1828800" cy="4480560"/>
          </a:xfrm>
          <a:prstGeom prst="round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700" b="1">
                <a:solidFill>
                  <a:srgbClr val="FFFFFF"/>
                </a:solidFill>
              </a:defRPr>
            </a:pPr>
            <a:r>
              <a:t>BASE DE DONNÉES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PostgreSQL</a:t>
            </a:r>
            <a:br/>
            <a:r>
              <a:t>14 tables, 16 migrations, JSONB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44652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6B7280"/>
                </a:solidFill>
              </a:defRPr>
            </a:pPr>
            <a:r>
              <a:t>Alumni CRM — Stage PreMSc 2026 — IONIS-STM        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137160" wrap="square"/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Modèle de données (MCD/MLD)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10607040" cy="475488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111827"/>
                </a:solidFill>
              </a:defRPr>
            </a:pPr>
            <a:r>
              <a:t>• 5 domaines, 14 tables.</a:t>
            </a:r>
          </a:p>
          <a:p>
            <a:pPr>
              <a:spcAft>
                <a:spcPts val="1200"/>
              </a:spcAft>
              <a:defRPr sz="1800">
                <a:solidFill>
                  <a:srgbClr val="111827"/>
                </a:solidFill>
              </a:defRPr>
            </a:pPr>
            <a:r>
              <a:t>• Étudiants : ETUDIANT, PROMOTION (N:1).</a:t>
            </a:r>
          </a:p>
          <a:p>
            <a:pPr>
              <a:spcAft>
                <a:spcPts val="1200"/>
              </a:spcAft>
              <a:defRPr sz="1800">
                <a:solidFill>
                  <a:srgbClr val="111827"/>
                </a:solidFill>
              </a:defRPr>
            </a:pPr>
            <a:r>
              <a:t>• Parcours pro : ENTREPRISE, EXPERIENCE_PRO, CERTIFICATION, OBTIENT (N:M).</a:t>
            </a:r>
          </a:p>
          <a:p>
            <a:pPr>
              <a:spcAft>
                <a:spcPts val="1200"/>
              </a:spcAft>
              <a:defRPr sz="1800">
                <a:solidFill>
                  <a:srgbClr val="111827"/>
                </a:solidFill>
              </a:defRPr>
            </a:pPr>
            <a:r>
              <a:t>• RGPD : CONSENTEMENT_RGPD, DEMANDE_RGPD, AUDIT_LOG.</a:t>
            </a:r>
          </a:p>
          <a:p>
            <a:pPr>
              <a:spcAft>
                <a:spcPts val="1200"/>
              </a:spcAft>
              <a:defRPr sz="1800">
                <a:solidFill>
                  <a:srgbClr val="111827"/>
                </a:solidFill>
              </a:defRPr>
            </a:pPr>
            <a:r>
              <a:t>• Questionnaires : QUESTIONNAIRE, QUESTION, REPONSE_QUESTIONNAIRE (JSON).</a:t>
            </a:r>
          </a:p>
          <a:p>
            <a:pPr>
              <a:spcAft>
                <a:spcPts val="1200"/>
              </a:spcAft>
              <a:defRPr sz="1800">
                <a:solidFill>
                  <a:srgbClr val="111827"/>
                </a:solidFill>
              </a:defRPr>
            </a:pPr>
            <a:r>
              <a:t>• Cascade et contraintes d'unicité garantissent la cohérence.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6B7280"/>
                </a:solidFill>
              </a:defRPr>
            </a:pPr>
            <a:r>
              <a:t>Alumni CRM — Stage PreMSc 2026 — IONIS-STM       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137160" wrap="square"/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Conformité RGPD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234440"/>
            <a:ext cx="5394960" cy="22860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111827"/>
                </a:solidFill>
              </a:defRPr>
            </a:pPr>
            <a:r>
              <a:t>• Consentement explicite : 4 types, horodaté et réellement consommé.</a:t>
            </a:r>
          </a:p>
          <a:p>
            <a:pPr>
              <a:spcAft>
                <a:spcPts val="600"/>
              </a:spcAft>
              <a:defRPr sz="1500">
                <a:solidFill>
                  <a:srgbClr val="111827"/>
                </a:solidFill>
              </a:defRPr>
            </a:pPr>
            <a:r>
              <a:t>• Droits : export en auto-service (JSON/Excel/CSV), suppression avec workflow verrouillé.</a:t>
            </a:r>
          </a:p>
          <a:p>
            <a:pPr>
              <a:spcAft>
                <a:spcPts val="600"/>
              </a:spcAft>
              <a:defRPr sz="1500">
                <a:solidFill>
                  <a:srgbClr val="111827"/>
                </a:solidFill>
              </a:defRPr>
            </a:pPr>
            <a:r>
              <a:t>• Anonymisation vs suppression ; journal d'audit ; purge différée.</a:t>
            </a:r>
          </a:p>
        </p:txBody>
      </p:sp>
      <p:pic>
        <p:nvPicPr>
          <p:cNvPr id="5" name="Picture 4" descr="anC_consentement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657600"/>
            <a:ext cx="4297680" cy="2686050"/>
          </a:xfrm>
          <a:prstGeom prst="rect">
            <a:avLst/>
          </a:prstGeom>
        </p:spPr>
      </p:pic>
      <p:pic>
        <p:nvPicPr>
          <p:cNvPr id="6" name="Picture 5" descr="anB_demandes_rgpd_ligh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1234440"/>
            <a:ext cx="5394960" cy="337185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65760" y="644652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6B7280"/>
                </a:solidFill>
              </a:defRPr>
            </a:pPr>
            <a:r>
              <a:t>Alumni CRM — Stage PreMSc 2026 — IONIS-STM        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137160" wrap="square"/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Démonstration — Espace Administration</a:t>
            </a:r>
          </a:p>
          <a:p>
            <a:pPr>
              <a:defRPr sz="1400">
                <a:solidFill>
                  <a:srgbClr val="EFF6FF"/>
                </a:solidFill>
              </a:defRPr>
            </a:pPr>
            <a:r>
              <a:t>Tableau de bord, annuaire, RGPD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anB_dashboard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37360" y="1234440"/>
            <a:ext cx="8119872" cy="5074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" y="644652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6B7280"/>
                </a:solidFill>
              </a:defRPr>
            </a:pPr>
            <a:r>
              <a:t>Alumni CRM — Stage PreMSc 2026 — IONIS-STM        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137160" wrap="square"/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Démonstration — Espace Alumni</a:t>
            </a:r>
          </a:p>
          <a:p>
            <a:pPr>
              <a:defRPr sz="1400">
                <a:solidFill>
                  <a:srgbClr val="EFF6FF"/>
                </a:solidFill>
              </a:defRPr>
            </a:pPr>
            <a:r>
              <a:t>Profil, parcours, consentement, questionnaire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anC_parcours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37360" y="1234440"/>
            <a:ext cx="8119872" cy="5074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" y="644652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6B7280"/>
                </a:solidFill>
              </a:defRPr>
            </a:pPr>
            <a:r>
              <a:t>Alumni CRM — Stage PreMSc 2026 — IONIS-STM        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137160" wrap="square"/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Indicateurs d'insertion professionnelle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5394960" cy="493776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111827"/>
                </a:solidFill>
              </a:defRPr>
            </a:pPr>
            <a:r>
              <a:t>• 8 indicateurs reproductibles, formule et source explicites.</a:t>
            </a:r>
          </a:p>
          <a:p>
            <a:pPr>
              <a:spcAft>
                <a:spcPts val="800"/>
              </a:spcAft>
              <a:defRPr sz="1700">
                <a:solidFill>
                  <a:srgbClr val="111827"/>
                </a:solidFill>
              </a:defRPr>
            </a:pPr>
            <a:r>
              <a:t>• Taux d'emploi à 6 mois (expériences actives).</a:t>
            </a:r>
          </a:p>
          <a:p>
            <a:pPr>
              <a:spcAft>
                <a:spcPts val="800"/>
              </a:spcAft>
              <a:defRPr sz="1700">
                <a:solidFill>
                  <a:srgbClr val="111827"/>
                </a:solidFill>
              </a:defRPr>
            </a:pPr>
            <a:r>
              <a:t>• Adéquation formation/emploi via les tags KPI.</a:t>
            </a:r>
          </a:p>
          <a:p>
            <a:pPr>
              <a:spcAft>
                <a:spcPts val="800"/>
              </a:spcAft>
              <a:defRPr sz="1700">
                <a:solidFill>
                  <a:srgbClr val="111827"/>
                </a:solidFill>
              </a:defRPr>
            </a:pPr>
            <a:r>
              <a:t>• Salaire moyen / min / max (champ annuel).</a:t>
            </a:r>
          </a:p>
          <a:p>
            <a:pPr>
              <a:spcAft>
                <a:spcPts val="800"/>
              </a:spcAft>
              <a:defRPr sz="1700">
                <a:solidFill>
                  <a:srgbClr val="111827"/>
                </a:solidFill>
              </a:defRPr>
            </a:pPr>
            <a:r>
              <a:t>• Répartition par promotion et secteur, taux de complétion.</a:t>
            </a:r>
          </a:p>
          <a:p>
            <a:pPr>
              <a:spcAft>
                <a:spcPts val="800"/>
              </a:spcAft>
              <a:defRPr sz="1700">
                <a:solidFill>
                  <a:srgbClr val="111827"/>
                </a:solidFill>
              </a:defRPr>
            </a:pPr>
            <a:r>
              <a:t>• Pas de chiffre trompeur : cohortes immatures → « non disponible ».</a:t>
            </a:r>
          </a:p>
        </p:txBody>
      </p:sp>
      <p:pic>
        <p:nvPicPr>
          <p:cNvPr id="5" name="Picture 4" descr="anB_dashboard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737360"/>
            <a:ext cx="5120640" cy="32004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65760" y="644652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6B7280"/>
                </a:solidFill>
              </a:defRPr>
            </a:pPr>
            <a:r>
              <a:t>Alumni CRM — Stage PreMSc 2026 — IONIS-STM        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137160" wrap="square"/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Bilan, difficultés et perspectives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280160"/>
            <a:ext cx="10607040" cy="201168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111827"/>
                </a:solidFill>
              </a:defRPr>
            </a:pPr>
            <a:r>
              <a:t>• Prototype complet et opérationnel, documenté « comme du code ».</a:t>
            </a:r>
          </a:p>
          <a:p>
            <a:pPr>
              <a:spcAft>
                <a:spcPts val="800"/>
              </a:spcAft>
              <a:defRPr sz="1700">
                <a:solidFill>
                  <a:srgbClr val="111827"/>
                </a:solidFill>
              </a:defRPr>
            </a:pPr>
            <a:r>
              <a:t>• Compétences : full-stack, sécurité applicative, migrations versionnées, RGPD.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200400"/>
            <a:ext cx="10607040" cy="155448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11827"/>
                </a:solidFill>
              </a:defRPr>
            </a:pPr>
            <a:r>
              <a:t>• Limites assumées : tests automatisés non conservés, newsletter et mise à jour d'expérience à faire.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480560"/>
            <a:ext cx="10607040" cy="18288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111827"/>
                </a:solidFill>
              </a:defRPr>
            </a:pPr>
            <a:r>
              <a:t>• Court terme : suite de tests, automatisation du questionnaire, frontend newsletter.</a:t>
            </a:r>
          </a:p>
          <a:p>
            <a:pPr>
              <a:spcAft>
                <a:spcPts val="600"/>
              </a:spcAft>
              <a:defRPr sz="1600">
                <a:solidFill>
                  <a:srgbClr val="111827"/>
                </a:solidFill>
              </a:defRPr>
            </a:pPr>
            <a:r>
              <a:t>• Moyen/long terme : mentorat, chiffrement applicatif, application mobile / PWA.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6B7280"/>
                </a:solidFill>
              </a:defRPr>
            </a:pPr>
            <a:r>
              <a:t>Alumni CRM — Stage PreMSc 2026 — IONIS-STM        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1828800"/>
            <a:ext cx="9966960" cy="5486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spcAft>
                <a:spcPts val="200"/>
              </a:spcAft>
              <a:defRPr sz="4000" b="1">
                <a:solidFill>
                  <a:srgbClr val="1E40AF"/>
                </a:solidFill>
              </a:defRPr>
            </a:pPr>
            <a:r>
              <a:t>Merci pour votre attention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2834640"/>
            <a:ext cx="996696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spcAft>
                <a:spcPts val="200"/>
              </a:spcAft>
              <a:defRPr sz="2200" b="0">
                <a:solidFill>
                  <a:srgbClr val="6B7280"/>
                </a:solidFill>
              </a:defRPr>
            </a:pPr>
            <a:r>
              <a:t>Questions / échanges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4754880"/>
            <a:ext cx="9966960" cy="8229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spcAft>
                <a:spcPts val="200"/>
              </a:spcAft>
              <a:defRPr sz="1600" b="0">
                <a:solidFill>
                  <a:srgbClr val="111827"/>
                </a:solidFill>
              </a:defRPr>
            </a:pPr>
            <a:r>
              <a:t>Rafik DJEMADI</a:t>
            </a:r>
          </a:p>
          <a:p>
            <a:pPr algn="ctr">
              <a:spcAft>
                <a:spcPts val="200"/>
              </a:spcAft>
              <a:defRPr sz="1600" b="0">
                <a:solidFill>
                  <a:srgbClr val="111827"/>
                </a:solidFill>
              </a:defRPr>
            </a:pPr>
            <a:r>
              <a:t>Alumni CRM — Stage PreMSc 2026 — IONIS-STM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