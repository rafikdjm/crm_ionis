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fik djemadi" userId="2dcf6afdb52b8155" providerId="LiveId" clId="{ED258C4A-5798-4758-A095-3C1672EF9DFC}"/>
    <pc:docChg chg="custSel modSld">
      <pc:chgData name="Rafik djemadi" userId="2dcf6afdb52b8155" providerId="LiveId" clId="{ED258C4A-5798-4758-A095-3C1672EF9DFC}" dt="2026-09-05T22:07:31.103" v="19" actId="1036"/>
      <pc:docMkLst>
        <pc:docMk/>
      </pc:docMkLst>
      <pc:sldChg chg="modSp mod">
        <pc:chgData name="Rafik djemadi" userId="2dcf6afdb52b8155" providerId="LiveId" clId="{ED258C4A-5798-4758-A095-3C1672EF9DFC}" dt="2026-09-05T22:03:16.320" v="10" actId="790"/>
        <pc:sldMkLst>
          <pc:docMk/>
          <pc:sldMk cId="0" sldId="256"/>
        </pc:sldMkLst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56"/>
            <ac:spMk id="2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56"/>
            <ac:spMk id="3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56"/>
            <ac:spMk id="4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56"/>
            <ac:spMk id="5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56"/>
            <ac:spMk id="6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56"/>
            <ac:spMk id="7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56"/>
            <ac:spMk id="8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56"/>
            <ac:spMk id="9" creationId="{00000000-0000-0000-0000-000000000000}"/>
          </ac:spMkLst>
        </pc:spChg>
      </pc:sldChg>
      <pc:sldChg chg="delSp modSp mod">
        <pc:chgData name="Rafik djemadi" userId="2dcf6afdb52b8155" providerId="LiveId" clId="{ED258C4A-5798-4758-A095-3C1672EF9DFC}" dt="2026-09-05T22:03:16.320" v="10" actId="790"/>
        <pc:sldMkLst>
          <pc:docMk/>
          <pc:sldMk cId="0" sldId="257"/>
        </pc:sldMkLst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57"/>
            <ac:spMk id="2" creationId="{00000000-0000-0000-0000-000000000000}"/>
          </ac:spMkLst>
        </pc:spChg>
        <pc:spChg chg="del">
          <ac:chgData name="Rafik djemadi" userId="2dcf6afdb52b8155" providerId="LiveId" clId="{ED258C4A-5798-4758-A095-3C1672EF9DFC}" dt="2026-09-05T22:01:56.244" v="1" actId="478"/>
          <ac:spMkLst>
            <pc:docMk/>
            <pc:sldMk cId="0" sldId="257"/>
            <ac:spMk id="4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57"/>
            <ac:spMk id="5" creationId="{00000000-0000-0000-0000-000000000000}"/>
          </ac:spMkLst>
        </pc:spChg>
        <pc:spChg chg="del">
          <ac:chgData name="Rafik djemadi" userId="2dcf6afdb52b8155" providerId="LiveId" clId="{ED258C4A-5798-4758-A095-3C1672EF9DFC}" dt="2026-09-05T22:01:52.400" v="0" actId="478"/>
          <ac:spMkLst>
            <pc:docMk/>
            <pc:sldMk cId="0" sldId="257"/>
            <ac:spMk id="6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57"/>
            <ac:spMk id="7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57"/>
            <ac:spMk id="8" creationId="{00000000-0000-0000-0000-000000000000}"/>
          </ac:spMkLst>
        </pc:spChg>
        <pc:spChg chg="del">
          <ac:chgData name="Rafik djemadi" userId="2dcf6afdb52b8155" providerId="LiveId" clId="{ED258C4A-5798-4758-A095-3C1672EF9DFC}" dt="2026-09-05T22:01:58.481" v="2" actId="478"/>
          <ac:spMkLst>
            <pc:docMk/>
            <pc:sldMk cId="0" sldId="257"/>
            <ac:spMk id="9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57"/>
            <ac:spMk id="10" creationId="{00000000-0000-0000-0000-000000000000}"/>
          </ac:spMkLst>
        </pc:spChg>
        <pc:spChg chg="del">
          <ac:chgData name="Rafik djemadi" userId="2dcf6afdb52b8155" providerId="LiveId" clId="{ED258C4A-5798-4758-A095-3C1672EF9DFC}" dt="2026-09-05T22:02:15.888" v="3" actId="478"/>
          <ac:spMkLst>
            <pc:docMk/>
            <pc:sldMk cId="0" sldId="257"/>
            <ac:spMk id="12" creationId="{00000000-0000-0000-0000-000000000000}"/>
          </ac:spMkLst>
        </pc:spChg>
        <pc:spChg chg="del">
          <ac:chgData name="Rafik djemadi" userId="2dcf6afdb52b8155" providerId="LiveId" clId="{ED258C4A-5798-4758-A095-3C1672EF9DFC}" dt="2026-09-05T22:02:27.594" v="4" actId="478"/>
          <ac:spMkLst>
            <pc:docMk/>
            <pc:sldMk cId="0" sldId="257"/>
            <ac:spMk id="15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57"/>
            <ac:spMk id="16" creationId="{00000000-0000-0000-0000-000000000000}"/>
          </ac:spMkLst>
        </pc:spChg>
        <pc:spChg chg="del">
          <ac:chgData name="Rafik djemadi" userId="2dcf6afdb52b8155" providerId="LiveId" clId="{ED258C4A-5798-4758-A095-3C1672EF9DFC}" dt="2026-09-05T22:02:40.156" v="6" actId="478"/>
          <ac:spMkLst>
            <pc:docMk/>
            <pc:sldMk cId="0" sldId="257"/>
            <ac:spMk id="18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57"/>
            <ac:spMk id="20" creationId="{00000000-0000-0000-0000-000000000000}"/>
          </ac:spMkLst>
        </pc:spChg>
        <pc:spChg chg="del">
          <ac:chgData name="Rafik djemadi" userId="2dcf6afdb52b8155" providerId="LiveId" clId="{ED258C4A-5798-4758-A095-3C1672EF9DFC}" dt="2026-09-05T22:02:42.182" v="7" actId="478"/>
          <ac:spMkLst>
            <pc:docMk/>
            <pc:sldMk cId="0" sldId="257"/>
            <ac:spMk id="21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57"/>
            <ac:spMk id="22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57"/>
            <ac:spMk id="23" creationId="{00000000-0000-0000-0000-000000000000}"/>
          </ac:spMkLst>
        </pc:spChg>
        <pc:spChg chg="del">
          <ac:chgData name="Rafik djemadi" userId="2dcf6afdb52b8155" providerId="LiveId" clId="{ED258C4A-5798-4758-A095-3C1672EF9DFC}" dt="2026-09-05T22:02:47.891" v="8" actId="478"/>
          <ac:spMkLst>
            <pc:docMk/>
            <pc:sldMk cId="0" sldId="257"/>
            <ac:spMk id="24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57"/>
            <ac:spMk id="26" creationId="{00000000-0000-0000-0000-000000000000}"/>
          </ac:spMkLst>
        </pc:spChg>
      </pc:sldChg>
      <pc:sldChg chg="modSp mod">
        <pc:chgData name="Rafik djemadi" userId="2dcf6afdb52b8155" providerId="LiveId" clId="{ED258C4A-5798-4758-A095-3C1672EF9DFC}" dt="2026-09-05T22:03:23.793" v="11" actId="20577"/>
        <pc:sldMkLst>
          <pc:docMk/>
          <pc:sldMk cId="0" sldId="258"/>
        </pc:sldMkLst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58"/>
            <ac:spMk id="3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58"/>
            <ac:spMk id="4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58"/>
            <ac:spMk id="5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58"/>
            <ac:spMk id="6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58"/>
            <ac:spMk id="7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58"/>
            <ac:spMk id="8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58"/>
            <ac:spMk id="9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58"/>
            <ac:spMk id="10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58"/>
            <ac:spMk id="11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23.793" v="11" actId="20577"/>
          <ac:spMkLst>
            <pc:docMk/>
            <pc:sldMk cId="0" sldId="258"/>
            <ac:spMk id="12" creationId="{00000000-0000-0000-0000-000000000000}"/>
          </ac:spMkLst>
        </pc:spChg>
      </pc:sldChg>
      <pc:sldChg chg="modSp mod">
        <pc:chgData name="Rafik djemadi" userId="2dcf6afdb52b8155" providerId="LiveId" clId="{ED258C4A-5798-4758-A095-3C1672EF9DFC}" dt="2026-09-05T22:03:16.320" v="10" actId="790"/>
        <pc:sldMkLst>
          <pc:docMk/>
          <pc:sldMk cId="0" sldId="259"/>
        </pc:sldMkLst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59"/>
            <ac:spMk id="2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59"/>
            <ac:spMk id="4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59"/>
            <ac:spMk id="6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59"/>
            <ac:spMk id="8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59"/>
            <ac:spMk id="10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59"/>
            <ac:spMk id="12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59"/>
            <ac:spMk id="13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59"/>
            <ac:spMk id="17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59"/>
            <ac:spMk id="18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59"/>
            <ac:spMk id="19" creationId="{00000000-0000-0000-0000-000000000000}"/>
          </ac:spMkLst>
        </pc:spChg>
      </pc:sldChg>
      <pc:sldChg chg="modSp mod">
        <pc:chgData name="Rafik djemadi" userId="2dcf6afdb52b8155" providerId="LiveId" clId="{ED258C4A-5798-4758-A095-3C1672EF9DFC}" dt="2026-09-05T22:03:16.320" v="10" actId="790"/>
        <pc:sldMkLst>
          <pc:docMk/>
          <pc:sldMk cId="0" sldId="260"/>
        </pc:sldMkLst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0"/>
            <ac:spMk id="2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0"/>
            <ac:spMk id="5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0"/>
            <ac:spMk id="9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0"/>
            <ac:spMk id="10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0"/>
            <ac:spMk id="13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0"/>
            <ac:spMk id="14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0"/>
            <ac:spMk id="15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0"/>
            <ac:spMk id="18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0"/>
            <ac:spMk id="19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0"/>
            <ac:spMk id="21" creationId="{00000000-0000-0000-0000-000000000000}"/>
          </ac:spMkLst>
        </pc:spChg>
      </pc:sldChg>
      <pc:sldChg chg="modSp mod">
        <pc:chgData name="Rafik djemadi" userId="2dcf6afdb52b8155" providerId="LiveId" clId="{ED258C4A-5798-4758-A095-3C1672EF9DFC}" dt="2026-09-05T22:03:16.320" v="10" actId="790"/>
        <pc:sldMkLst>
          <pc:docMk/>
          <pc:sldMk cId="0" sldId="261"/>
        </pc:sldMkLst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1"/>
            <ac:spMk id="2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1"/>
            <ac:spMk id="3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1"/>
            <ac:spMk id="4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1"/>
            <ac:spMk id="5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1"/>
            <ac:spMk id="6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1"/>
            <ac:spMk id="10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1"/>
            <ac:spMk id="11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1"/>
            <ac:spMk id="12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1"/>
            <ac:spMk id="13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1"/>
            <ac:spMk id="15" creationId="{00000000-0000-0000-0000-000000000000}"/>
          </ac:spMkLst>
        </pc:spChg>
      </pc:sldChg>
      <pc:sldChg chg="modSp mod">
        <pc:chgData name="Rafik djemadi" userId="2dcf6afdb52b8155" providerId="LiveId" clId="{ED258C4A-5798-4758-A095-3C1672EF9DFC}" dt="2026-09-05T22:03:16.320" v="10" actId="790"/>
        <pc:sldMkLst>
          <pc:docMk/>
          <pc:sldMk cId="0" sldId="262"/>
        </pc:sldMkLst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2"/>
            <ac:spMk id="2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2"/>
            <ac:spMk id="3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2"/>
            <ac:spMk id="4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2"/>
            <ac:spMk id="5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2"/>
            <ac:spMk id="7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2"/>
            <ac:spMk id="8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2"/>
            <ac:spMk id="9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2"/>
            <ac:spMk id="10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2"/>
            <ac:spMk id="11" creationId="{00000000-0000-0000-0000-000000000000}"/>
          </ac:spMkLst>
        </pc:spChg>
      </pc:sldChg>
      <pc:sldChg chg="modSp mod">
        <pc:chgData name="Rafik djemadi" userId="2dcf6afdb52b8155" providerId="LiveId" clId="{ED258C4A-5798-4758-A095-3C1672EF9DFC}" dt="2026-09-05T22:07:15.984" v="16" actId="1076"/>
        <pc:sldMkLst>
          <pc:docMk/>
          <pc:sldMk cId="0" sldId="263"/>
        </pc:sldMkLst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3"/>
            <ac:spMk id="2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3"/>
            <ac:spMk id="3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3"/>
            <ac:spMk id="4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3"/>
            <ac:spMk id="5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3"/>
            <ac:spMk id="8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3"/>
            <ac:spMk id="9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3"/>
            <ac:spMk id="10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3"/>
            <ac:spMk id="11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3"/>
            <ac:spMk id="12" creationId="{00000000-0000-0000-0000-000000000000}"/>
          </ac:spMkLst>
        </pc:spChg>
        <pc:picChg chg="mod">
          <ac:chgData name="Rafik djemadi" userId="2dcf6afdb52b8155" providerId="LiveId" clId="{ED258C4A-5798-4758-A095-3C1672EF9DFC}" dt="2026-09-05T22:07:13.901" v="15" actId="14100"/>
          <ac:picMkLst>
            <pc:docMk/>
            <pc:sldMk cId="0" sldId="263"/>
            <ac:picMk id="6" creationId="{00000000-0000-0000-0000-000000000000}"/>
          </ac:picMkLst>
        </pc:picChg>
        <pc:picChg chg="mod">
          <ac:chgData name="Rafik djemadi" userId="2dcf6afdb52b8155" providerId="LiveId" clId="{ED258C4A-5798-4758-A095-3C1672EF9DFC}" dt="2026-09-05T22:07:15.984" v="16" actId="1076"/>
          <ac:picMkLst>
            <pc:docMk/>
            <pc:sldMk cId="0" sldId="263"/>
            <ac:picMk id="7" creationId="{00000000-0000-0000-0000-000000000000}"/>
          </ac:picMkLst>
        </pc:picChg>
      </pc:sldChg>
      <pc:sldChg chg="modSp mod">
        <pc:chgData name="Rafik djemadi" userId="2dcf6afdb52b8155" providerId="LiveId" clId="{ED258C4A-5798-4758-A095-3C1672EF9DFC}" dt="2026-09-05T22:07:31.103" v="19" actId="1036"/>
        <pc:sldMkLst>
          <pc:docMk/>
          <pc:sldMk cId="0" sldId="264"/>
        </pc:sldMkLst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4"/>
            <ac:spMk id="2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7:31.103" v="19" actId="1036"/>
          <ac:spMkLst>
            <pc:docMk/>
            <pc:sldMk cId="0" sldId="264"/>
            <ac:spMk id="3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4"/>
            <ac:spMk id="4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4"/>
            <ac:spMk id="5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4"/>
            <ac:spMk id="7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4"/>
            <ac:spMk id="8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4"/>
            <ac:spMk id="9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4"/>
            <ac:spMk id="10" creationId="{00000000-0000-0000-0000-000000000000}"/>
          </ac:spMkLst>
        </pc:spChg>
        <pc:picChg chg="mod">
          <ac:chgData name="Rafik djemadi" userId="2dcf6afdb52b8155" providerId="LiveId" clId="{ED258C4A-5798-4758-A095-3C1672EF9DFC}" dt="2026-09-05T22:07:23.236" v="18" actId="14100"/>
          <ac:picMkLst>
            <pc:docMk/>
            <pc:sldMk cId="0" sldId="264"/>
            <ac:picMk id="6" creationId="{00000000-0000-0000-0000-000000000000}"/>
          </ac:picMkLst>
        </pc:picChg>
      </pc:sldChg>
      <pc:sldChg chg="modSp mod">
        <pc:chgData name="Rafik djemadi" userId="2dcf6afdb52b8155" providerId="LiveId" clId="{ED258C4A-5798-4758-A095-3C1672EF9DFC}" dt="2026-09-05T22:03:16.320" v="10" actId="790"/>
        <pc:sldMkLst>
          <pc:docMk/>
          <pc:sldMk cId="0" sldId="265"/>
        </pc:sldMkLst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5"/>
            <ac:spMk id="2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5"/>
            <ac:spMk id="3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5"/>
            <ac:spMk id="4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5"/>
            <ac:spMk id="5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5"/>
            <ac:spMk id="7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5"/>
            <ac:spMk id="8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5"/>
            <ac:spMk id="9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5"/>
            <ac:spMk id="10" creationId="{00000000-0000-0000-0000-000000000000}"/>
          </ac:spMkLst>
        </pc:spChg>
      </pc:sldChg>
      <pc:sldChg chg="modSp mod">
        <pc:chgData name="Rafik djemadi" userId="2dcf6afdb52b8155" providerId="LiveId" clId="{ED258C4A-5798-4758-A095-3C1672EF9DFC}" dt="2026-09-05T22:03:16.320" v="10" actId="790"/>
        <pc:sldMkLst>
          <pc:docMk/>
          <pc:sldMk cId="0" sldId="266"/>
        </pc:sldMkLst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6"/>
            <ac:spMk id="2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6"/>
            <ac:spMk id="3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6"/>
            <ac:spMk id="4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6"/>
            <ac:spMk id="5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6"/>
            <ac:spMk id="6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6"/>
            <ac:spMk id="7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6"/>
            <ac:spMk id="8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6"/>
            <ac:spMk id="9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6"/>
            <ac:spMk id="11" creationId="{00000000-0000-0000-0000-000000000000}"/>
          </ac:spMkLst>
        </pc:spChg>
      </pc:sldChg>
      <pc:sldChg chg="modSp mod">
        <pc:chgData name="Rafik djemadi" userId="2dcf6afdb52b8155" providerId="LiveId" clId="{ED258C4A-5798-4758-A095-3C1672EF9DFC}" dt="2026-09-05T22:03:16.320" v="10" actId="790"/>
        <pc:sldMkLst>
          <pc:docMk/>
          <pc:sldMk cId="0" sldId="267"/>
        </pc:sldMkLst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7"/>
            <ac:spMk id="2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7"/>
            <ac:spMk id="3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7"/>
            <ac:spMk id="4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7"/>
            <ac:spMk id="5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7"/>
            <ac:spMk id="6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7"/>
            <ac:spMk id="7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7"/>
            <ac:spMk id="8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7"/>
            <ac:spMk id="9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7"/>
            <ac:spMk id="10" creationId="{00000000-0000-0000-0000-000000000000}"/>
          </ac:spMkLst>
        </pc:spChg>
      </pc:sldChg>
      <pc:sldChg chg="modSp mod">
        <pc:chgData name="Rafik djemadi" userId="2dcf6afdb52b8155" providerId="LiveId" clId="{ED258C4A-5798-4758-A095-3C1672EF9DFC}" dt="2026-09-05T22:03:16.320" v="10" actId="790"/>
        <pc:sldMkLst>
          <pc:docMk/>
          <pc:sldMk cId="0" sldId="268"/>
        </pc:sldMkLst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8"/>
            <ac:spMk id="2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8"/>
            <ac:spMk id="3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8"/>
            <ac:spMk id="4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8"/>
            <ac:spMk id="5" creationId="{00000000-0000-0000-0000-000000000000}"/>
          </ac:spMkLst>
        </pc:spChg>
        <pc:spChg chg="mod">
          <ac:chgData name="Rafik djemadi" userId="2dcf6afdb52b8155" providerId="LiveId" clId="{ED258C4A-5798-4758-A095-3C1672EF9DFC}" dt="2026-09-05T22:03:16.320" v="10" actId="790"/>
          <ac:spMkLst>
            <pc:docMk/>
            <pc:sldMk cId="0" sldId="268"/>
            <ac:spMk id="6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1965960"/>
            <a:ext cx="12191695" cy="1280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1097280" y="777240"/>
            <a:ext cx="996696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>
              <a:spcAft>
                <a:spcPts val="200"/>
              </a:spcAft>
              <a:defRPr sz="3300" b="1">
                <a:solidFill>
                  <a:srgbClr val="4338CA"/>
                </a:solidFill>
                <a:latin typeface="Calibri"/>
              </a:defRPr>
            </a:pPr>
            <a:r>
              <a:rPr lang="fr-FR" noProof="0" dirty="0"/>
              <a:t>CONCEPTION ET DÉVELOPPEMENT D'UN ALUMNI CRM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996696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>
              <a:spcAft>
                <a:spcPts val="200"/>
              </a:spcAft>
              <a:defRPr sz="1800" b="0">
                <a:solidFill>
                  <a:srgbClr val="64748B"/>
                </a:solidFill>
                <a:latin typeface="Calibri"/>
              </a:defRPr>
            </a:pPr>
            <a:r>
              <a:rPr lang="fr-FR" noProof="0" dirty="0"/>
              <a:t>Système de suivi du parcours étudiant et de valorisation du réseau des anciens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9966960" cy="8229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>
              <a:spcAft>
                <a:spcPts val="200"/>
              </a:spcAft>
              <a:defRPr sz="3200" b="1">
                <a:solidFill>
                  <a:srgbClr val="0F172A"/>
                </a:solidFill>
                <a:latin typeface="Calibri"/>
              </a:defRPr>
            </a:pPr>
            <a:r>
              <a:rPr lang="fr-FR" noProof="0" dirty="0"/>
              <a:t>Rafik DJEMADI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154680"/>
            <a:ext cx="996696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>
              <a:spcAft>
                <a:spcPts val="200"/>
              </a:spcAft>
              <a:defRPr sz="1700" b="0">
                <a:solidFill>
                  <a:srgbClr val="64748B"/>
                </a:solidFill>
                <a:latin typeface="Calibri"/>
              </a:defRPr>
            </a:pPr>
            <a:r>
              <a:rPr lang="fr-FR" noProof="0" dirty="0"/>
              <a:t>Stage de substitution — Programme Pré-</a:t>
            </a:r>
            <a:r>
              <a:rPr lang="fr-FR" noProof="0" dirty="0" err="1"/>
              <a:t>MSc</a:t>
            </a:r>
            <a:r>
              <a:rPr lang="fr-FR" noProof="0" dirty="0"/>
              <a:t>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03320"/>
            <a:ext cx="996696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>
              <a:spcAft>
                <a:spcPts val="200"/>
              </a:spcAft>
              <a:defRPr sz="1700" b="0">
                <a:solidFill>
                  <a:srgbClr val="4338CA"/>
                </a:solidFill>
                <a:latin typeface="Calibri"/>
              </a:defRPr>
            </a:pPr>
            <a:r>
              <a:rPr lang="fr-FR" noProof="0" dirty="0"/>
              <a:t>IONIS-STM — </a:t>
            </a:r>
            <a:r>
              <a:rPr lang="fr-FR" noProof="0" dirty="0" err="1"/>
              <a:t>Ionis</a:t>
            </a:r>
            <a:r>
              <a:rPr lang="fr-FR" noProof="0" dirty="0"/>
              <a:t> Education Group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715000"/>
            <a:ext cx="996696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>
              <a:spcAft>
                <a:spcPts val="200"/>
              </a:spcAft>
              <a:defRPr sz="1500" b="0">
                <a:solidFill>
                  <a:srgbClr val="64748B"/>
                </a:solidFill>
                <a:latin typeface="Calibri"/>
              </a:defRPr>
            </a:pPr>
            <a:r>
              <a:rPr lang="fr-FR" noProof="0" dirty="0"/>
              <a:t>Soutenance — 18 septembre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64240" cy="6400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251E7A"/>
                </a:solidFill>
                <a:latin typeface="Calibri"/>
              </a:defRPr>
            </a:pPr>
            <a:r>
              <a:rPr lang="fr-FR" noProof="0" dirty="0"/>
              <a:t>Plan de la présentation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25880"/>
            <a:ext cx="777240" cy="566928"/>
          </a:xfrm>
          <a:prstGeom prst="roundRect">
            <a:avLst>
              <a:gd name="adj" fmla="val 2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/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389888"/>
            <a:ext cx="941832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900" b="0">
                <a:solidFill>
                  <a:srgbClr val="0F172A"/>
                </a:solidFill>
                <a:latin typeface="Calibri"/>
              </a:defRPr>
            </a:pPr>
            <a:r>
              <a:rPr lang="fr-FR" noProof="0" dirty="0"/>
              <a:t>Contexte et objectifs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039112"/>
            <a:ext cx="777240" cy="566928"/>
          </a:xfrm>
          <a:prstGeom prst="roundRect">
            <a:avLst>
              <a:gd name="adj" fmla="val 2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/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2103120"/>
            <a:ext cx="941832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900" b="0">
                <a:solidFill>
                  <a:srgbClr val="0F172A"/>
                </a:solidFill>
                <a:latin typeface="Calibri"/>
              </a:defRPr>
            </a:pPr>
            <a:r>
              <a:rPr lang="fr-FR" noProof="0" dirty="0"/>
              <a:t>Méthodologie et architecture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752344"/>
            <a:ext cx="777240" cy="566928"/>
          </a:xfrm>
          <a:prstGeom prst="roundRect">
            <a:avLst>
              <a:gd name="adj" fmla="val 2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/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816352"/>
            <a:ext cx="941832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900" b="0">
                <a:solidFill>
                  <a:srgbClr val="0F172A"/>
                </a:solidFill>
                <a:latin typeface="Calibri"/>
              </a:defRPr>
            </a:pPr>
            <a:r>
              <a:rPr lang="fr-FR" noProof="0" dirty="0"/>
              <a:t>Modèle de données (MCD)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465576"/>
            <a:ext cx="777240" cy="566928"/>
          </a:xfrm>
          <a:prstGeom prst="roundRect">
            <a:avLst>
              <a:gd name="adj" fmla="val 2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/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529584"/>
            <a:ext cx="941832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900" b="0">
                <a:solidFill>
                  <a:srgbClr val="0F172A"/>
                </a:solidFill>
                <a:latin typeface="Calibri"/>
              </a:defRPr>
            </a:pPr>
            <a:r>
              <a:rPr lang="fr-FR" noProof="0" dirty="0"/>
              <a:t>Conformité RGPD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178808"/>
            <a:ext cx="777240" cy="566928"/>
          </a:xfrm>
          <a:prstGeom prst="roundRect">
            <a:avLst>
              <a:gd name="adj" fmla="val 2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/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242816"/>
            <a:ext cx="941832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900" b="0">
                <a:solidFill>
                  <a:srgbClr val="0F172A"/>
                </a:solidFill>
                <a:latin typeface="Calibri"/>
              </a:defRPr>
            </a:pPr>
            <a:r>
              <a:rPr lang="fr-FR" noProof="0" dirty="0"/>
              <a:t>Démonstration — Admin et Alumni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892040"/>
            <a:ext cx="777240" cy="566928"/>
          </a:xfrm>
          <a:prstGeom prst="roundRect">
            <a:avLst>
              <a:gd name="adj" fmla="val 2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/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4956048"/>
            <a:ext cx="941832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900" b="0">
                <a:solidFill>
                  <a:srgbClr val="0F172A"/>
                </a:solidFill>
                <a:latin typeface="Calibri"/>
              </a:defRPr>
            </a:pPr>
            <a:r>
              <a:rPr lang="fr-FR" noProof="0" dirty="0"/>
              <a:t>Indicateurs d'insertion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5605272"/>
            <a:ext cx="777240" cy="566928"/>
          </a:xfrm>
          <a:prstGeom prst="roundRect">
            <a:avLst>
              <a:gd name="adj" fmla="val 2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/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65960" y="5669280"/>
            <a:ext cx="941832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900" b="0">
                <a:solidFill>
                  <a:srgbClr val="0F172A"/>
                </a:solidFill>
                <a:latin typeface="Calibri"/>
              </a:defRPr>
            </a:pPr>
            <a:r>
              <a:rPr lang="fr-FR" noProof="0" dirty="0"/>
              <a:t>Bilan et perspectives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92240"/>
            <a:ext cx="3068469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rPr lang="fr-FR" noProof="0" dirty="0"/>
              <a:t>Alumni CRM — Stage Pre </a:t>
            </a:r>
            <a:r>
              <a:rPr lang="fr-FR" noProof="0" dirty="0" err="1"/>
              <a:t>MSc</a:t>
            </a:r>
            <a:r>
              <a:rPr lang="fr-FR" noProof="0" dirty="0"/>
              <a:t> 2026 — IONIS-STM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64240" cy="6400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251E7A"/>
                </a:solidFill>
                <a:latin typeface="Calibri"/>
              </a:defRPr>
            </a:pPr>
            <a:r>
              <a:rPr lang="fr-FR" noProof="0" dirty="0"/>
              <a:t>Contexte et enjeux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64008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607040" cy="21031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600"/>
              </a:spcAft>
              <a:defRPr>
                <a:latin typeface="Calibri"/>
              </a:defRPr>
            </a:pPr>
            <a:r>
              <a:rPr lang="fr-FR" sz="1400" b="1" noProof="0" dirty="0">
                <a:solidFill>
                  <a:srgbClr val="10B981"/>
                </a:solidFill>
                <a:latin typeface="Calibri"/>
              </a:rPr>
              <a:t>▸  </a:t>
            </a:r>
            <a:r>
              <a:rPr lang="fr-FR" sz="1400" noProof="0" dirty="0">
                <a:solidFill>
                  <a:srgbClr val="0F172A"/>
                </a:solidFill>
                <a:latin typeface="Calibri"/>
              </a:rPr>
              <a:t>IONIS-STM : formations Pré-</a:t>
            </a:r>
            <a:r>
              <a:rPr lang="fr-FR" sz="1400" noProof="0" dirty="0" err="1">
                <a:solidFill>
                  <a:srgbClr val="0F172A"/>
                </a:solidFill>
                <a:latin typeface="Calibri"/>
              </a:rPr>
              <a:t>MSc</a:t>
            </a:r>
            <a:r>
              <a:rPr lang="fr-FR" sz="1400" noProof="0" dirty="0">
                <a:solidFill>
                  <a:srgbClr val="0F172A"/>
                </a:solidFill>
                <a:latin typeface="Calibri"/>
              </a:rPr>
              <a:t> / MSc1 / MSc2 (développement, cyber, data, management, marketing digital).</a:t>
            </a:r>
          </a:p>
          <a:p>
            <a:pPr>
              <a:spcAft>
                <a:spcPts val="600"/>
              </a:spcAft>
              <a:defRPr>
                <a:latin typeface="Calibri"/>
              </a:defRPr>
            </a:pPr>
            <a:r>
              <a:rPr lang="fr-FR" sz="1400" b="1" noProof="0" dirty="0">
                <a:solidFill>
                  <a:srgbClr val="10B981"/>
                </a:solidFill>
                <a:latin typeface="Calibri"/>
              </a:rPr>
              <a:t>▸  </a:t>
            </a:r>
            <a:r>
              <a:rPr lang="fr-FR" sz="1400" noProof="0" dirty="0">
                <a:solidFill>
                  <a:srgbClr val="0F172A"/>
                </a:solidFill>
                <a:latin typeface="Calibri"/>
              </a:rPr>
              <a:t>Plusieurs centaines de diplômés par an : suivre leur insertion est stratégique (pilotage, tutelle CTI/HCERES, animation du réseau).</a:t>
            </a:r>
          </a:p>
          <a:p>
            <a:pPr>
              <a:spcAft>
                <a:spcPts val="600"/>
              </a:spcAft>
              <a:defRPr>
                <a:latin typeface="Calibri"/>
              </a:defRPr>
            </a:pPr>
            <a:r>
              <a:rPr lang="fr-FR" sz="1400" b="1" noProof="0" dirty="0">
                <a:solidFill>
                  <a:srgbClr val="10B981"/>
                </a:solidFill>
                <a:latin typeface="Calibri"/>
              </a:rPr>
              <a:t>▸  </a:t>
            </a:r>
            <a:r>
              <a:rPr lang="fr-FR" sz="1400" noProof="0" dirty="0">
                <a:solidFill>
                  <a:srgbClr val="0F172A"/>
                </a:solidFill>
                <a:latin typeface="Calibri"/>
              </a:rPr>
              <a:t>Sans outil centralisé : données dispersées, indicateurs à la main, réseau inactif, RGPD non formalisé.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931920"/>
            <a:ext cx="10607040" cy="960120"/>
          </a:xfrm>
          <a:prstGeom prst="roundRect">
            <a:avLst>
              <a:gd name="adj" fmla="val 1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7" name="TextBox 6"/>
          <p:cNvSpPr txBox="1"/>
          <p:nvPr/>
        </p:nvSpPr>
        <p:spPr>
          <a:xfrm>
            <a:off x="1097280" y="4069080"/>
            <a:ext cx="10058400" cy="7315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/>
              <a:t>Problématique : comment structurer la donnée </a:t>
            </a:r>
            <a:r>
              <a:rPr lang="fr-FR" noProof="0" dirty="0" err="1"/>
              <a:t>alumni</a:t>
            </a:r>
            <a:r>
              <a:rPr lang="fr-FR" noProof="0" dirty="0"/>
              <a:t>, produire des indicateurs d'insertion fiables et animer le réseau dans le respect du RGPD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596128"/>
            <a:ext cx="10927080" cy="749808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" name="Rectangle 8"/>
          <p:cNvSpPr/>
          <p:nvPr/>
        </p:nvSpPr>
        <p:spPr>
          <a:xfrm>
            <a:off x="640080" y="5596128"/>
            <a:ext cx="82296" cy="7498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868680" y="5641848"/>
            <a:ext cx="1051560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10B981"/>
                </a:solidFill>
                <a:latin typeface="Calibri"/>
              </a:defRPr>
            </a:pPr>
            <a:r>
              <a:rPr lang="fr-FR" noProof="0" dirty="0"/>
              <a:t>EXEMPLE — Contexte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907024"/>
            <a:ext cx="10515600" cy="40233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0F172A"/>
                </a:solidFill>
                <a:latin typeface="Calibri"/>
              </a:defRPr>
            </a:pPr>
            <a:r>
              <a:rPr lang="fr-FR" noProof="0" dirty="0"/>
              <a:t>retrouver les anciens d'une promotion repose aujourd'hui sur des fichiers épars et des relances manuelles — la base centrale remplace ce bricolage.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3068469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rPr lang="fr-FR" noProof="0" dirty="0"/>
              <a:t>Alumni CRM — Stage Pre </a:t>
            </a:r>
            <a:r>
              <a:rPr lang="fr-FR" noProof="0" dirty="0" err="1"/>
              <a:t>MSc</a:t>
            </a:r>
            <a:r>
              <a:rPr lang="fr-FR" noProof="0" dirty="0"/>
              <a:t> 2026 — IONIS-STM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64240" cy="6400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251E7A"/>
                </a:solidFill>
                <a:latin typeface="Calibri"/>
              </a:defRPr>
            </a:pPr>
            <a:r>
              <a:rPr lang="fr-FR" noProof="0" dirty="0"/>
              <a:t>Objectifs du stage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64008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5" name="Rounded Rectangle 4"/>
          <p:cNvSpPr/>
          <p:nvPr/>
        </p:nvSpPr>
        <p:spPr>
          <a:xfrm>
            <a:off x="822960" y="1371600"/>
            <a:ext cx="777240" cy="50292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/>
              <a:t>O1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389888"/>
            <a:ext cx="950976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0F172A"/>
                </a:solidFill>
                <a:latin typeface="Calibri"/>
              </a:defRPr>
            </a:pPr>
            <a:r>
              <a:rPr lang="fr-FR" noProof="0" dirty="0"/>
              <a:t>Un CRM complet : espace admin + espace </a:t>
            </a:r>
            <a:r>
              <a:rPr lang="fr-FR" noProof="0" dirty="0" err="1"/>
              <a:t>alumni</a:t>
            </a:r>
            <a:endParaRPr lang="fr-FR" noProof="0" dirty="0"/>
          </a:p>
        </p:txBody>
      </p:sp>
      <p:sp>
        <p:nvSpPr>
          <p:cNvPr id="7" name="Rounded Rectangle 6"/>
          <p:cNvSpPr/>
          <p:nvPr/>
        </p:nvSpPr>
        <p:spPr>
          <a:xfrm>
            <a:off x="822960" y="2084832"/>
            <a:ext cx="777240" cy="50292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/>
              <a:t>O2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103120"/>
            <a:ext cx="950976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0F172A"/>
                </a:solidFill>
                <a:latin typeface="Calibri"/>
              </a:defRPr>
            </a:pPr>
            <a:r>
              <a:rPr lang="fr-FR" noProof="0" dirty="0"/>
              <a:t>Une base relationnelle SQL modélisée (MCD/MLD)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798064"/>
            <a:ext cx="777240" cy="50292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/>
              <a:t>O3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816352"/>
            <a:ext cx="950976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0F172A"/>
                </a:solidFill>
                <a:latin typeface="Calibri"/>
              </a:defRPr>
            </a:pPr>
            <a:r>
              <a:rPr lang="fr-FR" noProof="0" dirty="0"/>
              <a:t>Un tableau de bord avec indicateurs d'insertion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511296"/>
            <a:ext cx="777240" cy="50292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/>
              <a:t>O4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529584"/>
            <a:ext cx="950976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0F172A"/>
                </a:solidFill>
                <a:latin typeface="Calibri"/>
              </a:defRPr>
            </a:pPr>
            <a:r>
              <a:rPr lang="fr-FR" noProof="0" dirty="0"/>
              <a:t>Une conformité RGPD réelle (consentement, export, suppression, audit)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224528"/>
            <a:ext cx="777240" cy="502920"/>
          </a:xfrm>
          <a:prstGeom prst="roundRect">
            <a:avLst>
              <a:gd name="adj" fmla="val 25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/>
              <a:t>O5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242816"/>
            <a:ext cx="950976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600" b="1">
                <a:solidFill>
                  <a:srgbClr val="0F172A"/>
                </a:solidFill>
                <a:latin typeface="Calibri"/>
              </a:defRPr>
            </a:pPr>
            <a:r>
              <a:rPr lang="fr-FR" noProof="0" dirty="0"/>
              <a:t>L'import/export automatisé (Excel / CSV)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596128"/>
            <a:ext cx="10927080" cy="749808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6" name="Rectangle 15"/>
          <p:cNvSpPr/>
          <p:nvPr/>
        </p:nvSpPr>
        <p:spPr>
          <a:xfrm>
            <a:off x="640080" y="5596128"/>
            <a:ext cx="82296" cy="7498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7" name="TextBox 16"/>
          <p:cNvSpPr txBox="1"/>
          <p:nvPr/>
        </p:nvSpPr>
        <p:spPr>
          <a:xfrm>
            <a:off x="868680" y="5641848"/>
            <a:ext cx="1051560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10B981"/>
                </a:solidFill>
                <a:latin typeface="Calibri"/>
              </a:defRPr>
            </a:pPr>
            <a:r>
              <a:rPr lang="fr-FR" noProof="0" dirty="0"/>
              <a:t>EXEMPLE — Objectif O3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907024"/>
            <a:ext cx="10515600" cy="40233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0F172A"/>
                </a:solidFill>
                <a:latin typeface="Calibri"/>
              </a:defRPr>
            </a:pPr>
            <a:r>
              <a:rPr lang="fr-FR" noProof="0" dirty="0"/>
              <a:t>un directeur voit en une page le taux d'emploi, le salaire moyen et la répartition par secteur de la promotion 2026.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rPr lang="fr-FR" noProof="0" dirty="0"/>
              <a:t>Alumni CRM — Stage </a:t>
            </a:r>
            <a:r>
              <a:rPr lang="fr-FR" noProof="0" dirty="0" err="1"/>
              <a:t>PreMSc</a:t>
            </a:r>
            <a:r>
              <a:rPr lang="fr-FR" noProof="0" dirty="0"/>
              <a:t> 2026 — IONIS-STM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64240" cy="6400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251E7A"/>
                </a:solidFill>
                <a:latin typeface="Calibri"/>
              </a:defRPr>
            </a:pPr>
            <a:r>
              <a:rPr lang="fr-FR" noProof="0" dirty="0"/>
              <a:t>Méthodologie et déroulement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64008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5" name="Rounded Rectangle 4"/>
          <p:cNvSpPr/>
          <p:nvPr/>
        </p:nvSpPr>
        <p:spPr>
          <a:xfrm>
            <a:off x="822960" y="1417320"/>
            <a:ext cx="512064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EF2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1005840" y="1527048"/>
            <a:ext cx="475488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4338CA"/>
                </a:solidFill>
                <a:latin typeface="Calibri"/>
              </a:defRPr>
            </a:pPr>
            <a:r>
              <a:rPr lang="fr-FR" noProof="0" dirty="0"/>
              <a:t>Analyse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874520"/>
            <a:ext cx="4754880" cy="12801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250" b="0">
                <a:solidFill>
                  <a:srgbClr val="64748B"/>
                </a:solidFill>
                <a:latin typeface="Calibri"/>
              </a:defRPr>
            </a:pPr>
            <a:r>
              <a:rPr lang="fr-FR" noProof="0" dirty="0"/>
              <a:t>Cahier des charges, étude des solutions, choix de la stack.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17320"/>
            <a:ext cx="512064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EF2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6492240" y="1527048"/>
            <a:ext cx="475488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0B981"/>
                </a:solidFill>
                <a:latin typeface="Calibri"/>
              </a:defRPr>
            </a:pPr>
            <a:r>
              <a:rPr lang="fr-FR" noProof="0" dirty="0"/>
              <a:t>Conception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874520"/>
            <a:ext cx="4754880" cy="12801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250" b="0">
                <a:solidFill>
                  <a:srgbClr val="64748B"/>
                </a:solidFill>
                <a:latin typeface="Calibri"/>
              </a:defRPr>
            </a:pPr>
            <a:r>
              <a:rPr lang="fr-FR" noProof="0" dirty="0"/>
              <a:t>MCD/MLD (Looping), règles d'intégrité, schéma d'API.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383280"/>
            <a:ext cx="512064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EF2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1005840" y="3493008"/>
            <a:ext cx="475488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251E7A"/>
                </a:solidFill>
                <a:latin typeface="Calibri"/>
              </a:defRPr>
            </a:pPr>
            <a:r>
              <a:rPr lang="fr-FR" noProof="0" dirty="0"/>
              <a:t>Développement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40480"/>
            <a:ext cx="4754880" cy="12801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250" b="0">
                <a:solidFill>
                  <a:srgbClr val="64748B"/>
                </a:solidFill>
                <a:latin typeface="Calibri"/>
              </a:defRPr>
            </a:pPr>
            <a:r>
              <a:rPr lang="fr-FR" noProof="0" dirty="0"/>
              <a:t>Backend </a:t>
            </a:r>
            <a:r>
              <a:rPr lang="fr-FR" noProof="0" dirty="0" err="1"/>
              <a:t>FastAPI</a:t>
            </a:r>
            <a:r>
              <a:rPr lang="fr-FR" noProof="0" dirty="0"/>
              <a:t>, frontend </a:t>
            </a:r>
            <a:r>
              <a:rPr lang="fr-FR" noProof="0" dirty="0" err="1"/>
              <a:t>React</a:t>
            </a:r>
            <a:r>
              <a:rPr lang="fr-FR" noProof="0" dirty="0"/>
              <a:t>, conformité RGPD.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3383280"/>
            <a:ext cx="5120640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EF2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6492240" y="3493008"/>
            <a:ext cx="475488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0B981"/>
                </a:solidFill>
                <a:latin typeface="Calibri"/>
              </a:defRPr>
            </a:pPr>
            <a:r>
              <a:rPr lang="fr-FR" noProof="0" dirty="0"/>
              <a:t>Consolidation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840480"/>
            <a:ext cx="4754880" cy="12801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250" b="0">
                <a:solidFill>
                  <a:srgbClr val="64748B"/>
                </a:solidFill>
                <a:latin typeface="Calibri"/>
              </a:defRPr>
            </a:pPr>
            <a:r>
              <a:rPr lang="fr-FR" noProof="0" dirty="0"/>
              <a:t>Revue, documentation « comme du code », guide des processus.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96128"/>
            <a:ext cx="10927080" cy="749808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8" name="Rectangle 17"/>
          <p:cNvSpPr/>
          <p:nvPr/>
        </p:nvSpPr>
        <p:spPr>
          <a:xfrm>
            <a:off x="640080" y="5596128"/>
            <a:ext cx="82296" cy="7498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9" name="TextBox 18"/>
          <p:cNvSpPr txBox="1"/>
          <p:nvPr/>
        </p:nvSpPr>
        <p:spPr>
          <a:xfrm>
            <a:off x="868680" y="5641848"/>
            <a:ext cx="1051560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10B981"/>
                </a:solidFill>
                <a:latin typeface="Calibri"/>
              </a:defRPr>
            </a:pPr>
            <a:r>
              <a:rPr lang="fr-FR" noProof="0" dirty="0"/>
              <a:t>EXEMPLE — Démarche itérative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907024"/>
            <a:ext cx="10515600" cy="40233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0F172A"/>
                </a:solidFill>
                <a:latin typeface="Calibri"/>
              </a:defRPr>
            </a:pPr>
            <a:r>
              <a:rPr lang="fr-FR" noProof="0" dirty="0"/>
              <a:t>chaque brique est livrée puis testée sur les parcours réels (connexion OTP, import Excel, demande RGPD) avant d'enchaîner la suivante.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rPr lang="fr-FR" noProof="0" dirty="0"/>
              <a:t>Alumni CRM — Stage </a:t>
            </a:r>
            <a:r>
              <a:rPr lang="fr-FR" noProof="0" dirty="0" err="1"/>
              <a:t>PreMSc</a:t>
            </a:r>
            <a:r>
              <a:rPr lang="fr-FR" noProof="0" dirty="0"/>
              <a:t> 2026 — IONIS-STM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64240" cy="6400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251E7A"/>
                </a:solidFill>
                <a:latin typeface="Calibri"/>
              </a:defRPr>
            </a:pPr>
            <a:r>
              <a:rPr lang="fr-FR" noProof="0" dirty="0"/>
              <a:t>Architecture 3-tiers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64008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5486400" cy="27432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700"/>
              </a:spcAft>
              <a:defRPr>
                <a:latin typeface="Calibri"/>
              </a:defRPr>
            </a:pPr>
            <a:r>
              <a:rPr lang="fr-FR" sz="1400" b="1" noProof="0" dirty="0">
                <a:solidFill>
                  <a:srgbClr val="10B981"/>
                </a:solidFill>
                <a:latin typeface="Calibri"/>
              </a:rPr>
              <a:t>▸  </a:t>
            </a:r>
            <a:r>
              <a:rPr lang="fr-FR" sz="1400" noProof="0" dirty="0">
                <a:solidFill>
                  <a:srgbClr val="0F172A"/>
                </a:solidFill>
                <a:latin typeface="Calibri"/>
              </a:rPr>
              <a:t>Frontend </a:t>
            </a:r>
            <a:r>
              <a:rPr lang="fr-FR" sz="1400" noProof="0" dirty="0" err="1">
                <a:solidFill>
                  <a:srgbClr val="0F172A"/>
                </a:solidFill>
                <a:latin typeface="Calibri"/>
              </a:rPr>
              <a:t>React</a:t>
            </a:r>
            <a:r>
              <a:rPr lang="fr-FR" sz="1400" noProof="0" dirty="0">
                <a:solidFill>
                  <a:srgbClr val="0F172A"/>
                </a:solidFill>
                <a:latin typeface="Calibri"/>
              </a:rPr>
              <a:t> + Vite (SPA) : espace Admin et Alumni, proxy /api → 8000.</a:t>
            </a:r>
          </a:p>
          <a:p>
            <a:pPr>
              <a:spcAft>
                <a:spcPts val="700"/>
              </a:spcAft>
              <a:defRPr>
                <a:latin typeface="Calibri"/>
              </a:defRPr>
            </a:pPr>
            <a:r>
              <a:rPr lang="fr-FR" sz="1400" b="1" noProof="0" dirty="0">
                <a:solidFill>
                  <a:srgbClr val="10B981"/>
                </a:solidFill>
                <a:latin typeface="Calibri"/>
              </a:rPr>
              <a:t>▸  </a:t>
            </a:r>
            <a:r>
              <a:rPr lang="fr-FR" sz="1400" noProof="0" dirty="0">
                <a:solidFill>
                  <a:srgbClr val="0F172A"/>
                </a:solidFill>
                <a:latin typeface="Calibri"/>
              </a:rPr>
              <a:t>Backend </a:t>
            </a:r>
            <a:r>
              <a:rPr lang="fr-FR" sz="1400" noProof="0" dirty="0" err="1">
                <a:solidFill>
                  <a:srgbClr val="0F172A"/>
                </a:solidFill>
                <a:latin typeface="Calibri"/>
              </a:rPr>
              <a:t>FastAPI</a:t>
            </a:r>
            <a:r>
              <a:rPr lang="fr-FR" sz="1400" noProof="0" dirty="0">
                <a:solidFill>
                  <a:srgbClr val="0F172A"/>
                </a:solidFill>
                <a:latin typeface="Calibri"/>
              </a:rPr>
              <a:t> : 83 </a:t>
            </a:r>
            <a:r>
              <a:rPr lang="fr-FR" sz="1400" noProof="0" dirty="0" err="1">
                <a:solidFill>
                  <a:srgbClr val="0F172A"/>
                </a:solidFill>
                <a:latin typeface="Calibri"/>
              </a:rPr>
              <a:t>endpoints</a:t>
            </a:r>
            <a:r>
              <a:rPr lang="fr-FR" sz="1400" noProof="0" dirty="0">
                <a:solidFill>
                  <a:srgbClr val="0F172A"/>
                </a:solidFill>
                <a:latin typeface="Calibri"/>
              </a:rPr>
              <a:t>, 16 routeurs, validations </a:t>
            </a:r>
            <a:r>
              <a:rPr lang="fr-FR" sz="1400" noProof="0" dirty="0" err="1">
                <a:solidFill>
                  <a:srgbClr val="0F172A"/>
                </a:solidFill>
                <a:latin typeface="Calibri"/>
              </a:rPr>
              <a:t>Pydantic</a:t>
            </a:r>
            <a:r>
              <a:rPr lang="fr-FR" sz="1400" noProof="0" dirty="0">
                <a:solidFill>
                  <a:srgbClr val="0F172A"/>
                </a:solidFill>
                <a:latin typeface="Calibri"/>
              </a:rPr>
              <a:t>, Swagger.</a:t>
            </a:r>
          </a:p>
          <a:p>
            <a:pPr>
              <a:spcAft>
                <a:spcPts val="700"/>
              </a:spcAft>
              <a:defRPr>
                <a:latin typeface="Calibri"/>
              </a:defRPr>
            </a:pPr>
            <a:r>
              <a:rPr lang="fr-FR" sz="1400" b="1" noProof="0" dirty="0">
                <a:solidFill>
                  <a:srgbClr val="10B981"/>
                </a:solidFill>
                <a:latin typeface="Calibri"/>
              </a:rPr>
              <a:t>▸  </a:t>
            </a:r>
            <a:r>
              <a:rPr lang="fr-FR" sz="1400" noProof="0" dirty="0">
                <a:solidFill>
                  <a:srgbClr val="0F172A"/>
                </a:solidFill>
                <a:latin typeface="Calibri"/>
              </a:rPr>
              <a:t>PostgreSQL : 14 tables, 16 migrations versionnées, JSONB.</a:t>
            </a:r>
          </a:p>
          <a:p>
            <a:pPr>
              <a:spcAft>
                <a:spcPts val="700"/>
              </a:spcAft>
              <a:defRPr>
                <a:latin typeface="Calibri"/>
              </a:defRPr>
            </a:pPr>
            <a:r>
              <a:rPr lang="fr-FR" sz="1400" b="1" noProof="0" dirty="0">
                <a:solidFill>
                  <a:srgbClr val="10B981"/>
                </a:solidFill>
                <a:latin typeface="Calibri"/>
              </a:rPr>
              <a:t>▸  </a:t>
            </a:r>
            <a:r>
              <a:rPr lang="fr-FR" sz="1400" noProof="0" dirty="0">
                <a:solidFill>
                  <a:srgbClr val="0F172A"/>
                </a:solidFill>
                <a:latin typeface="Calibri"/>
              </a:rPr>
              <a:t>Sécurité : OTP email, JWT, clé API admin, anti-IDOR.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892040"/>
            <a:ext cx="10927080" cy="749808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7" name="Rectangle 6"/>
          <p:cNvSpPr/>
          <p:nvPr/>
        </p:nvSpPr>
        <p:spPr>
          <a:xfrm>
            <a:off x="640080" y="4892040"/>
            <a:ext cx="82296" cy="7498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868680" y="4937760"/>
            <a:ext cx="1051560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10B981"/>
                </a:solidFill>
                <a:latin typeface="Calibri"/>
              </a:defRPr>
            </a:pPr>
            <a:r>
              <a:rPr lang="fr-FR" noProof="0" dirty="0"/>
              <a:t>EXEMPLE — Flux d'une requête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202936"/>
            <a:ext cx="10515600" cy="40233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0F172A"/>
                </a:solidFill>
                <a:latin typeface="Calibri"/>
              </a:defRPr>
            </a:pPr>
            <a:r>
              <a:rPr lang="fr-FR" noProof="0" dirty="0"/>
              <a:t>un </a:t>
            </a:r>
            <a:r>
              <a:rPr lang="fr-FR" noProof="0" dirty="0" err="1"/>
              <a:t>alumni</a:t>
            </a:r>
            <a:r>
              <a:rPr lang="fr-FR" noProof="0" dirty="0"/>
              <a:t> saisit son code OTP à 6 chiffres → </a:t>
            </a:r>
            <a:r>
              <a:rPr lang="fr-FR" noProof="0" dirty="0" err="1"/>
              <a:t>FastAPI</a:t>
            </a:r>
            <a:r>
              <a:rPr lang="fr-FR" noProof="0" dirty="0"/>
              <a:t> le valide → un JWT est émis pour accéder à son profil.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1417320"/>
            <a:ext cx="1691640" cy="3017520"/>
          </a:xfrm>
          <a:prstGeom prst="roundRect">
            <a:avLst>
              <a:gd name="adj" fmla="val 1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/>
              <a:t>FRONTEND</a:t>
            </a:r>
          </a:p>
          <a:p>
            <a:pPr algn="ctr">
              <a:defRPr sz="1200">
                <a:solidFill>
                  <a:srgbClr val="FFFFFF"/>
                </a:solidFill>
                <a:latin typeface="Calibri"/>
              </a:defRPr>
            </a:pPr>
            <a:r>
              <a:rPr lang="fr-FR" noProof="0" dirty="0" err="1"/>
              <a:t>React</a:t>
            </a:r>
            <a:r>
              <a:rPr lang="fr-FR" noProof="0" dirty="0"/>
              <a:t> + Vite</a:t>
            </a:r>
          </a:p>
          <a:p>
            <a:pPr algn="ctr">
              <a:defRPr sz="1200">
                <a:solidFill>
                  <a:srgbClr val="FFFFFF"/>
                </a:solidFill>
                <a:latin typeface="Calibri"/>
              </a:defRPr>
            </a:pPr>
            <a:r>
              <a:rPr lang="fr-FR" noProof="0" dirty="0"/>
              <a:t>SPA interactive</a:t>
            </a:r>
          </a:p>
          <a:p>
            <a:pPr algn="ctr">
              <a:defRPr sz="1200">
                <a:solidFill>
                  <a:srgbClr val="FFFFFF"/>
                </a:solidFill>
                <a:latin typeface="Calibri"/>
              </a:defRPr>
            </a:pPr>
            <a:r>
              <a:rPr lang="fr-FR" noProof="0" dirty="0"/>
              <a:t>proxy /api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275320" y="2560320"/>
            <a:ext cx="201168" cy="41148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2" name="Rounded Rectangle 11"/>
          <p:cNvSpPr/>
          <p:nvPr/>
        </p:nvSpPr>
        <p:spPr>
          <a:xfrm>
            <a:off x="8522208" y="1417320"/>
            <a:ext cx="1691640" cy="3017520"/>
          </a:xfrm>
          <a:prstGeom prst="roundRect">
            <a:avLst>
              <a:gd name="adj" fmla="val 1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/>
              <a:t>BACKEND</a:t>
            </a:r>
          </a:p>
          <a:p>
            <a:pPr algn="ctr">
              <a:defRPr sz="1200">
                <a:solidFill>
                  <a:srgbClr val="FFFFFF"/>
                </a:solidFill>
                <a:latin typeface="Calibri"/>
              </a:defRPr>
            </a:pPr>
            <a:r>
              <a:rPr lang="fr-FR" noProof="0" dirty="0" err="1"/>
              <a:t>FastAPI</a:t>
            </a:r>
            <a:endParaRPr lang="fr-FR" noProof="0" dirty="0"/>
          </a:p>
          <a:p>
            <a:pPr algn="ctr">
              <a:defRPr sz="1200">
                <a:solidFill>
                  <a:srgbClr val="FFFFFF"/>
                </a:solidFill>
                <a:latin typeface="Calibri"/>
              </a:defRPr>
            </a:pPr>
            <a:r>
              <a:rPr lang="fr-FR" noProof="0" dirty="0"/>
              <a:t>83 </a:t>
            </a:r>
            <a:r>
              <a:rPr lang="fr-FR" noProof="0" dirty="0" err="1"/>
              <a:t>endpoints</a:t>
            </a:r>
            <a:endParaRPr lang="fr-FR" noProof="0" dirty="0"/>
          </a:p>
          <a:p>
            <a:pPr algn="ctr">
              <a:defRPr sz="1200">
                <a:solidFill>
                  <a:srgbClr val="FFFFFF"/>
                </a:solidFill>
                <a:latin typeface="Calibri"/>
              </a:defRPr>
            </a:pPr>
            <a:r>
              <a:rPr lang="fr-FR" noProof="0" dirty="0"/>
              <a:t>validations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10213848" y="2560320"/>
            <a:ext cx="201168" cy="41148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4" name="Rounded Rectangle 13"/>
          <p:cNvSpPr/>
          <p:nvPr/>
        </p:nvSpPr>
        <p:spPr>
          <a:xfrm>
            <a:off x="10460736" y="1417320"/>
            <a:ext cx="1691640" cy="301752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rPr lang="fr-FR" noProof="0" dirty="0"/>
              <a:t>BASE</a:t>
            </a:r>
          </a:p>
          <a:p>
            <a:pPr algn="ctr">
              <a:defRPr sz="1200">
                <a:solidFill>
                  <a:srgbClr val="FFFFFF"/>
                </a:solidFill>
                <a:latin typeface="Calibri"/>
              </a:defRPr>
            </a:pPr>
            <a:r>
              <a:rPr lang="fr-FR" noProof="0" dirty="0"/>
              <a:t>PostgreSQL</a:t>
            </a:r>
          </a:p>
          <a:p>
            <a:pPr algn="ctr">
              <a:defRPr sz="1200">
                <a:solidFill>
                  <a:srgbClr val="FFFFFF"/>
                </a:solidFill>
                <a:latin typeface="Calibri"/>
              </a:defRPr>
            </a:pPr>
            <a:r>
              <a:rPr lang="fr-FR" noProof="0" dirty="0"/>
              <a:t>14 tables</a:t>
            </a:r>
          </a:p>
          <a:p>
            <a:pPr algn="ctr">
              <a:defRPr sz="1200">
                <a:solidFill>
                  <a:srgbClr val="FFFFFF"/>
                </a:solidFill>
                <a:latin typeface="Calibri"/>
              </a:defRPr>
            </a:pPr>
            <a:r>
              <a:rPr lang="fr-FR" noProof="0" dirty="0"/>
              <a:t>JSONB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rPr lang="fr-FR" noProof="0" dirty="0"/>
              <a:t>Alumni CRM — Stage </a:t>
            </a:r>
            <a:r>
              <a:rPr lang="fr-FR" noProof="0" dirty="0" err="1"/>
              <a:t>PreMSc</a:t>
            </a:r>
            <a:r>
              <a:rPr lang="fr-FR" noProof="0" dirty="0"/>
              <a:t> 2026 — IONIS-STM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64240" cy="6400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251E7A"/>
                </a:solidFill>
                <a:latin typeface="Calibri"/>
              </a:defRPr>
            </a:pPr>
            <a:r>
              <a:rPr lang="fr-FR" noProof="0" dirty="0"/>
              <a:t>Modèle de données (MCD)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64008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822960" y="1143000"/>
            <a:ext cx="10607040" cy="9144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500"/>
              </a:spcAft>
              <a:defRPr>
                <a:latin typeface="Calibri"/>
              </a:defRPr>
            </a:pPr>
            <a:r>
              <a:rPr lang="fr-FR" sz="1400" b="1" noProof="0" dirty="0">
                <a:solidFill>
                  <a:srgbClr val="10B981"/>
                </a:solidFill>
                <a:latin typeface="Calibri"/>
              </a:rPr>
              <a:t>▸  </a:t>
            </a:r>
            <a:r>
              <a:rPr lang="fr-FR" sz="1400" noProof="0" dirty="0">
                <a:solidFill>
                  <a:srgbClr val="0F172A"/>
                </a:solidFill>
                <a:latin typeface="Calibri"/>
              </a:rPr>
              <a:t>5 domaines, 14 tables : étudiants, parcours pro, RGPD, questionnaires, INFRA.</a:t>
            </a:r>
          </a:p>
          <a:p>
            <a:pPr>
              <a:spcAft>
                <a:spcPts val="500"/>
              </a:spcAft>
              <a:defRPr>
                <a:latin typeface="Calibri"/>
              </a:defRPr>
            </a:pPr>
            <a:r>
              <a:rPr lang="fr-FR" sz="1400" b="1" noProof="0" dirty="0">
                <a:solidFill>
                  <a:srgbClr val="10B981"/>
                </a:solidFill>
                <a:latin typeface="Calibri"/>
              </a:rPr>
              <a:t>▸  </a:t>
            </a:r>
            <a:r>
              <a:rPr lang="fr-FR" sz="1400" noProof="0" dirty="0">
                <a:solidFill>
                  <a:srgbClr val="0F172A"/>
                </a:solidFill>
                <a:latin typeface="Calibri"/>
              </a:rPr>
              <a:t>Relations clés : ETUDIANT → PROMOTION (N:1) ; EXPERIENCE_PRO (postes &amp; salaires) ; OBTIENT (certifications N:M).</a:t>
            </a:r>
          </a:p>
        </p:txBody>
      </p:sp>
      <p:pic>
        <p:nvPicPr>
          <p:cNvPr id="6" name="Picture 5" descr="M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5173" y="2057400"/>
            <a:ext cx="6401348" cy="32461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5596128"/>
            <a:ext cx="10927080" cy="749808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8" name="Rectangle 7"/>
          <p:cNvSpPr/>
          <p:nvPr/>
        </p:nvSpPr>
        <p:spPr>
          <a:xfrm>
            <a:off x="640080" y="5596128"/>
            <a:ext cx="82296" cy="7498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868680" y="5641848"/>
            <a:ext cx="1051560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10B981"/>
                </a:solidFill>
                <a:latin typeface="Calibri"/>
              </a:defRPr>
            </a:pPr>
            <a:r>
              <a:rPr lang="fr-FR" noProof="0" dirty="0"/>
              <a:t>EXEMPLE — Lecture du modèle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907024"/>
            <a:ext cx="10515600" cy="40233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0F172A"/>
                </a:solidFill>
                <a:latin typeface="Calibri"/>
              </a:defRPr>
            </a:pPr>
            <a:r>
              <a:rPr lang="fr-FR" noProof="0" dirty="0"/>
              <a:t>un étudiant appartient à UNE promotion (N:1) mais peut obtenir plusieurs certifications (relation N:M OBTIENT) — la cardinalité guide les clés étrangères.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rPr lang="fr-FR" noProof="0" dirty="0"/>
              <a:t>Alumni CRM — Stage </a:t>
            </a:r>
            <a:r>
              <a:rPr lang="fr-FR" noProof="0" dirty="0" err="1"/>
              <a:t>PreMSc</a:t>
            </a:r>
            <a:r>
              <a:rPr lang="fr-FR" noProof="0" dirty="0"/>
              <a:t> 2026 — IONIS-STM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64240" cy="6400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251E7A"/>
                </a:solidFill>
                <a:latin typeface="Calibri"/>
              </a:defRPr>
            </a:pPr>
            <a:r>
              <a:rPr lang="fr-FR" noProof="0" dirty="0"/>
              <a:t>Conformité RGPD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64008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607040" cy="137160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400"/>
              </a:spcAft>
              <a:defRPr>
                <a:latin typeface="Calibri"/>
              </a:defRPr>
            </a:pPr>
            <a:r>
              <a:rPr lang="fr-FR" sz="1400" b="1" noProof="0" dirty="0">
                <a:solidFill>
                  <a:srgbClr val="10B981"/>
                </a:solidFill>
                <a:latin typeface="Calibri"/>
              </a:rPr>
              <a:t>▸  </a:t>
            </a:r>
            <a:r>
              <a:rPr lang="fr-FR" sz="1400" noProof="0" dirty="0">
                <a:solidFill>
                  <a:srgbClr val="0F172A"/>
                </a:solidFill>
                <a:latin typeface="Calibri"/>
              </a:rPr>
              <a:t>Consentement explicite (4 types), horodaté et réellement consommé.</a:t>
            </a:r>
          </a:p>
          <a:p>
            <a:pPr>
              <a:spcAft>
                <a:spcPts val="400"/>
              </a:spcAft>
              <a:defRPr>
                <a:latin typeface="Calibri"/>
              </a:defRPr>
            </a:pPr>
            <a:r>
              <a:rPr lang="fr-FR" sz="1400" b="1" noProof="0" dirty="0">
                <a:solidFill>
                  <a:srgbClr val="10B981"/>
                </a:solidFill>
                <a:latin typeface="Calibri"/>
              </a:rPr>
              <a:t>▸  </a:t>
            </a:r>
            <a:r>
              <a:rPr lang="fr-FR" sz="1400" noProof="0" dirty="0">
                <a:solidFill>
                  <a:srgbClr val="0F172A"/>
                </a:solidFill>
                <a:latin typeface="Calibri"/>
              </a:rPr>
              <a:t>Droits : export en auto-service (JSON/Excel/CSV), suppression avec workflow verrouillé et anonymisation.</a:t>
            </a:r>
          </a:p>
          <a:p>
            <a:pPr>
              <a:spcAft>
                <a:spcPts val="400"/>
              </a:spcAft>
              <a:defRPr>
                <a:latin typeface="Calibri"/>
              </a:defRPr>
            </a:pPr>
            <a:r>
              <a:rPr lang="fr-FR" sz="1400" b="1" noProof="0" dirty="0">
                <a:solidFill>
                  <a:srgbClr val="10B981"/>
                </a:solidFill>
                <a:latin typeface="Calibri"/>
              </a:rPr>
              <a:t>▸  </a:t>
            </a:r>
            <a:r>
              <a:rPr lang="fr-FR" sz="1400" noProof="0" dirty="0">
                <a:solidFill>
                  <a:srgbClr val="0F172A"/>
                </a:solidFill>
                <a:latin typeface="Calibri"/>
              </a:rPr>
              <a:t>Traçabilité : journal d'audit, purge différée des comptes anonymisés.</a:t>
            </a:r>
          </a:p>
        </p:txBody>
      </p:sp>
      <p:pic>
        <p:nvPicPr>
          <p:cNvPr id="6" name="Picture 5" descr="anC_consentement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186559"/>
            <a:ext cx="5029200" cy="3143250"/>
          </a:xfrm>
          <a:prstGeom prst="rect">
            <a:avLst/>
          </a:prstGeom>
        </p:spPr>
      </p:pic>
      <p:pic>
        <p:nvPicPr>
          <p:cNvPr id="7" name="Picture 6" descr="anB_demandes_rgpd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2182559"/>
            <a:ext cx="5029200" cy="314325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5596128"/>
            <a:ext cx="10927080" cy="749808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9" name="Rectangle 8"/>
          <p:cNvSpPr/>
          <p:nvPr/>
        </p:nvSpPr>
        <p:spPr>
          <a:xfrm>
            <a:off x="640080" y="5596128"/>
            <a:ext cx="82296" cy="7498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868680" y="5641848"/>
            <a:ext cx="1051560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10B981"/>
                </a:solidFill>
                <a:latin typeface="Calibri"/>
              </a:defRPr>
            </a:pPr>
            <a:r>
              <a:rPr lang="fr-FR" noProof="0" dirty="0"/>
              <a:t>EXEMPLE — Parcours de suppression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907024"/>
            <a:ext cx="10515600" cy="40233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0F172A"/>
                </a:solidFill>
                <a:latin typeface="Calibri"/>
              </a:defRPr>
            </a:pPr>
            <a:r>
              <a:rPr lang="fr-FR" noProof="0" dirty="0"/>
              <a:t>l'</a:t>
            </a:r>
            <a:r>
              <a:rPr lang="fr-FR" noProof="0" dirty="0" err="1"/>
              <a:t>alumni</a:t>
            </a:r>
            <a:r>
              <a:rPr lang="fr-FR" noProof="0" dirty="0"/>
              <a:t> demande la suppression → l'admin verrouille la demande (anti-double traitement) → décision </a:t>
            </a:r>
            <a:r>
              <a:rPr lang="fr-FR" noProof="0" dirty="0" err="1"/>
              <a:t>traitee</a:t>
            </a:r>
            <a:r>
              <a:rPr lang="fr-FR" noProof="0" dirty="0"/>
              <a:t> → compte anonymisé et tracé dans AUDIT_LOG.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922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rPr lang="fr-FR" noProof="0" dirty="0"/>
              <a:t>Alumni CRM — Stage </a:t>
            </a:r>
            <a:r>
              <a:rPr lang="fr-FR" noProof="0" dirty="0" err="1"/>
              <a:t>PreMSc</a:t>
            </a:r>
            <a:r>
              <a:rPr lang="fr-FR" noProof="0" dirty="0"/>
              <a:t> 2026 — IONIS-STM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94360" y="394934"/>
            <a:ext cx="11064240" cy="6400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251E7A"/>
                </a:solidFill>
                <a:latin typeface="Calibri"/>
              </a:defRPr>
            </a:pPr>
            <a:r>
              <a:rPr lang="fr-FR" noProof="0" dirty="0"/>
              <a:t>Démonstration — Espace Administration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32688"/>
            <a:ext cx="110642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64748B"/>
                </a:solidFill>
                <a:latin typeface="Calibri"/>
              </a:defRPr>
            </a:pPr>
            <a:r>
              <a:rPr lang="fr-FR" noProof="0" dirty="0"/>
              <a:t>Tableau de bord, annuaire, RGPD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64008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pic>
        <p:nvPicPr>
          <p:cNvPr id="6" name="Picture 5" descr="anB_dashboard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98448"/>
            <a:ext cx="6729984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89520" y="1600200"/>
            <a:ext cx="4069080" cy="4114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EF2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7772400" y="1709928"/>
            <a:ext cx="37033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4338CA"/>
                </a:solidFill>
                <a:latin typeface="Calibri"/>
              </a:defRPr>
            </a:pPr>
            <a:r>
              <a:rPr lang="fr-FR" noProof="0" dirty="0"/>
              <a:t>Ce que vous verrez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057400"/>
            <a:ext cx="3703320" cy="35661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250" b="0">
                <a:solidFill>
                  <a:srgbClr val="64748B"/>
                </a:solidFill>
                <a:latin typeface="Calibri"/>
              </a:defRPr>
            </a:pPr>
            <a:r>
              <a:rPr lang="fr-FR" noProof="0" dirty="0"/>
              <a:t>▸ KPI en haut : taux d'emploi, salaire moyen, anciens contactés.</a:t>
            </a:r>
          </a:p>
          <a:p>
            <a:pPr algn="l">
              <a:spcAft>
                <a:spcPts val="200"/>
              </a:spcAft>
              <a:defRPr sz="1250" b="0">
                <a:solidFill>
                  <a:srgbClr val="64748B"/>
                </a:solidFill>
                <a:latin typeface="Calibri"/>
              </a:defRPr>
            </a:pPr>
            <a:r>
              <a:rPr lang="fr-FR" noProof="0" dirty="0"/>
              <a:t>▸ Graphiques par secteur et par type de contrat.</a:t>
            </a:r>
          </a:p>
          <a:p>
            <a:pPr algn="l">
              <a:spcAft>
                <a:spcPts val="200"/>
              </a:spcAft>
              <a:defRPr sz="1250" b="0">
                <a:solidFill>
                  <a:srgbClr val="64748B"/>
                </a:solidFill>
                <a:latin typeface="Calibri"/>
              </a:defRPr>
            </a:pPr>
            <a:r>
              <a:rPr lang="fr-FR" noProof="0" dirty="0"/>
              <a:t>▸ Annuaire filtrable : promotion, secteur, consentement.</a:t>
            </a:r>
          </a:p>
          <a:p>
            <a:pPr algn="l">
              <a:spcAft>
                <a:spcPts val="200"/>
              </a:spcAft>
              <a:defRPr sz="1250" b="0">
                <a:solidFill>
                  <a:srgbClr val="64748B"/>
                </a:solidFill>
                <a:latin typeface="Calibri"/>
              </a:defRPr>
            </a:pPr>
            <a:r>
              <a:rPr lang="fr-FR" noProof="0" dirty="0"/>
              <a:t>▸ Demandes RGPD : prendre en charge, traiter, exporter.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rPr lang="fr-FR" noProof="0" dirty="0"/>
              <a:t>Alumni CRM — Stage </a:t>
            </a:r>
            <a:r>
              <a:rPr lang="fr-FR" noProof="0" dirty="0" err="1"/>
              <a:t>PreMSc</a:t>
            </a:r>
            <a:r>
              <a:rPr lang="fr-FR" noProof="0" dirty="0"/>
              <a:t> 2026 — IONIS-STM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64240" cy="6400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251E7A"/>
                </a:solidFill>
                <a:latin typeface="Calibri"/>
              </a:defRPr>
            </a:pPr>
            <a:r>
              <a:rPr lang="fr-FR" noProof="0" dirty="0"/>
              <a:t>Démonstration — Espace Alumni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32688"/>
            <a:ext cx="1106424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64748B"/>
                </a:solidFill>
                <a:latin typeface="Calibri"/>
              </a:defRPr>
            </a:pPr>
            <a:r>
              <a:rPr lang="fr-FR" noProof="0" dirty="0"/>
              <a:t>Profil, parcours, consentement, questionnaire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64008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pic>
        <p:nvPicPr>
          <p:cNvPr id="6" name="Picture 5" descr="anC_parcours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729984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89520" y="1600200"/>
            <a:ext cx="4069080" cy="4114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EF2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7772400" y="1709928"/>
            <a:ext cx="3703320" cy="3657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500" b="1">
                <a:solidFill>
                  <a:srgbClr val="10B981"/>
                </a:solidFill>
                <a:latin typeface="Calibri"/>
              </a:defRPr>
            </a:pPr>
            <a:r>
              <a:rPr lang="fr-FR" noProof="0" dirty="0"/>
              <a:t>Ce que vous verrez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057400"/>
            <a:ext cx="3703320" cy="35661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250" b="0">
                <a:solidFill>
                  <a:srgbClr val="64748B"/>
                </a:solidFill>
                <a:latin typeface="Calibri"/>
              </a:defRPr>
            </a:pPr>
            <a:r>
              <a:rPr lang="fr-FR" noProof="0" dirty="0"/>
              <a:t>▸ Inscription avec OTP par e-mail (code à 6 chiffres).</a:t>
            </a:r>
          </a:p>
          <a:p>
            <a:pPr algn="l">
              <a:spcAft>
                <a:spcPts val="200"/>
              </a:spcAft>
              <a:defRPr sz="1250" b="0">
                <a:solidFill>
                  <a:srgbClr val="64748B"/>
                </a:solidFill>
                <a:latin typeface="Calibri"/>
              </a:defRPr>
            </a:pPr>
            <a:r>
              <a:rPr lang="fr-FR" noProof="0" dirty="0"/>
              <a:t>▸ Mon parcours : expériences, certifications, salaire.</a:t>
            </a:r>
          </a:p>
          <a:p>
            <a:pPr algn="l">
              <a:spcAft>
                <a:spcPts val="200"/>
              </a:spcAft>
              <a:defRPr sz="1250" b="0">
                <a:solidFill>
                  <a:srgbClr val="64748B"/>
                </a:solidFill>
                <a:latin typeface="Calibri"/>
              </a:defRPr>
            </a:pPr>
            <a:r>
              <a:rPr lang="fr-FR" noProof="0" dirty="0"/>
              <a:t>▸ Consentements RGPD en auto-service.</a:t>
            </a:r>
          </a:p>
          <a:p>
            <a:pPr algn="l">
              <a:spcAft>
                <a:spcPts val="200"/>
              </a:spcAft>
              <a:defRPr sz="1250" b="0">
                <a:solidFill>
                  <a:srgbClr val="64748B"/>
                </a:solidFill>
                <a:latin typeface="Calibri"/>
              </a:defRPr>
            </a:pPr>
            <a:r>
              <a:rPr lang="fr-FR" noProof="0" dirty="0"/>
              <a:t>▸ Questionnaire annuel </a:t>
            </a:r>
            <a:r>
              <a:rPr lang="fr-FR" noProof="0" dirty="0" err="1"/>
              <a:t>pré-rempli</a:t>
            </a:r>
            <a:r>
              <a:rPr lang="fr-FR" noProof="0" dirty="0"/>
              <a:t>.</a:t>
            </a:r>
          </a:p>
          <a:p>
            <a:pPr algn="l">
              <a:spcAft>
                <a:spcPts val="200"/>
              </a:spcAft>
              <a:defRPr sz="1250" b="0">
                <a:solidFill>
                  <a:srgbClr val="64748B"/>
                </a:solidFill>
                <a:latin typeface="Calibri"/>
              </a:defRPr>
            </a:pPr>
            <a:r>
              <a:rPr lang="fr-FR" noProof="0" dirty="0"/>
              <a:t>▸ Export de ses propres données.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rPr lang="fr-FR" noProof="0" dirty="0"/>
              <a:t>Alumni CRM — Stage </a:t>
            </a:r>
            <a:r>
              <a:rPr lang="fr-FR" noProof="0" dirty="0" err="1"/>
              <a:t>PreMSc</a:t>
            </a:r>
            <a:r>
              <a:rPr lang="fr-FR" noProof="0" dirty="0"/>
              <a:t> 2026 — IONIS-STM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64240" cy="6400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251E7A"/>
                </a:solidFill>
                <a:latin typeface="Calibri"/>
              </a:defRPr>
            </a:pPr>
            <a:r>
              <a:rPr lang="fr-FR" noProof="0" dirty="0"/>
              <a:t>Indicateurs d'insertion professionnelle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64008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5394960" cy="301752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500"/>
              </a:spcAft>
              <a:defRPr>
                <a:latin typeface="Calibri"/>
              </a:defRPr>
            </a:pPr>
            <a:r>
              <a:rPr lang="fr-FR" sz="1400" b="1" noProof="0" dirty="0">
                <a:solidFill>
                  <a:srgbClr val="10B981"/>
                </a:solidFill>
                <a:latin typeface="Calibri"/>
              </a:rPr>
              <a:t>▸  </a:t>
            </a:r>
            <a:r>
              <a:rPr lang="fr-FR" sz="1400" noProof="0" dirty="0">
                <a:solidFill>
                  <a:srgbClr val="0F172A"/>
                </a:solidFill>
                <a:latin typeface="Calibri"/>
              </a:rPr>
              <a:t>8 indicateurs reproductibles, formule et source explicites.</a:t>
            </a:r>
          </a:p>
          <a:p>
            <a:pPr>
              <a:spcAft>
                <a:spcPts val="500"/>
              </a:spcAft>
              <a:defRPr>
                <a:latin typeface="Calibri"/>
              </a:defRPr>
            </a:pPr>
            <a:r>
              <a:rPr lang="fr-FR" sz="1400" b="1" noProof="0" dirty="0">
                <a:solidFill>
                  <a:srgbClr val="10B981"/>
                </a:solidFill>
                <a:latin typeface="Calibri"/>
              </a:rPr>
              <a:t>▸  </a:t>
            </a:r>
            <a:r>
              <a:rPr lang="fr-FR" sz="1400" noProof="0" dirty="0">
                <a:solidFill>
                  <a:srgbClr val="0F172A"/>
                </a:solidFill>
                <a:latin typeface="Calibri"/>
              </a:rPr>
              <a:t>Taux d'emploi à 6 mois (expériences actives).</a:t>
            </a:r>
          </a:p>
          <a:p>
            <a:pPr>
              <a:spcAft>
                <a:spcPts val="500"/>
              </a:spcAft>
              <a:defRPr>
                <a:latin typeface="Calibri"/>
              </a:defRPr>
            </a:pPr>
            <a:r>
              <a:rPr lang="fr-FR" sz="1400" b="1" noProof="0" dirty="0">
                <a:solidFill>
                  <a:srgbClr val="10B981"/>
                </a:solidFill>
                <a:latin typeface="Calibri"/>
              </a:rPr>
              <a:t>▸  </a:t>
            </a:r>
            <a:r>
              <a:rPr lang="fr-FR" sz="1400" noProof="0" dirty="0">
                <a:solidFill>
                  <a:srgbClr val="0F172A"/>
                </a:solidFill>
                <a:latin typeface="Calibri"/>
              </a:rPr>
              <a:t>Adéquation formation/emploi via les tags KPI.</a:t>
            </a:r>
          </a:p>
          <a:p>
            <a:pPr>
              <a:spcAft>
                <a:spcPts val="500"/>
              </a:spcAft>
              <a:defRPr>
                <a:latin typeface="Calibri"/>
              </a:defRPr>
            </a:pPr>
            <a:r>
              <a:rPr lang="fr-FR" sz="1400" b="1" noProof="0" dirty="0">
                <a:solidFill>
                  <a:srgbClr val="10B981"/>
                </a:solidFill>
                <a:latin typeface="Calibri"/>
              </a:rPr>
              <a:t>▸  </a:t>
            </a:r>
            <a:r>
              <a:rPr lang="fr-FR" sz="1400" noProof="0" dirty="0">
                <a:solidFill>
                  <a:srgbClr val="0F172A"/>
                </a:solidFill>
                <a:latin typeface="Calibri"/>
              </a:rPr>
              <a:t>Salaire moyen / min / max (champ annuel).</a:t>
            </a:r>
          </a:p>
          <a:p>
            <a:pPr>
              <a:spcAft>
                <a:spcPts val="500"/>
              </a:spcAft>
              <a:defRPr>
                <a:latin typeface="Calibri"/>
              </a:defRPr>
            </a:pPr>
            <a:r>
              <a:rPr lang="fr-FR" sz="1400" b="1" noProof="0" dirty="0">
                <a:solidFill>
                  <a:srgbClr val="10B981"/>
                </a:solidFill>
                <a:latin typeface="Calibri"/>
              </a:rPr>
              <a:t>▸  </a:t>
            </a:r>
            <a:r>
              <a:rPr lang="fr-FR" sz="1400" noProof="0" dirty="0">
                <a:solidFill>
                  <a:srgbClr val="0F172A"/>
                </a:solidFill>
                <a:latin typeface="Calibri"/>
              </a:rPr>
              <a:t>Répartition par promotion et secteur.</a:t>
            </a:r>
          </a:p>
          <a:p>
            <a:pPr>
              <a:spcAft>
                <a:spcPts val="500"/>
              </a:spcAft>
              <a:defRPr>
                <a:latin typeface="Calibri"/>
              </a:defRPr>
            </a:pPr>
            <a:r>
              <a:rPr lang="fr-FR" sz="1400" b="1" noProof="0" dirty="0">
                <a:solidFill>
                  <a:srgbClr val="10B981"/>
                </a:solidFill>
                <a:latin typeface="Calibri"/>
              </a:rPr>
              <a:t>▸  </a:t>
            </a:r>
            <a:r>
              <a:rPr lang="fr-FR" sz="1400" noProof="0" dirty="0">
                <a:solidFill>
                  <a:srgbClr val="0F172A"/>
                </a:solidFill>
                <a:latin typeface="Calibri"/>
              </a:rPr>
              <a:t>Pas de chiffre trompeur : cohortes immatures → « non disponible 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166360"/>
            <a:ext cx="10927080" cy="749808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7" name="Rectangle 6"/>
          <p:cNvSpPr/>
          <p:nvPr/>
        </p:nvSpPr>
        <p:spPr>
          <a:xfrm>
            <a:off x="640080" y="5166360"/>
            <a:ext cx="82296" cy="7498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868680" y="5212080"/>
            <a:ext cx="1051560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10B981"/>
                </a:solidFill>
                <a:latin typeface="Calibri"/>
              </a:defRPr>
            </a:pPr>
            <a:r>
              <a:rPr lang="fr-FR" noProof="0" dirty="0"/>
              <a:t>EXEMPLE — Calcul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477256"/>
            <a:ext cx="10515600" cy="40233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0F172A"/>
                </a:solidFill>
                <a:latin typeface="Calibri"/>
              </a:defRPr>
            </a:pPr>
            <a:r>
              <a:rPr lang="fr-FR" noProof="0" dirty="0"/>
              <a:t>taux d'emploi à 6 mois = diplômés de la promo en poste actif à la date de référence / diplômés de la promo (cohorte mature).</a:t>
            </a:r>
          </a:p>
        </p:txBody>
      </p:sp>
      <p:pic>
        <p:nvPicPr>
          <p:cNvPr id="10" name="Picture 9" descr="anB_dashboard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37360"/>
            <a:ext cx="5120640" cy="3200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4922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rPr lang="fr-FR" noProof="0" dirty="0"/>
              <a:t>Alumni CRM — Stage </a:t>
            </a:r>
            <a:r>
              <a:rPr lang="fr-FR" noProof="0" dirty="0" err="1"/>
              <a:t>PreMSc</a:t>
            </a:r>
            <a:r>
              <a:rPr lang="fr-FR" noProof="0" dirty="0"/>
              <a:t> 2026 — IONIS-STM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TextBox 2"/>
          <p:cNvSpPr txBox="1"/>
          <p:nvPr/>
        </p:nvSpPr>
        <p:spPr>
          <a:xfrm>
            <a:off x="594360" y="384048"/>
            <a:ext cx="11064240" cy="6400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3000" b="1">
                <a:solidFill>
                  <a:srgbClr val="251E7A"/>
                </a:solidFill>
                <a:latin typeface="Calibri"/>
              </a:defRPr>
            </a:pPr>
            <a:r>
              <a:rPr lang="fr-FR" noProof="0" dirty="0"/>
              <a:t>Bilan et perspectives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640080" cy="640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607040" cy="2926080"/>
          </a:xfrm>
          <a:prstGeom prst="rect">
            <a:avLst/>
          </a:prstGeom>
          <a:noFill/>
        </p:spPr>
        <p:txBody>
          <a:bodyPr wrap="square" lIns="45720" tIns="27432">
            <a:spAutoFit/>
          </a:bodyPr>
          <a:lstStyle/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lang="fr-FR" sz="1500" b="1" noProof="0" dirty="0">
                <a:solidFill>
                  <a:srgbClr val="10B981"/>
                </a:solidFill>
                <a:latin typeface="Calibri"/>
              </a:rPr>
              <a:t>▸  </a:t>
            </a:r>
            <a:r>
              <a:rPr lang="fr-FR" sz="1500" noProof="0" dirty="0">
                <a:solidFill>
                  <a:srgbClr val="0F172A"/>
                </a:solidFill>
                <a:latin typeface="Calibri"/>
              </a:rPr>
              <a:t>Prototype complet et opérationnel, documenté « comme du code » (rapports, cartographies, guide des processus, support de soutenance).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lang="fr-FR" sz="1500" b="1" noProof="0" dirty="0">
                <a:solidFill>
                  <a:srgbClr val="10B981"/>
                </a:solidFill>
                <a:latin typeface="Calibri"/>
              </a:rPr>
              <a:t>▸  </a:t>
            </a:r>
            <a:r>
              <a:rPr lang="fr-FR" sz="1500" noProof="0" dirty="0">
                <a:solidFill>
                  <a:srgbClr val="0F172A"/>
                </a:solidFill>
                <a:latin typeface="Calibri"/>
              </a:rPr>
              <a:t>Compétences : full-stack, sécurité applicative, migrations versionnées, RGPD.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lang="fr-FR" sz="1500" b="1" noProof="0" dirty="0">
                <a:solidFill>
                  <a:srgbClr val="10B981"/>
                </a:solidFill>
                <a:latin typeface="Calibri"/>
              </a:rPr>
              <a:t>▸  </a:t>
            </a:r>
            <a:r>
              <a:rPr lang="fr-FR" sz="1500" noProof="0" dirty="0">
                <a:solidFill>
                  <a:srgbClr val="0F172A"/>
                </a:solidFill>
                <a:latin typeface="Calibri"/>
              </a:rPr>
              <a:t>Perspectives : suite de tests automatisés, automatisation du questionnaire, frontend newsletter, mentorat, application mobile / PWA.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596128"/>
            <a:ext cx="10927080" cy="749808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7" name="Rectangle 6"/>
          <p:cNvSpPr/>
          <p:nvPr/>
        </p:nvSpPr>
        <p:spPr>
          <a:xfrm>
            <a:off x="640080" y="5596128"/>
            <a:ext cx="82296" cy="74980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868680" y="5641848"/>
            <a:ext cx="1051560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300" b="1">
                <a:solidFill>
                  <a:srgbClr val="10B981"/>
                </a:solidFill>
                <a:latin typeface="Calibri"/>
              </a:defRPr>
            </a:pPr>
            <a:r>
              <a:rPr lang="fr-FR" noProof="0" dirty="0"/>
              <a:t>EXEMPLE — Suite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907024"/>
            <a:ext cx="10515600" cy="402336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spcAft>
                <a:spcPts val="200"/>
              </a:spcAft>
              <a:defRPr sz="1400" b="0">
                <a:solidFill>
                  <a:srgbClr val="0F172A"/>
                </a:solidFill>
                <a:latin typeface="Calibri"/>
              </a:defRPr>
            </a:pPr>
            <a:r>
              <a:rPr lang="fr-FR" noProof="0" dirty="0"/>
              <a:t>le dépôt Git versionne les migrations et les scripts de génération : le projet reste rejouable et transmissible à la reprise.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Calibri"/>
              </a:defRPr>
            </a:pPr>
            <a:r>
              <a:rPr lang="fr-FR" noProof="0" dirty="0"/>
              <a:t>Alumni CRM — Stage </a:t>
            </a:r>
            <a:r>
              <a:rPr lang="fr-FR" noProof="0" dirty="0" err="1"/>
              <a:t>PreMSc</a:t>
            </a:r>
            <a:r>
              <a:rPr lang="fr-FR" noProof="0" dirty="0"/>
              <a:t> 2026 — IONIS-STM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996696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>
              <a:spcAft>
                <a:spcPts val="200"/>
              </a:spcAft>
              <a:defRPr sz="4000" b="1">
                <a:solidFill>
                  <a:srgbClr val="4338CA"/>
                </a:solidFill>
                <a:latin typeface="Calibri"/>
              </a:defRPr>
            </a:pPr>
            <a:r>
              <a:rPr lang="fr-FR" noProof="0" dirty="0"/>
              <a:t>Merci pour votre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834640"/>
            <a:ext cx="9966960" cy="4572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>
              <a:spcAft>
                <a:spcPts val="200"/>
              </a:spcAft>
              <a:defRPr sz="2200" b="0">
                <a:solidFill>
                  <a:srgbClr val="64748B"/>
                </a:solidFill>
                <a:latin typeface="Calibri"/>
              </a:defRPr>
            </a:pPr>
            <a:r>
              <a:rPr lang="fr-FR" noProof="0" dirty="0"/>
              <a:t>Questions / échanges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754880"/>
            <a:ext cx="9966960" cy="8229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>
              <a:spcAft>
                <a:spcPts val="200"/>
              </a:spcAft>
              <a:defRPr sz="1600" b="0">
                <a:solidFill>
                  <a:srgbClr val="0F172A"/>
                </a:solidFill>
                <a:latin typeface="Calibri"/>
              </a:defRPr>
            </a:pPr>
            <a:r>
              <a:rPr lang="fr-FR" noProof="0" dirty="0"/>
              <a:t>Rafik DJEMADI</a:t>
            </a:r>
          </a:p>
          <a:p>
            <a:pPr algn="ctr">
              <a:spcAft>
                <a:spcPts val="200"/>
              </a:spcAft>
              <a:defRPr sz="1600" b="0">
                <a:solidFill>
                  <a:srgbClr val="0F172A"/>
                </a:solidFill>
                <a:latin typeface="Calibri"/>
              </a:defRPr>
            </a:pPr>
            <a:r>
              <a:rPr lang="fr-FR" noProof="0" dirty="0"/>
              <a:t>Alumni CRM — Stage </a:t>
            </a:r>
            <a:r>
              <a:rPr lang="fr-FR" noProof="0" dirty="0" err="1"/>
              <a:t>PreMSc</a:t>
            </a:r>
            <a:r>
              <a:rPr lang="fr-FR" noProof="0" dirty="0"/>
              <a:t> 2026 — IONIS-STM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1049</Words>
  <Application>Microsoft Office PowerPoint</Application>
  <PresentationFormat>Widescreen</PresentationFormat>
  <Paragraphs>127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Rafik djemadi</cp:lastModifiedBy>
  <cp:revision>1</cp:revision>
  <dcterms:created xsi:type="dcterms:W3CDTF">2013-01-27T09:14:16Z</dcterms:created>
  <dcterms:modified xsi:type="dcterms:W3CDTF">2026-09-05T22:07:33Z</dcterms:modified>
  <cp:category/>
</cp:coreProperties>
</file>