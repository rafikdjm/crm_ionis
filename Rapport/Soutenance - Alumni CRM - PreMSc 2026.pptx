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19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50876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Contexte, objectifs et problématique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12848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350008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choix technologiques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4096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191256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Développement technique (architecture, données, sécurité)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032504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espaces Admin et Alumni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36592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73752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 et conformité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7784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71500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Difficultés, bilan et 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 et enjeux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42062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IONIS Education Group : premier groupe d'enseignement supérieur privé en France, multi-écoles (EPITECH, ESGI, IIM, ESM, ISA…).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Le suivi de l'insertion des diplômés est un enjeu stratégique : pilotage de la formation, animation du réseau, obligations réglementaires.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Sans système centralisé, les données d'insertion périment vite et la collecte est manuelle.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Un chantier prioritaire : disposer d'un dispositif de suivi alumni scalable et conforme au RGPD.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120640"/>
            <a:ext cx="10607040" cy="100584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2578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E40AF"/>
                </a:solidFill>
              </a:defRPr>
            </a:pPr>
            <a:r>
              <a:t>Problématique : comment structurer la donnée alumni, piloter l'insertion par des indicateurs fiables, et animer le réseau dans le respect du RGPD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Objectifs du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46304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Créer un CRM alumni complet (espace admin + espace alumni)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76272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313432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Modéliser et implémenter une base relationnelle SQL (14 tables)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26664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163824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Développer un tableau de bord admin avec indicateurs d'insertion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77056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014216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Implémenter la conformité RGPD (consentement, export, suppression, audit)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27448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64608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Automatiser l'import/export des données (Excel / CSV)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7784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71500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Documenter les processus managériaux (gouvernance, newsletter, questionnaire)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déroulement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2743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d'analyse : cahier des charges, étude des solutions existantes, choix de la stack.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de conception : MCD/MLD, règle d'intégrité, schéma d'API.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de développement : backend FastAPI, frontend React, conformité RGPD.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de consolidation : revue de conformité, documentation des livrables, préparation du guide des processus.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60704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Démarche itérative en solo : audit de cohérence par introspection SQL, rejeu des migrations, tests manuels des parcours.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Documentation « comme du code » : tous les livrables générés par script (PDF, DOCX, PPTX).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Choix technologiques et arbitrages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7498079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FastAPI (Python) + Pydantic : validation, docs Swagger automatiques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828800"/>
            <a:ext cx="23774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82 endpoints 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08960"/>
            <a:ext cx="7498079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React + Vite : SPA fluide, composants partagés, garde de routes par rôle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063240"/>
            <a:ext cx="23774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14 pages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4048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93192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Base de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7498079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PostgreSQL + driver pg8000 : relationnel, JSONB, intégrité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297680"/>
            <a:ext cx="23774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14 tables, 16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7492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166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Sécurité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77840"/>
            <a:ext cx="7498079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OTP email, JWT, clé API admin, garde anti-IDOR, sanitisation des erreurs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532120"/>
            <a:ext cx="23774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Conforme RGPD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(MCD/MLD)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4754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5 domaines, 14 tables.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Données étudiantes : ETUDIANT, PROMOTION (N:1).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Parcours pro : ENTREPRISE, EXPERIENCE_PRO, CERTIFICATION, OBTIENT (N:M).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RGPD : CONSENTEMENT_RGPD, DEMANDE_RGPD, AUDIT_LOG.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Questionnaires : QUESTIONNAIRE, QUESTION, REPONSE_QUESTIONNAIRE (JSON).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Infrastructure : otp_codes, schema_migrations.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Règles de cascade et contraintes d'unicité garantissant la cohérence.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E40AF"/>
                </a:solidFill>
              </a:defRPr>
            </a:pPr>
            <a:r>
              <a:t>Cartographie simplifiée des entités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828800"/>
            <a:ext cx="2377440" cy="448056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377440" cy="448056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2011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11827"/>
                </a:solidFill>
              </a:defRPr>
            </a:pPr>
            <a:r>
              <a:t>Toutes les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920240"/>
            <a:ext cx="20116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11827"/>
                </a:solidFill>
              </a:defRPr>
            </a:pPr>
            <a:r>
              <a:t>RGPD &amp; pilotage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291840" cy="402336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React + Vite (SPA)</a:t>
            </a:r>
            <a:br/>
            <a:r>
              <a:t>Espace Admin / Espace Alumni</a:t>
            </a:r>
            <a:br/>
            <a:r>
              <a:t>proxy /api → port 8000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3383280"/>
            <a:ext cx="256032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291840" cy="40233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FastAPI — 82 endpoints, 16 routeurs</a:t>
            </a:r>
            <a:br/>
            <a:r>
              <a:t>auth OTP + JWT, clé API, RGPD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680960" y="3383280"/>
            <a:ext cx="256032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291840" cy="402336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BASE DE DONNÉES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tables, 16 migrations, JSONB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E40AF"/>
                </a:solidFill>
              </a:defRPr>
            </a:pPr>
            <a:r>
              <a:t>Côté applicatif : authentification OTP (alumni) / clé API + hash (admin) ; sessions JWT.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607040" cy="662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607040" cy="662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Consentement explicite : 4 types (contact, partenaires, enquêtes, newsletter), horodaté et réellement consommé.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Droits des personnes : export en auto-service (JSON/Excel/CSV), demande de suppression avec workflow verrouillé.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Anonymisation vs suppression ; traçabilité via journal d'audit ; purge différée des comptes anonymisés.</a:t>
            </a:r>
          </a:p>
        </p:txBody>
      </p:sp>
      <p:pic>
        <p:nvPicPr>
          <p:cNvPr id="5" name="Picture 4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5303520" cy="3314700"/>
          </a:xfrm>
          <a:prstGeom prst="rect">
            <a:avLst/>
          </a:prstGeom>
        </p:spPr>
      </p:pic>
      <p:pic>
        <p:nvPicPr>
          <p:cNvPr id="6" name="Picture 5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926080"/>
            <a:ext cx="5303520" cy="3314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4937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8 indicateurs reproductibles, avec formule et source de données explicites.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Taux d'emploi à 6 mois : expériences actives à la date de référence.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Adéquation formation/emploi via les tags KPI du questionnaire.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Salaire moyen / min / max sur le champ salaire annuel.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Répartition par promotion et par secteur, taux de complétion.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Refus d'afficher un chiffre trompeur (cohortes immatures → non disponible).</a:t>
            </a:r>
          </a:p>
        </p:txBody>
      </p:sp>
      <p:pic>
        <p:nvPicPr>
          <p:cNvPr id="5" name="Picture 4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Difficultés rencontrées et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Auth croisée admin/alumni (403) → clés distinctes, vérification du rôle, purge des sessions orphelines.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Dérive modèle/base → migrations correctives + rejeu complet sur base vide.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Indicateur d'insertion trompeur → filtrage des expériences actives, exclusion des cohortes immatures.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Incident OneDrive → dépôt Git + .gitignore consolidé (versionner avant la première ligne de code).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Failles sécurité (IDOR, upload, secrets) → correctifs documentés, sanitisation des erreurs.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Limites exposées de façon transparente (tests, newsletter, mise à jour d'expérience).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3108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Prototype complet et opérationnel : 82 endpoints, 14 pages, 14 tables, conformité RGPD.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Compétences : full-stack, sécurité applicative, migrations versionnées, RGPD, méthodologie.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Documentation « comme du code » : rapports, cartographies, guide des processus, ce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11827"/>
                </a:solidFill>
              </a:defRPr>
            </a:pPr>
            <a:r>
              <a:t>• Court terme : suite de tests automatisés, automatisation du questionnaire, frontend newsletter.</a:t>
            </a:r>
          </a:p>
          <a:p>
            <a:pPr>
              <a:spcAft>
                <a:spcPts val="400"/>
              </a:spcAft>
              <a:defRPr sz="1700">
                <a:solidFill>
                  <a:srgbClr val="111827"/>
                </a:solidFill>
              </a:defRPr>
            </a:pPr>
            <a:r>
              <a:t>• Moyen terme : module de mentorat, chiffrement applicatif, route de mise à jour d'une expérience.</a:t>
            </a:r>
          </a:p>
          <a:p>
            <a:pPr>
              <a:spcAft>
                <a:spcPts val="400"/>
              </a:spcAft>
              <a:defRPr sz="1700">
                <a:solidFill>
                  <a:srgbClr val="111827"/>
                </a:solidFill>
              </a:defRPr>
            </a:pPr>
            <a:r>
              <a:t>• Long terme : application mobile, PWA, notification de violation (art. 33 RGPD).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