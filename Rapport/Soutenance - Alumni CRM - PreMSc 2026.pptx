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77240"/>
            <a:ext cx="99669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200"/>
              </a:spcAft>
              <a:defRPr sz="3300" b="1">
                <a:solidFill>
                  <a:srgbClr val="4338CA"/>
                </a:solidFill>
                <a:latin typeface="Calibri"/>
              </a:defRPr>
            </a:pPr>
            <a:r>
              <a:t>CONCEPTION ET DÉVELOPPEMENT D'UN ALUMNI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200"/>
              </a:spcAft>
              <a:defRPr sz="1800" b="0">
                <a:solidFill>
                  <a:srgbClr val="64748B"/>
                </a:solidFill>
                <a:latin typeface="Calibri"/>
              </a:defRPr>
            </a:pPr>
            <a:r>
              <a:t>Système de suivi du parcours étudiant et de valorisation du réseau des anciens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96696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Rafik DJEMADI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54680"/>
            <a:ext cx="99669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200"/>
              </a:spcAft>
              <a:defRPr sz="1700" b="0">
                <a:solidFill>
                  <a:srgbClr val="64748B"/>
                </a:solidFill>
                <a:latin typeface="Calibri"/>
              </a:defRPr>
            </a:pPr>
            <a:r>
              <a:t>Stage de substitution — Programme Pré-MSc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03320"/>
            <a:ext cx="99669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200"/>
              </a:spcAft>
              <a:defRPr sz="1700" b="0">
                <a:solidFill>
                  <a:srgbClr val="4338CA"/>
                </a:solidFill>
                <a:latin typeface="Calibri"/>
              </a:defRPr>
            </a:pPr>
            <a:r>
              <a:t>IONIS-STM — Ionis Education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15000"/>
            <a:ext cx="99669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64748B"/>
                </a:solidFill>
                <a:latin typeface="Calibri"/>
              </a:defRPr>
            </a:pPr>
            <a:r>
              <a:t>Soutenance — 18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642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251E7A"/>
                </a:solidFill>
                <a:latin typeface="Calibri"/>
              </a:defRPr>
            </a:pPr>
            <a: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777240" cy="566928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1453896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1389888"/>
            <a:ext cx="9418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900" b="0">
                <a:solidFill>
                  <a:srgbClr val="0F172A"/>
                </a:solidFill>
                <a:latin typeface="Calibri"/>
              </a:defRPr>
            </a:pPr>
            <a:r>
              <a:t>Contexte et objectifs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39112"/>
            <a:ext cx="777240" cy="566928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167128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2103120"/>
            <a:ext cx="9418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900" b="0">
                <a:solidFill>
                  <a:srgbClr val="0F172A"/>
                </a:solidFill>
                <a:latin typeface="Calibri"/>
              </a:defRPr>
            </a:pPr>
            <a:r>
              <a:t>Méthodologie et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52344"/>
            <a:ext cx="777240" cy="566928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2880360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816352"/>
            <a:ext cx="9418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900" b="0">
                <a:solidFill>
                  <a:srgbClr val="0F172A"/>
                </a:solidFill>
                <a:latin typeface="Calibri"/>
              </a:defRPr>
            </a:pPr>
            <a:r>
              <a:t>Modèle de données (MCD)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65576"/>
            <a:ext cx="777240" cy="566928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3593592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3529584"/>
            <a:ext cx="9418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900" b="0">
                <a:solidFill>
                  <a:srgbClr val="0F172A"/>
                </a:solidFill>
                <a:latin typeface="Calibri"/>
              </a:defRPr>
            </a:pPr>
            <a:r>
              <a:t>Conformité RGPD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78808"/>
            <a:ext cx="777240" cy="566928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4306824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4242816"/>
            <a:ext cx="9418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900" b="0">
                <a:solidFill>
                  <a:srgbClr val="0F172A"/>
                </a:solidFill>
                <a:latin typeface="Calibri"/>
              </a:defRPr>
            </a:pPr>
            <a:r>
              <a:t>Démonstration — Admin et Alumni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92040"/>
            <a:ext cx="777240" cy="566928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83080" y="5020056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4956048"/>
            <a:ext cx="9418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900" b="0">
                <a:solidFill>
                  <a:srgbClr val="0F172A"/>
                </a:solidFill>
                <a:latin typeface="Calibri"/>
              </a:defRPr>
            </a:pPr>
            <a:r>
              <a:t>Indicateurs d'insertion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605272"/>
            <a:ext cx="777240" cy="566928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5733288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0" y="5669280"/>
            <a:ext cx="9418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900" b="0">
                <a:solidFill>
                  <a:srgbClr val="0F172A"/>
                </a:solidFill>
                <a:latin typeface="Calibri"/>
              </a:defRPr>
            </a:pPr>
            <a:r>
              <a:t>Bilan et perspectives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Alumni CRM — Stage PreMSc 2026 — IONIS-STM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642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251E7A"/>
                </a:solidFill>
                <a:latin typeface="Calibri"/>
              </a:defRPr>
            </a:pPr>
            <a:r>
              <a:t>Contexte et enjeux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6583680" cy="2834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>
                <a:latin typeface="Calibri"/>
              </a:defRPr>
            </a:pPr>
            <a:r>
              <a:rPr sz="1400" b="1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0F172A"/>
                </a:solidFill>
                <a:latin typeface="Calibri"/>
              </a:rPr>
              <a:t>IONIS-STM : formations Pré-MSc / MSc1 / MSc2 (développement, cyber, data, management, marketing digital).</a:t>
            </a:r>
          </a:p>
          <a:p>
            <a:pPr>
              <a:spcAft>
                <a:spcPts val="700"/>
              </a:spcAft>
              <a:defRPr>
                <a:latin typeface="Calibri"/>
              </a:defRPr>
            </a:pPr>
            <a:r>
              <a:rPr sz="1400" b="1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0F172A"/>
                </a:solidFill>
                <a:latin typeface="Calibri"/>
              </a:rPr>
              <a:t>Enjeu stratégique : des centaines de diplômés par an — mesurer l'insertion, alimenter les accréditations (CTI/HCERES), animer le réseau.</a:t>
            </a:r>
          </a:p>
          <a:p>
            <a:pPr>
              <a:spcAft>
                <a:spcPts val="700"/>
              </a:spcAft>
              <a:defRPr>
                <a:latin typeface="Calibri"/>
              </a:defRPr>
            </a:pPr>
            <a:r>
              <a:rPr sz="1400" b="1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0F172A"/>
                </a:solidFill>
                <a:latin typeface="Calibri"/>
              </a:rPr>
              <a:t>Constat : données éparpillées (Excel, mails), indicateurs calculés à la main, aucun processus RGPD formalisé, annuaire inactif.</a:t>
            </a:r>
          </a:p>
          <a:p>
            <a:pPr>
              <a:spcAft>
                <a:spcPts val="700"/>
              </a:spcAft>
              <a:defRPr>
                <a:latin typeface="Calibri"/>
              </a:defRPr>
            </a:pPr>
            <a:r>
              <a:rPr sz="1400" b="1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0F172A"/>
                </a:solidFill>
                <a:latin typeface="Calibri"/>
              </a:rPr>
              <a:t>Bénéfice visé : une base unique et fiable, des KPI reproductibles, un self-service pour les alumni.</a:t>
            </a:r>
          </a:p>
        </p:txBody>
      </p:sp>
      <p:pic>
        <p:nvPicPr>
          <p:cNvPr id="6" name="Picture 5" descr="anB_dashboard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17320"/>
            <a:ext cx="3840480" cy="24003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3890772"/>
            <a:ext cx="3840480" cy="566928"/>
          </a:xfrm>
          <a:prstGeom prst="roundRect">
            <a:avLst>
              <a:gd name="adj" fmla="val 14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0416" y="3936492"/>
            <a:ext cx="3584448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FFFFFF"/>
                </a:solidFill>
                <a:latin typeface="Calibri"/>
              </a:defRPr>
            </a:pPr>
            <a:r>
              <a:t>L'outil livré — Tableau de bord admin : KPI d'insertion, annuaire filtrable et indicateurs.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0520"/>
            <a:ext cx="6583680" cy="1143000"/>
          </a:xfrm>
          <a:prstGeom prst="roundRect">
            <a:avLst>
              <a:gd name="adj" fmla="val 1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60350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Problématique : comment structurer la donnée alumni, produire des indicateurs d'insertion fiables et animer le réseau dans le respect du RGPD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596128"/>
            <a:ext cx="10927080" cy="749808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596128"/>
            <a:ext cx="82296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641848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EXEMPLE — Contexte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07024"/>
            <a:ext cx="10515600" cy="4023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0F172A"/>
                </a:solidFill>
                <a:latin typeface="Calibri"/>
              </a:defRPr>
            </a:pPr>
            <a:r>
              <a:t>retrouver les anciens d'une promotion repose aujourd'hui sur des fichiers épars et des relances manuelles — la base centrale remplace ce bricolage.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Alumni CRM — Stage PreMSc 2026 — IONIS-STM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642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251E7A"/>
                </a:solidFill>
                <a:latin typeface="Calibri"/>
              </a:defRPr>
            </a:pPr>
            <a:r>
              <a:t>Objectifs du stage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777240" cy="50292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52728"/>
            <a:ext cx="5669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Un CRM complet : espace admin (pilotage) + espace alumni (self-service)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11096"/>
            <a:ext cx="777240" cy="50292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9384"/>
            <a:ext cx="5669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Une base SQL modélisée : MCD/MLD, 14 tables, 16 migrations versionnées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87752"/>
            <a:ext cx="777240" cy="50292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06040"/>
            <a:ext cx="5669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Un tableau de bord avec 8 indicateurs d'insertion reproductibles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64408"/>
            <a:ext cx="777240" cy="50292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82696"/>
            <a:ext cx="5669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Une conformité RGPD réelle : consentements, export, suppression, 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41064"/>
            <a:ext cx="777240" cy="50292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59352"/>
            <a:ext cx="5669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L'import/export automatisé par fichier (Excel / CSV / JSON)</a:t>
            </a:r>
          </a:p>
        </p:txBody>
      </p:sp>
      <p:pic>
        <p:nvPicPr>
          <p:cNvPr id="15" name="Picture 14" descr="anC_profil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63040"/>
            <a:ext cx="3840480" cy="24003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772400" y="3936492"/>
            <a:ext cx="3840480" cy="566928"/>
          </a:xfrm>
          <a:prstGeom prst="roundRect">
            <a:avLst>
              <a:gd name="adj" fmla="val 1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3982212"/>
            <a:ext cx="3584448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FFFFFF"/>
                </a:solidFill>
                <a:latin typeface="Calibri"/>
              </a:defRPr>
            </a:pPr>
            <a:r>
              <a:t>Objectif O1 — Espace alumni : profil, parcours et consentements en auto-service.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Livrables : application opérationnelle, code versionné, rapport d'activité, cartographies MCD/MLD, guide des processus et ce support.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596128"/>
            <a:ext cx="10927080" cy="749808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596128"/>
            <a:ext cx="82296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641848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EXEMPLE — Objectif O3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07024"/>
            <a:ext cx="10515600" cy="4023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0F172A"/>
                </a:solidFill>
                <a:latin typeface="Calibri"/>
              </a:defRPr>
            </a:pPr>
            <a:r>
              <a:t>un directeur voit en une page le taux d'emploi, le salaire moyen et la répartition par secteur de la promotion 2026.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Alumni CRM — Stage PreMSc 2026 — IONIS-STM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642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251E7A"/>
                </a:solidFill>
                <a:latin typeface="Calibri"/>
              </a:defRPr>
            </a:pPr>
            <a:r>
              <a:t>Méthodologie et déroulement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749039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338327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4338CA"/>
                </a:solidFill>
                <a:latin typeface="Calibri"/>
              </a:defRPr>
            </a:pPr>
            <a:r>
              <a:t>Analyse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3383279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Cahier des charges : rôles admin/alumni, recensement des besoins, comparaison des solutions, choix de la stack.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463040"/>
            <a:ext cx="3749039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572768"/>
            <a:ext cx="338327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920240"/>
            <a:ext cx="3383279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MCD/MLD (Looping) : 14 entités, règles d'intégrité, clés étrangères, schéma d'API (83 routes).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91840"/>
            <a:ext cx="3749039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01568"/>
            <a:ext cx="338327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251E7A"/>
                </a:solidFill>
                <a:latin typeface="Calibri"/>
              </a:defRPr>
            </a:pPr>
            <a:r>
              <a:t>Développement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40"/>
            <a:ext cx="3383279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Backend FastAPI puis frontend React ; validation sur les parcours réels : OTP, import Excel, demande RGPD.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291840"/>
            <a:ext cx="3749039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3401568"/>
            <a:ext cx="338327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Consolidation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749040"/>
            <a:ext cx="3383279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Revue et tests, documentation « comme du code » (rapports générés), guide des processus, support de soutenance.</a:t>
            </a:r>
          </a:p>
        </p:txBody>
      </p:sp>
      <p:pic>
        <p:nvPicPr>
          <p:cNvPr id="17" name="Picture 16" descr="swagger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554480"/>
            <a:ext cx="3017520" cy="18859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778240" y="3513582"/>
            <a:ext cx="3017520" cy="566928"/>
          </a:xfrm>
          <a:prstGeom prst="roundRect">
            <a:avLst>
              <a:gd name="adj" fmla="val 14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06256" y="3559302"/>
            <a:ext cx="2761488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FFFFFF"/>
                </a:solidFill>
                <a:latin typeface="Calibri"/>
              </a:defRPr>
            </a:pPr>
            <a:r>
              <a:t>Étape Développement — Swagger : 83 endpoints auto-documentés et testables.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96128"/>
            <a:ext cx="10927080" cy="749808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596128"/>
            <a:ext cx="82296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641848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EXEMPLE — Démarche itérative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07024"/>
            <a:ext cx="10515600" cy="4023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0F172A"/>
                </a:solidFill>
                <a:latin typeface="Calibri"/>
              </a:defRPr>
            </a:pPr>
            <a:r>
              <a:t>chaque brique est livrée puis testée sur les parcours réels (connexion OTP, import Excel, demande RGPD) avant d'enchaîner la suivante.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Alumni CRM — Stage PreMSc 2026 — IONIS-STM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642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251E7A"/>
                </a:solidFill>
                <a:latin typeface="Calibri"/>
              </a:defRPr>
            </a:pPr>
            <a:r>
              <a:t>Architecture 3-tiers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5486400" cy="2834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Frontend React + Vite (SPA) : espace Admin et Alumni, proxy /api → 8000, 14 routes.</a:t>
            </a:r>
          </a:p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Backend FastAPI : 83 endpoints, 16 routeurs, validations Pydantic, Swagger auto-documenté.</a:t>
            </a:r>
          </a:p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PostgreSQL : 14 tables, 16 migrations versionnées, JSONB (audit, adéquation).</a:t>
            </a:r>
          </a:p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Sécurité : OTP email 6 chiffres, JWT, clé API admin, anti-IDOR, exports protégés ?token=.</a:t>
            </a:r>
          </a:p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Le dépôt Git versionne code, migrations et scripts de génération.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92040"/>
            <a:ext cx="10927080" cy="749808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82296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93776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EXEMPLE — Flux d'une requête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202936"/>
            <a:ext cx="10515600" cy="4023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0F172A"/>
                </a:solidFill>
                <a:latin typeface="Calibri"/>
              </a:defRPr>
            </a:pPr>
            <a:r>
              <a:t>un alumni saisit son code OTP à 6 chiffres → FastAPI le valide → un JWT est émis pour accéder à son profil.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417320"/>
            <a:ext cx="1691640" cy="3017520"/>
          </a:xfrm>
          <a:prstGeom prst="roundRect">
            <a:avLst>
              <a:gd name="adj" fmla="val 1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React + Vite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SPA interactive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proxy /api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275320" y="2560320"/>
            <a:ext cx="201168" cy="4114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22208" y="1417320"/>
            <a:ext cx="1691640" cy="301752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83 endpoints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validations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213848" y="2560320"/>
            <a:ext cx="201168" cy="4114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60736" y="1417320"/>
            <a:ext cx="1691640" cy="3017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BASE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14 tables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JSONB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Alumni CRM — Stage PreMSc 2026 — IONIS-STM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642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251E7A"/>
                </a:solidFill>
                <a:latin typeface="Calibri"/>
              </a:defRPr>
            </a:pPr>
            <a:r>
              <a:t>Modèle de données (MCD)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400" b="1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0F172A"/>
                </a:solidFill>
                <a:latin typeface="Calibri"/>
              </a:rPr>
              <a:t>5 domaines, 14 tables : étudiants, parcours pro, RGPD, questionnaires, INFRA.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400" b="1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0F172A"/>
                </a:solidFill>
                <a:latin typeface="Calibri"/>
              </a:rPr>
              <a:t>Relations clés : ETUDIANT → PROMOTION (N:1) ; EXPERIENCE_PRO (postes &amp; salaires) ; OBTIENT (certifications N:M).</a:t>
            </a:r>
          </a:p>
        </p:txBody>
      </p:sp>
      <p:pic>
        <p:nvPicPr>
          <p:cNvPr id="6" name="Picture 5" descr="M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73" y="2057400"/>
            <a:ext cx="6401348" cy="3246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596128"/>
            <a:ext cx="10927080" cy="749808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596128"/>
            <a:ext cx="82296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641848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EXEMPLE — Lecture du modèle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07024"/>
            <a:ext cx="10515600" cy="4023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0F172A"/>
                </a:solidFill>
                <a:latin typeface="Calibri"/>
              </a:defRPr>
            </a:pPr>
            <a:r>
              <a:t>un étudiant appartient à UNE promotion (N:1) mais peut obtenir plusieurs certifications (relation N:M OBTIENT) — la cardinalité guide les clés étrangères.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Alumni CRM — Stage PreMSc 2026 — IONIS-STM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642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251E7A"/>
                </a:solidFill>
                <a:latin typeface="Calibri"/>
              </a:defRPr>
            </a:pPr>
            <a:r>
              <a:t>Conformité RGPD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607040" cy="1417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Consentement explicite — 4 types (données, contact, sondage, communication) — horodaté, révocable, réellement consommé.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Droits : export en auto-service (JSON/Excel/CSV), suppression avec workflow verrouillé (anti-double traitement) puis anonymisation différée.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Traçabilité : journaux d'audit horodatés, purge des comptes anonymisés, conformité aux exigences RGPD.</a:t>
            </a:r>
          </a:p>
        </p:txBody>
      </p:sp>
      <p:pic>
        <p:nvPicPr>
          <p:cNvPr id="6" name="Picture 5" descr="anC_consentement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5029200" cy="3143250"/>
          </a:xfrm>
          <a:prstGeom prst="rect">
            <a:avLst/>
          </a:prstGeom>
        </p:spPr>
      </p:pic>
      <p:pic>
        <p:nvPicPr>
          <p:cNvPr id="7" name="Picture 6" descr="anB_demandes_rgpd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743200"/>
            <a:ext cx="5029200" cy="3143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074920"/>
            <a:ext cx="10607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150" b="0">
                <a:solidFill>
                  <a:srgbClr val="64748B"/>
                </a:solidFill>
                <a:latin typeface="Calibri"/>
              </a:defRPr>
            </a:pPr>
            <a:r>
              <a:t>À gauche : consentements en auto-service (alumni) — à droite : traitement des demandes RGPD (admin).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96128"/>
            <a:ext cx="10927080" cy="749808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596128"/>
            <a:ext cx="82296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641848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EXEMPLE — Parcours de suppression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907024"/>
            <a:ext cx="10515600" cy="4023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0F172A"/>
                </a:solidFill>
                <a:latin typeface="Calibri"/>
              </a:defRPr>
            </a:pPr>
            <a:r>
              <a:t>l'alumni demande la suppression → l'admin verrouille la demande (anti-double traitement) → décision traitee → compte anonymisé et tracé dans AUDIT_LOG.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Alumni CRM — Stage PreMSc 2026 — IONIS-STM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642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251E7A"/>
                </a:solidFill>
                <a:latin typeface="Calibri"/>
              </a:defRPr>
            </a:pPr>
            <a:r>
              <a:t>Démonstration — Espace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Tableau de bord, annuaire, RGPD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B_dashboard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729984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600200"/>
            <a:ext cx="406908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709928"/>
            <a:ext cx="3703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4338CA"/>
                </a:solidFill>
                <a:latin typeface="Calibri"/>
              </a:defRPr>
            </a:pPr>
            <a:r>
              <a:t>Ce que vous verrez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057400"/>
            <a:ext cx="370332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▸ KPI en haut : taux d'emploi, salaire moyen, anciens contactés.</a:t>
            </a:r>
          </a:p>
          <a:p>
            <a:pPr algn="l">
              <a:spcAft>
                <a:spcPts val="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▸ Graphiques par secteur et par type de contrat.</a:t>
            </a:r>
          </a:p>
          <a:p>
            <a:pPr algn="l">
              <a:spcAft>
                <a:spcPts val="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▸ Annuaire filtrable : promotion, secteur, consentement.</a:t>
            </a:r>
          </a:p>
          <a:p>
            <a:pPr algn="l">
              <a:spcAft>
                <a:spcPts val="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▸ Demandes RGPD : prendre en charge, traiter, exporter.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Alumni CRM — Stage PreMSc 2026 — IONIS-STM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642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251E7A"/>
                </a:solidFill>
                <a:latin typeface="Calibri"/>
              </a:defRPr>
            </a:pPr>
            <a:r>
              <a:t>Démonstration — Espace Alumni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Profil, parcours, consentement, questionnaire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C_parcours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729984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600200"/>
            <a:ext cx="406908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709928"/>
            <a:ext cx="3703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Ce que vous verrez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057400"/>
            <a:ext cx="370332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▸ Inscription avec OTP par e-mail (code à 6 chiffres).</a:t>
            </a:r>
          </a:p>
          <a:p>
            <a:pPr algn="l">
              <a:spcAft>
                <a:spcPts val="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▸ Mon parcours : expériences, certifications, salaire.</a:t>
            </a:r>
          </a:p>
          <a:p>
            <a:pPr algn="l">
              <a:spcAft>
                <a:spcPts val="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▸ Consentements RGPD en auto-service.</a:t>
            </a:r>
          </a:p>
          <a:p>
            <a:pPr algn="l">
              <a:spcAft>
                <a:spcPts val="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▸ Questionnaire annuel pré-rempli.</a:t>
            </a:r>
          </a:p>
          <a:p>
            <a:pPr algn="l">
              <a:spcAft>
                <a:spcPts val="200"/>
              </a:spcAft>
              <a:defRPr sz="1250" b="0">
                <a:solidFill>
                  <a:srgbClr val="64748B"/>
                </a:solidFill>
                <a:latin typeface="Calibri"/>
              </a:defRPr>
            </a:pPr>
            <a:r>
              <a:t>▸ Export de ses propres données.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Alumni CRM — Stage PreMSc 2026 — IONIS-STM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642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251E7A"/>
                </a:solidFill>
                <a:latin typeface="Calibri"/>
              </a:defRPr>
            </a:pPr>
            <a:r>
              <a:t>Indicateurs d'insertion professionnelle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5394960" cy="31089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8 indicateurs reproductibles : formule, source et champ explicites.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Taux d'emploi à 6 mois = postes actifs / cohorte mature.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Adéquation formation/emploi : tags KPI sur les expériences.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Salaire moyen / min / max (champ annuel saisi par l'alumni).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Répartition par promotion et par secteur.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Anti-tromperie : cohortes immatures affichées « non disponible 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12080"/>
            <a:ext cx="10927080" cy="749808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82296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2578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EXEMPLE — Calcul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22976"/>
            <a:ext cx="10515600" cy="4023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0F172A"/>
                </a:solidFill>
                <a:latin typeface="Calibri"/>
              </a:defRPr>
            </a:pPr>
            <a:r>
              <a:t>taux à 6 mois de la promotion 2025 = diplômés en poste actif à la date de référence / diplômés de la promo (cohorte mature).</a:t>
            </a:r>
          </a:p>
        </p:txBody>
      </p:sp>
      <p:pic>
        <p:nvPicPr>
          <p:cNvPr id="10" name="Picture 9" descr="anB_dashboard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12064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4572000"/>
            <a:ext cx="5029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150" b="0">
                <a:solidFill>
                  <a:srgbClr val="64748B"/>
                </a:solidFill>
                <a:latin typeface="Calibri"/>
              </a:defRPr>
            </a:pPr>
            <a:r>
              <a:t>Dashboard : KPI, graphiques secteur/contrat, adéquation via tags KPI.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Alumni CRM — Stage PreMSc 2026 — IONIS-STM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642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251E7A"/>
                </a:solidFill>
                <a:latin typeface="Calibri"/>
              </a:defRPr>
            </a:pPr>
            <a:r>
              <a:t>Bilan et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640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6400800" cy="32918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Livré : app full-stack opérationnelle (admin + alumni), 83 endpoints, 14 tables, 8 indicateurs.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Documentation « comme du code » : rapport généré, MCD/MLD, guide des processus, ce support.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Compétences : full-stack, sécurité applicative (JWT, OTP, anti-IDOR), migrations, RGPD.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sz="1350" b="1">
                <a:solidFill>
                  <a:srgbClr val="10B981"/>
                </a:solidFill>
                <a:latin typeface="Calibri"/>
              </a:rPr>
              <a:t>▸  </a:t>
            </a:r>
            <a:r>
              <a:rPr sz="1350">
                <a:solidFill>
                  <a:srgbClr val="0F172A"/>
                </a:solidFill>
                <a:latin typeface="Calibri"/>
              </a:rPr>
              <a:t>Perspectives : tests automatisés, automatisation du questionnaire, newsletter, mentorat, PWA.</a:t>
            </a:r>
          </a:p>
        </p:txBody>
      </p:sp>
      <p:pic>
        <p:nvPicPr>
          <p:cNvPr id="6" name="Picture 5" descr="anC_parcours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554480"/>
            <a:ext cx="3931920" cy="24574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4085082"/>
            <a:ext cx="3931920" cy="566928"/>
          </a:xfrm>
          <a:prstGeom prst="roundRect">
            <a:avLst>
              <a:gd name="adj" fmla="val 1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17536" y="4130802"/>
            <a:ext cx="3675888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FFFFFF"/>
                </a:solidFill>
                <a:latin typeface="Calibri"/>
              </a:defRPr>
            </a:pPr>
            <a:r>
              <a:t>Perspective — Parcours alumni saisi : expériences, certifications, salaire — la donnée qui alimente les indicateurs.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96128"/>
            <a:ext cx="10927080" cy="749808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596128"/>
            <a:ext cx="82296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641848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EXEMPLE —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907024"/>
            <a:ext cx="10515600" cy="4023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0F172A"/>
                </a:solidFill>
                <a:latin typeface="Calibri"/>
              </a:defRPr>
            </a:pPr>
            <a:r>
              <a:t>le dépôt Git versionne les migrations et les scripts de génération : le projet reste rejouable et transmissible à la reprise.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Alumni CRM — Stage PreMSc 2026 — IONIS-STM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200"/>
              </a:spcAft>
              <a:defRPr sz="4000" b="1">
                <a:solidFill>
                  <a:srgbClr val="4338CA"/>
                </a:solidFill>
                <a:latin typeface="Calibri"/>
              </a:defRPr>
            </a:pPr>
            <a: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99669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200"/>
              </a:spcAft>
              <a:defRPr sz="2200" b="0">
                <a:solidFill>
                  <a:srgbClr val="64748B"/>
                </a:solidFill>
                <a:latin typeface="Calibri"/>
              </a:defRPr>
            </a:pPr>
            <a:r>
              <a:t>Questions / échanges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996696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200"/>
              </a:spcAft>
              <a:defRPr sz="1600" b="0">
                <a:solidFill>
                  <a:srgbClr val="0F172A"/>
                </a:solidFill>
                <a:latin typeface="Calibri"/>
              </a:defRPr>
            </a:pPr>
            <a:r>
              <a:t>Rafik DJEMADI</a:t>
            </a:r>
          </a:p>
          <a:p>
            <a:pPr algn="ctr">
              <a:spcAft>
                <a:spcPts val="200"/>
              </a:spcAft>
              <a:defRPr sz="1600" b="0">
                <a:solidFill>
                  <a:srgbClr val="0F172A"/>
                </a:solidFill>
                <a:latin typeface="Calibri"/>
              </a:defRPr>
            </a:pPr>
            <a:r>
              <a:t>Alumni CRM — Stage PreMSc 2026 — IONIS-STM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