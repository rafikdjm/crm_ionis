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891232-B89F-4056-942F-03778A6FF8B7}" v="2" dt="2026-09-15T13:46:11.2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39" d="100"/>
          <a:sy n="39" d="100"/>
        </p:scale>
        <p:origin x="72" y="4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fik djemadi" userId="2dcf6afdb52b8155" providerId="LiveId" clId="{ED258C4A-5798-4758-A095-3C1672EF9DFC}"/>
    <pc:docChg chg="modSld">
      <pc:chgData name="Rafik djemadi" userId="2dcf6afdb52b8155" providerId="LiveId" clId="{ED258C4A-5798-4758-A095-3C1672EF9DFC}" dt="2026-09-15T13:46:11.278" v="1"/>
      <pc:docMkLst>
        <pc:docMk/>
      </pc:docMkLst>
      <pc:sldChg chg="modSp">
        <pc:chgData name="Rafik djemadi" userId="2dcf6afdb52b8155" providerId="LiveId" clId="{ED258C4A-5798-4758-A095-3C1672EF9DFC}" dt="2026-09-15T13:46:11.278" v="1"/>
        <pc:sldMkLst>
          <pc:docMk/>
          <pc:sldMk cId="0" sldId="276"/>
        </pc:sldMkLst>
        <pc:spChg chg="mod">
          <ac:chgData name="Rafik djemadi" userId="2dcf6afdb52b8155" providerId="LiveId" clId="{ED258C4A-5798-4758-A095-3C1672EF9DFC}" dt="2026-09-15T13:46:11.278" v="1"/>
          <ac:spMkLst>
            <pc:docMk/>
            <pc:sldMk cId="0" sldId="276"/>
            <ac:spMk id="1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9962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Bonjour, je m'appelle Rafik Djemadi, je suis en Pré-MSc Informatique &amp; Management à IONIS-STM. Pendant ce stage de substitution, j'ai conçu et développé Alumni CRM : une application pour suivre le parcours des étudiants et valoriser le réseau des anciens diplômés. Mon tuteur pédagogique est Joly Donfack, et la soutenance a lieu le 18 septembre 2026. Je vais vous parler du contexte, de ce que j'ai construit, une courte démo, puis je terminerai sur le bilan.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L'école où j'ai réalisé ce stage, c'est IONIS-STM : une école privée du Groupe IONIS, le premier groupe d'enseignement supérieur privé en France. Créée en 2002 sous le nom 'Masters Epita', elle est devenue IONIS-STM en 2009. C'est la première école française dédiée à la double compétence tech &amp; management. On y forme des profils de niveau Pré-MSc, MSc1 et MSc2, en reconversion ou en poursuite d'études, dans plusieurs filières, et plusieurs centaines de diplômés sortent chaque année. C'est mon école de stage : Pré-MSc Informatique &amp; Management.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point de départ, c'est un constat simple, confirmé dès le cadrage : l'école n'avait aucun outil pour suivre un étudiant de son inscription jusqu'à son évolution professionnelle. Les données d'insertion traînaient un peu partout, les indicateurs se calculaient à la main, le réseau alumni était inactif et rien n'était formalisé côté RGPD. Or montrer le taux d'insertion, c'est un argument fort pour recruter de futurs étudiants. Quatre défis sont ressortis de ce constat, je les détaille à la slide suivante.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question que je me suis posée en arrivant : comment suivre le parcours complet de l'étudiant, de l'inscription jusqu'au réseau des anciens, tout en restant conforme au RGPD ? J'ai décliné ça en quatre objectifs repris du sujet de stage : centraliser les données, fiabiliser les indicateurs d'insertion, animer le réseau et intégrer la conformité dès le départ. C'est le moment de montrer que j'ai compris le besoin métier avant de parler technique.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Je n'ai pas attaqué le code tout de suite. J'ai suivi une démarche itérative : cadrage, modélisation, backend, frontend, puis des audits — cohérence entre la base et l'API, et sécurité — avant la rédaction des livrables Management. C'est un stage de substitution proposé par l'école, mené en solo, donc avec une autonomie totale sur les choix techniques : chaque fonctionnalité était développée, testée manuellement puis consolidée avant de passer à la suivante.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 commencer, j'ai surtout écouté. Le vrai besoin, c'était de suivre les étudiants une fois sortis de l'école, jusqu'à leur vie pro. Jusque-là, tout partait dans des fichiers Excel un peu n'importe comment. J'ai posé quatre objectifs avec l'équipe, le RGPD dès le départ, et j'ai vu qu'il fallait vraiment deux espaces : un pour l'école, un pour les anciens.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Avant d'écrire le moindre code, j'ai modélisé. Le MCD avec Looping a permis de poser toutes les entités du métier, puis je suis passé au MLD : 14 tables réparties en 5 domaines — données étudiantes, parcours professionnel, RGPD, questionnaires, infrastructure. J'en ai profité pour cartographier les données personnelles, question RGPD. Les 14 tables ont été versionnées en 17 migrations. Le diagramme, je ne le lis pas, je le montre juste.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Côté backend, j'ai pris FastAPI, surtout pour la documentation automatique : les 84 endpoints se retrouvent dans Swagger sans rien écrire à la main. Les 17 migrations sont versionnées, donc chaque modification du schéma est tracée et rejouable. J'ai mis la sécurité dès le début : clé API admin, sessions JWT avec des rôles strictement séparés, code OTP à 6 chiffres avec 10 minutes de validité. Les emails partent via Resend, en console pendant le développement. En fin de stage j'ai ajouté cinq endpoints demandés par le rapport : newsletter ciblée, relance du questionnaire annuel, indicateurs partenaires agrégés et anonymisés, export groupé des demandes RGPD, et la mise à jour atomique d'une expérience.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 l'interface, React avec Vite, en SPA. Deux espaces vraiment séparés : les anciens s'inscrivent en étapes, complètent leur profil et répondent au questionnaire ; l'école, elle, a le tableau de bord, l'annuaire filtrable et l'import / export Excel. Le frontend compte 14 routes, avec une protection par rôle : un token admin n'accède pas aux routes alumni, et inversement. Thème clair ou sombre, au cas où.</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 la validation, je me suis appuyé sur les parcours clés testés manuellement, le build de production et le lint. Deux audits ensuite : un audit de cohérence entre la base et l'API — chaque objet renvoyé doit exister en base — et un audit de sécurité dont je reparle à la slide 14. Je le dis clairement : il n'y a pas encore de vraie suite de tests automatisés dans le dépôt, c'est le chantier n°1 avant une mise en production. Le rapport le mentionne, et je préfère l'assumer que le cacher.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L'architecture est en trois tiers, comme le décrit le rapport. À gauche, le frontend React avec ses deux espaces et ses 14 routes. Au milieu, l'API FastAPI avec ses 84 endpoints et la sécurité : clé API admin, JWT par rôle, OTP. Enfin PostgreSQL, 14 tables, 17 migrations versionnées. J'insiste sur le point qui me semble important : rien ne se fait hors de cette chaîne — chaque écran appelle l'API, chaque objet de l'API existe en base, et aucun secret ne traîne dans le dépôt.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modèle de données couvre tout le cycle de vie : le dossier de l'étudiant, ses expériences et certifications, mais aussi ses consentements. Concrètement, un ancien étudiant s'inscrit en plusieurs étapes avec un code de vérification, puis il complète son profil, renseigne son parcours professionnel et répond chaque année à un questionnaire. Je montre quelques tables et les flèches entre elles, pas la base entière.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RGPD, je l'ai intégré dès la conception, pas après coup : quatre types de consentement traçables et réellement consommés — un refus d'enquêtes bloque le questionnaire, un refus de contact déclenche l'anonymisation. Des demandes d'export et de suppression avec un verrou qui empêche deux administrateurs de traiter la même demande. Une distinction claire entre anonymiser et supprimer définitivement. Une purge différée de 6 mois. Et la durée de conservation est affichée à l'alumni, avec un contact DPO. Question très probable : la différence entre anonymisation et suppression.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L'audit de sécurité a permis de corriger plusieurs failles réelles, toutes versionnées. Des routes d'écriture n'étaient pas protégées — clé API admin ajoutée. Une route d'upload était morte et ouverte — elle a été supprimée. Un alumni pouvait lire ou modifier les réponses d'un autre — c'est le classique IDOR, corrigé par une vérification de propriétaire. Les comptes anonymisés pouvaient être modifiés — garde centralisée sur douze points d'écriture. Et la suppression d'une promotion avec des étudiants renvoie désormais 409 sauf force explicite. J'ai aussi remplacé les vérifs environ par la gestion des IntegrityError pour éliminer les courses TOCTOU.</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Parcours d'un ancien étudiant qui s'inscrit : il reçoit un code à 6 chiffres, complète son profil, ajoute une expérience et donne ses consentements. Tout se passe en étapes guidées. Démo chronométrée : si ça dépasse, je saute l'import Excel sans commentaire. Base allumée et compte démo prêts avant de commencer.</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Côté administrateur, le tableau de bord affiche les huit indicateurs de base définis dans le rapport, plus un indicateur dérivé par question taguée KPI. Le point le plus travaillé, c'est le taux d'emploi à 6 mois : seules les expériences actives à la date de référence comptent, et une cohorte trop jeune renvoie « en cours » au lieu d'un faux chiffre. L'annuaire se filtre par promotion, secteur, entreprise ou compétence, avec import / export Excel. J'insiste : les tags KPI permettent d'enrichir les indicateurs sans modifier le backend.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sont les huit indicateurs de base du rapport, avec leur formule et un exemple réel, repris de la table des indicateurs (rapport, section 2.2). Le point d'attention : le taux d'emploi à 6 mois ne compte que les expériences actives à la date de référence — pour la promo 2025 : 9 sur 12 en poste, soit 75 % — et une cohorte trop récente renvoie « en cours » au lieu d'un faux chiffre. Le salaire moyen s'appuie sur le champ numérique salary_annuel, avec repli sur le champ texte historique. Un indicateur dérivé variable s'ajoute pour chaque question taguée KPI des questionnaires actifs.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rapport répond aux quatre problèmes initiaux dans une table que j'ai reprise ici. À gauche ce qui existait avant : données dispersées, indicateurs calculés à la main, réseau inanimé, RGPD non formalisé. À droite les solutions : base centralisée avec import Excel, huit indicateurs automatisés et fiabilisés plus les dérivés par tags KPI, espace alumni vivant avec questionnaire annuel, et un volet RGPD complet (consentements, workflow de demandes, journal d'audit, durée de conservation, contact DPO).</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J'assume ce qui a coincé, et je reprends les difficultés documentées à la section 3.2 du rapport, classées par difficulté de correction. Simple : deux administrateurs pouvaient traiter la même demande RGPD, corrigé par un statut intermédiaire et un verrou ; l'absence de versionning Git, révélée par l'incident de synchronisation OneDrive, corrigée par un dépôt Git ; et des identifiants PostgreSQL en dur dans le code, déplacés dans des variables d'environnement. Moyen : des données temporaires qui s'accumulent sans purge — codes OTP expirés et journal d'audit —, avec une rétention consignée en piste d'amélioration ; et les spécificités du driver pg8000 — sérialisation JSONB non uniforme, pas d'ID généré automatiquement, pas de pool de connexions —, traitées par des helpers centralisés. Chaque incident a produit une leçon écrite dans le rapport.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sujet avait aussi un volet Management, et il est couvert par cinq documents livrés en PDF : la cartographie des données, la charte de conformité RGPD, l'analyse des indicateurs d'insertion, la stratégie de mise à jour des données et le guide des processus d'animation du réseau. Tous sont générés par des scripts, donc régénérables et toujours synchronisés avec le rapport. Une phrase pour dire que chacun de ces documents est cité dans le rapport, annexes E à I.</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que je retiens : j'ai touché à toutes les couches du full-stack, mis la sécurité en pratique et le RGPD n'a pas été un ajout après coup. Les limites, assumées : pas de suite de tests automatisés — c'est le prérequis avant la production —, pas de chiffrement applicatif, et un déploiement qui demandera de l'infrastructure côté école. Les pistes ensuite, classées par horizon : court terme, les tests et la newsletter ; moyen terme, le mentorat et le chiffrement ; long terme, une PWA et la notification de violation, article 33 du RGPD. Je ne dis pas que tout est parfait : une limite assumée, c'est plus crédible.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une phrase : Alumni CRM est un prototype opérationnel, documenté, avec son volet Management, et conforme au RGPD, avec deux espaces pensés chacun pour son utilisateur. Je vous remercie. Pendant les 10 minutes de questions je note, je réponds court et ne coupe pas la parole. Le débriefing de 15 minutes me concerne moins, je laisse faire.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6.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52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053328"/>
            <a:ext cx="12191695" cy="804672"/>
          </a:xfrm>
          <a:prstGeom prst="rect">
            <a:avLst/>
          </a:prstGeom>
          <a:solidFill>
            <a:srgbClr val="2E6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737360"/>
            <a:ext cx="10515600" cy="1463040"/>
          </a:xfrm>
          <a:prstGeom prst="rect">
            <a:avLst/>
          </a:prstGeom>
          <a:noFill/>
        </p:spPr>
        <p:txBody>
          <a:bodyPr wrap="square" lIns="0" tIns="0" rIns="0" bIns="0" anchor="t">
            <a:spAutoFit/>
          </a:bodyPr>
          <a:lstStyle/>
          <a:p>
            <a:pPr algn="ctr">
              <a:lnSpc>
                <a:spcPct val="105000"/>
              </a:lnSpc>
            </a:pPr>
            <a:r>
              <a:rPr sz="4800" b="1">
                <a:solidFill>
                  <a:srgbClr val="FFFFFF"/>
                </a:solidFill>
                <a:latin typeface="Calibri"/>
              </a:rPr>
              <a:t>Alumni CRM</a:t>
            </a:r>
          </a:p>
        </p:txBody>
      </p:sp>
      <p:sp>
        <p:nvSpPr>
          <p:cNvPr id="5" name="TextBox 4"/>
          <p:cNvSpPr txBox="1"/>
          <p:nvPr/>
        </p:nvSpPr>
        <p:spPr>
          <a:xfrm>
            <a:off x="1188720" y="2651760"/>
            <a:ext cx="9784080" cy="914400"/>
          </a:xfrm>
          <a:prstGeom prst="rect">
            <a:avLst/>
          </a:prstGeom>
          <a:noFill/>
        </p:spPr>
        <p:txBody>
          <a:bodyPr wrap="square" lIns="0" tIns="0" rIns="0" bIns="0" anchor="t">
            <a:spAutoFit/>
          </a:bodyPr>
          <a:lstStyle/>
          <a:p>
            <a:pPr algn="ctr">
              <a:lnSpc>
                <a:spcPct val="105000"/>
              </a:lnSpc>
            </a:pPr>
            <a:r>
              <a:rPr sz="2000" b="0">
                <a:solidFill>
                  <a:srgbClr val="C7D4EE"/>
                </a:solidFill>
                <a:latin typeface="Calibri"/>
              </a:rPr>
              <a:t>Suivre le parcours des étudiants, valoriser le réseau des anciens diplômés</a:t>
            </a:r>
          </a:p>
        </p:txBody>
      </p:sp>
      <p:sp>
        <p:nvSpPr>
          <p:cNvPr id="6" name="TextBox 5"/>
          <p:cNvSpPr txBox="1"/>
          <p:nvPr/>
        </p:nvSpPr>
        <p:spPr>
          <a:xfrm>
            <a:off x="914400" y="3931920"/>
            <a:ext cx="10332720" cy="1828800"/>
          </a:xfrm>
          <a:prstGeom prst="rect">
            <a:avLst/>
          </a:prstGeom>
          <a:noFill/>
        </p:spPr>
        <p:txBody>
          <a:bodyPr wrap="square" lIns="0" tIns="0" rIns="0" bIns="0" anchor="t">
            <a:spAutoFit/>
          </a:bodyPr>
          <a:lstStyle/>
          <a:p>
            <a:pPr algn="ctr">
              <a:lnSpc>
                <a:spcPct val="105000"/>
              </a:lnSpc>
            </a:pPr>
            <a:r>
              <a:rPr sz="1500" b="0">
                <a:solidFill>
                  <a:srgbClr val="FFFFFF"/>
                </a:solidFill>
                <a:latin typeface="Calibri"/>
              </a:rPr>
              <a:t>Rafik Djemadi — Pré-MSc, IONIS-STM</a:t>
            </a:r>
          </a:p>
          <a:p>
            <a:pPr algn="ctr">
              <a:lnSpc>
                <a:spcPct val="105000"/>
              </a:lnSpc>
            </a:pPr>
            <a:r>
              <a:rPr sz="1500" b="0">
                <a:solidFill>
                  <a:srgbClr val="FFFFFF"/>
                </a:solidFill>
                <a:latin typeface="Calibri"/>
              </a:rPr>
              <a:t>Stage : conception et développement full-stack d'une application de gestion des alumni</a:t>
            </a:r>
          </a:p>
          <a:p>
            <a:pPr algn="ctr">
              <a:lnSpc>
                <a:spcPct val="105000"/>
              </a:lnSpc>
            </a:pPr>
            <a:r>
              <a:rPr sz="1500" b="0">
                <a:solidFill>
                  <a:srgbClr val="FFFFFF"/>
                </a:solidFill>
                <a:latin typeface="Calibri"/>
              </a:rPr>
              <a:t>Tuteur pédagogique : Joly Donfack</a:t>
            </a:r>
          </a:p>
          <a:p>
            <a:pPr algn="ctr">
              <a:lnSpc>
                <a:spcPct val="105000"/>
              </a:lnSpc>
            </a:pPr>
            <a:r>
              <a:rPr sz="1500" b="0">
                <a:solidFill>
                  <a:srgbClr val="FFFFFF"/>
                </a:solidFill>
                <a:latin typeface="Calibri"/>
              </a:rPr>
              <a:t>Soutenance : 18 septembre 2026</a:t>
            </a:r>
          </a:p>
          <a:p>
            <a:pPr algn="ctr">
              <a:lnSpc>
                <a:spcPct val="105000"/>
              </a:lnSpc>
            </a:pPr>
            <a:endParaRPr sz="1500" b="0">
              <a:solidFill>
                <a:srgbClr val="FFFFFF"/>
              </a:solidFill>
              <a:latin typeface="Calibri"/>
            </a:endParaRPr>
          </a:p>
          <a:p>
            <a:pPr algn="ctr">
              <a:lnSpc>
                <a:spcPct val="105000"/>
              </a:lnSpc>
            </a:pPr>
            <a:r>
              <a:rPr sz="1500" b="0">
                <a:solidFill>
                  <a:srgbClr val="FFFFFF"/>
                </a:solidFill>
                <a:latin typeface="Calibri"/>
              </a:rPr>
              <a:t>Plan : l'école → le besoin → la conception → la démo → le bilan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2191695" cy="1051560"/>
          </a:xfrm>
          <a:prstGeom prst="rect">
            <a:avLst/>
          </a:prstGeom>
          <a:noFill/>
        </p:spPr>
        <p:txBody>
          <a:bodyPr wrap="square" lIns="0" tIns="0" rIns="0" bIns="0" anchor="t">
            <a:spAutoFit/>
          </a:bodyPr>
          <a:lstStyle/>
          <a:p>
            <a:pPr algn="l">
              <a:lnSpc>
                <a:spcPct val="105000"/>
              </a:lnSpc>
            </a:pPr>
            <a:r>
              <a:rPr sz="2700" b="1">
                <a:solidFill>
                  <a:srgbClr val="152042"/>
                </a:solidFill>
                <a:latin typeface="Calibri"/>
              </a:rPr>
              <a:t>L'établissement d'accueil : IONIS-STM</a:t>
            </a:r>
          </a:p>
        </p:txBody>
      </p:sp>
      <p:sp>
        <p:nvSpPr>
          <p:cNvPr id="3" name="TextBox 2"/>
          <p:cNvSpPr txBox="1"/>
          <p:nvPr/>
        </p:nvSpPr>
        <p:spPr>
          <a:xfrm>
            <a:off x="502920" y="932688"/>
            <a:ext cx="2377440" cy="82296"/>
          </a:xfrm>
          <a:prstGeom prst="rect">
            <a:avLst/>
          </a:prstGeom>
          <a:solidFill>
            <a:srgbClr val="2EA06E"/>
          </a:solidFill>
        </p:spPr>
        <p:txBody>
          <a:bodyPr wrap="square" lIns="0" tIns="0" rIns="0" bIns="0" anchor="t">
            <a:spAutoFit/>
          </a:bodyPr>
          <a:lstStyle/>
          <a:p>
            <a:pPr algn="l">
              <a:lnSpc>
                <a:spcPct val="105000"/>
              </a:lnSpc>
            </a:pPr>
            <a:endParaRPr/>
          </a:p>
        </p:txBody>
      </p:sp>
      <p:sp>
        <p:nvSpPr>
          <p:cNvPr id="4" name="TextBox 3"/>
          <p:cNvSpPr txBox="1"/>
          <p:nvPr/>
        </p:nvSpPr>
        <p:spPr>
          <a:xfrm>
            <a:off x="11109960" y="201168"/>
            <a:ext cx="868680" cy="365760"/>
          </a:xfrm>
          <a:prstGeom prst="rect">
            <a:avLst/>
          </a:prstGeom>
          <a:noFill/>
        </p:spPr>
        <p:txBody>
          <a:bodyPr wrap="square" lIns="0" tIns="0" rIns="0" bIns="0" anchor="t">
            <a:spAutoFit/>
          </a:bodyPr>
          <a:lstStyle/>
          <a:p>
            <a:pPr algn="r">
              <a:lnSpc>
                <a:spcPct val="105000"/>
              </a:lnSpc>
            </a:pPr>
            <a:r>
              <a:rPr sz="1200" b="0">
                <a:solidFill>
                  <a:srgbClr val="606A7E"/>
                </a:solidFill>
                <a:latin typeface="Calibri"/>
              </a:rPr>
              <a:t>0:30</a:t>
            </a:r>
          </a:p>
        </p:txBody>
      </p:sp>
      <p:sp>
        <p:nvSpPr>
          <p:cNvPr id="5" name="TextBox 4"/>
          <p:cNvSpPr txBox="1"/>
          <p:nvPr/>
        </p:nvSpPr>
        <p:spPr>
          <a:xfrm>
            <a:off x="0" y="6446520"/>
            <a:ext cx="12191695" cy="320040"/>
          </a:xfrm>
          <a:prstGeom prst="rect">
            <a:avLst/>
          </a:prstGeom>
          <a:solidFill>
            <a:srgbClr val="152042"/>
          </a:solidFill>
        </p:spPr>
        <p:txBody>
          <a:bodyPr wrap="square" lIns="0" tIns="0" rIns="0" bIns="0" anchor="t">
            <a:spAutoFit/>
          </a:bodyPr>
          <a:lstStyle/>
          <a:p>
            <a:pPr algn="l">
              <a:lnSpc>
                <a:spcPct val="105000"/>
              </a:lnSpc>
            </a:pPr>
            <a:endParaRPr/>
          </a:p>
        </p:txBody>
      </p:sp>
      <p:pic>
        <p:nvPicPr>
          <p:cNvPr id="6" name="Picture 5" descr="ionis-stm-logo.png"/>
          <p:cNvPicPr>
            <a:picLocks noChangeAspect="1"/>
          </p:cNvPicPr>
          <p:nvPr/>
        </p:nvPicPr>
        <p:blipFill>
          <a:blip r:embed="rId3"/>
          <a:stretch>
            <a:fillRect/>
          </a:stretch>
        </p:blipFill>
        <p:spPr>
          <a:xfrm>
            <a:off x="822960" y="1828800"/>
            <a:ext cx="1016926" cy="1463040"/>
          </a:xfrm>
          <a:prstGeom prst="rect">
            <a:avLst/>
          </a:prstGeom>
        </p:spPr>
      </p:pic>
      <p:sp>
        <p:nvSpPr>
          <p:cNvPr id="7" name="TextBox 6"/>
          <p:cNvSpPr txBox="1"/>
          <p:nvPr/>
        </p:nvSpPr>
        <p:spPr>
          <a:xfrm>
            <a:off x="4023360" y="1463040"/>
            <a:ext cx="10972800" cy="4846320"/>
          </a:xfrm>
          <a:prstGeom prst="rect">
            <a:avLst/>
          </a:prstGeom>
          <a:noFill/>
        </p:spPr>
        <p:txBody>
          <a:bodyPr wrap="square" lIns="0" tIns="0" rIns="0" bIns="0">
            <a:spAutoFit/>
          </a:bodyPr>
          <a:lstStyle/>
          <a:p>
            <a:pPr>
              <a:lnSpc>
                <a:spcPct val="112000"/>
              </a:lnSpc>
              <a:spcAft>
                <a:spcPts val="1000"/>
              </a:spcAft>
            </a:pPr>
            <a:r>
              <a:rPr sz="1500">
                <a:solidFill>
                  <a:srgbClr val="152042"/>
                </a:solidFill>
                <a:latin typeface="Calibri"/>
              </a:rPr>
              <a:t>Une école du Groupe IONIS, premier groupe d'enseignement supérieur privé en France</a:t>
            </a:r>
          </a:p>
          <a:p>
            <a:pPr>
              <a:lnSpc>
                <a:spcPct val="112000"/>
              </a:lnSpc>
              <a:spcAft>
                <a:spcPts val="1000"/>
              </a:spcAft>
            </a:pPr>
            <a:r>
              <a:rPr sz="1500">
                <a:solidFill>
                  <a:srgbClr val="152042"/>
                </a:solidFill>
                <a:latin typeface="Calibri"/>
              </a:rPr>
              <a:t>Créée en 2002 sous le nom « Masters Epita », devenue IONIS-STM en 2009</a:t>
            </a:r>
          </a:p>
          <a:p>
            <a:pPr>
              <a:lnSpc>
                <a:spcPct val="112000"/>
              </a:lnSpc>
              <a:spcAft>
                <a:spcPts val="1000"/>
              </a:spcAft>
            </a:pPr>
            <a:r>
              <a:rPr sz="1500">
                <a:solidFill>
                  <a:srgbClr val="152042"/>
                </a:solidFill>
                <a:latin typeface="Calibri"/>
              </a:rPr>
              <a:t>La première école dédiée à la double compétence Tech &amp; Management</a:t>
            </a:r>
          </a:p>
          <a:p>
            <a:pPr>
              <a:lnSpc>
                <a:spcPct val="112000"/>
              </a:lnSpc>
              <a:spcAft>
                <a:spcPts val="1000"/>
              </a:spcAft>
            </a:pPr>
            <a:r>
              <a:rPr sz="1500">
                <a:solidFill>
                  <a:srgbClr val="152042"/>
                </a:solidFill>
                <a:latin typeface="Calibri"/>
              </a:rPr>
              <a:t>Pré-MSc, MSc1 et MSc2 — reconversion et poursuite d'études après un premier diplôme</a:t>
            </a:r>
          </a:p>
          <a:p>
            <a:pPr>
              <a:lnSpc>
                <a:spcPct val="112000"/>
              </a:lnSpc>
              <a:spcAft>
                <a:spcPts val="1000"/>
              </a:spcAft>
            </a:pPr>
            <a:r>
              <a:rPr sz="1500">
                <a:solidFill>
                  <a:srgbClr val="152042"/>
                </a:solidFill>
                <a:latin typeface="Calibri"/>
              </a:rPr>
              <a:t>Filières : développement, cybersécurité, data, management, marketing digital</a:t>
            </a:r>
          </a:p>
          <a:p>
            <a:pPr>
              <a:lnSpc>
                <a:spcPct val="112000"/>
              </a:lnSpc>
              <a:spcAft>
                <a:spcPts val="1000"/>
              </a:spcAft>
            </a:pPr>
            <a:r>
              <a:rPr sz="1500">
                <a:solidFill>
                  <a:srgbClr val="152042"/>
                </a:solidFill>
                <a:latin typeface="Calibri"/>
              </a:rPr>
              <a:t>Plusieurs centaines de diplômés formés chaque année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2191695" cy="1051560"/>
          </a:xfrm>
          <a:prstGeom prst="rect">
            <a:avLst/>
          </a:prstGeom>
          <a:noFill/>
        </p:spPr>
        <p:txBody>
          <a:bodyPr wrap="square" lIns="0" tIns="0" rIns="0" bIns="0" anchor="t">
            <a:spAutoFit/>
          </a:bodyPr>
          <a:lstStyle/>
          <a:p>
            <a:pPr algn="l">
              <a:lnSpc>
                <a:spcPct val="105000"/>
              </a:lnSpc>
            </a:pPr>
            <a:r>
              <a:rPr sz="2700" b="1">
                <a:solidFill>
                  <a:srgbClr val="152042"/>
                </a:solidFill>
                <a:latin typeface="Calibri"/>
              </a:rPr>
              <a:t>Pourquoi ce projet</a:t>
            </a:r>
          </a:p>
        </p:txBody>
      </p:sp>
      <p:sp>
        <p:nvSpPr>
          <p:cNvPr id="3" name="TextBox 2"/>
          <p:cNvSpPr txBox="1"/>
          <p:nvPr/>
        </p:nvSpPr>
        <p:spPr>
          <a:xfrm>
            <a:off x="502920" y="932688"/>
            <a:ext cx="2377440" cy="82296"/>
          </a:xfrm>
          <a:prstGeom prst="rect">
            <a:avLst/>
          </a:prstGeom>
          <a:solidFill>
            <a:srgbClr val="2EA06E"/>
          </a:solidFill>
        </p:spPr>
        <p:txBody>
          <a:bodyPr wrap="square" lIns="0" tIns="0" rIns="0" bIns="0" anchor="t">
            <a:spAutoFit/>
          </a:bodyPr>
          <a:lstStyle/>
          <a:p>
            <a:pPr algn="l">
              <a:lnSpc>
                <a:spcPct val="105000"/>
              </a:lnSpc>
            </a:pPr>
            <a:endParaRPr/>
          </a:p>
        </p:txBody>
      </p:sp>
      <p:sp>
        <p:nvSpPr>
          <p:cNvPr id="4" name="TextBox 3"/>
          <p:cNvSpPr txBox="1"/>
          <p:nvPr/>
        </p:nvSpPr>
        <p:spPr>
          <a:xfrm>
            <a:off x="11109960" y="201168"/>
            <a:ext cx="868680" cy="365760"/>
          </a:xfrm>
          <a:prstGeom prst="rect">
            <a:avLst/>
          </a:prstGeom>
          <a:noFill/>
        </p:spPr>
        <p:txBody>
          <a:bodyPr wrap="square" lIns="0" tIns="0" rIns="0" bIns="0" anchor="t">
            <a:spAutoFit/>
          </a:bodyPr>
          <a:lstStyle/>
          <a:p>
            <a:pPr algn="r">
              <a:lnSpc>
                <a:spcPct val="105000"/>
              </a:lnSpc>
            </a:pPr>
            <a:r>
              <a:rPr sz="1200" b="0">
                <a:solidFill>
                  <a:srgbClr val="606A7E"/>
                </a:solidFill>
                <a:latin typeface="Calibri"/>
              </a:rPr>
              <a:t>0:45</a:t>
            </a:r>
          </a:p>
        </p:txBody>
      </p:sp>
      <p:sp>
        <p:nvSpPr>
          <p:cNvPr id="5" name="TextBox 4"/>
          <p:cNvSpPr txBox="1"/>
          <p:nvPr/>
        </p:nvSpPr>
        <p:spPr>
          <a:xfrm>
            <a:off x="0" y="6446520"/>
            <a:ext cx="12191695" cy="320040"/>
          </a:xfrm>
          <a:prstGeom prst="rect">
            <a:avLst/>
          </a:prstGeom>
          <a:solidFill>
            <a:srgbClr val="152042"/>
          </a:solidFill>
        </p:spPr>
        <p:txBody>
          <a:bodyPr wrap="square" lIns="0" tIns="0" rIns="0" bIns="0" anchor="t">
            <a:spAutoFit/>
          </a:bodyPr>
          <a:lstStyle/>
          <a:p>
            <a:pPr algn="l">
              <a:lnSpc>
                <a:spcPct val="105000"/>
              </a:lnSpc>
            </a:pPr>
            <a:endParaRPr/>
          </a:p>
        </p:txBody>
      </p:sp>
      <p:sp>
        <p:nvSpPr>
          <p:cNvPr id="6" name="TextBox 5"/>
          <p:cNvSpPr txBox="1"/>
          <p:nvPr/>
        </p:nvSpPr>
        <p:spPr>
          <a:xfrm>
            <a:off x="640080" y="1371600"/>
            <a:ext cx="10972800" cy="4846320"/>
          </a:xfrm>
          <a:prstGeom prst="rect">
            <a:avLst/>
          </a:prstGeom>
          <a:noFill/>
        </p:spPr>
        <p:txBody>
          <a:bodyPr wrap="square" lIns="0" tIns="0" rIns="0" bIns="0">
            <a:spAutoFit/>
          </a:bodyPr>
          <a:lstStyle/>
          <a:p>
            <a:pPr>
              <a:lnSpc>
                <a:spcPct val="112000"/>
              </a:lnSpc>
              <a:spcAft>
                <a:spcPts val="1000"/>
              </a:spcAft>
            </a:pPr>
            <a:r>
              <a:rPr sz="1800">
                <a:solidFill>
                  <a:srgbClr val="152042"/>
                </a:solidFill>
                <a:latin typeface="Calibri"/>
              </a:rPr>
              <a:t>Aucun outil pour suivre un étudiant de l'inscription jusqu'à sa vie professionnelle.</a:t>
            </a:r>
          </a:p>
          <a:p>
            <a:pPr>
              <a:lnSpc>
                <a:spcPct val="112000"/>
              </a:lnSpc>
              <a:spcAft>
                <a:spcPts val="1000"/>
              </a:spcAft>
            </a:pPr>
            <a:r>
              <a:rPr sz="1800">
                <a:solidFill>
                  <a:srgbClr val="152042"/>
                </a:solidFill>
                <a:latin typeface="Calibri"/>
              </a:rPr>
              <a:t>Données dispersées : emails, formulaires papier, appels — rien de structuré.</a:t>
            </a:r>
          </a:p>
          <a:p>
            <a:pPr>
              <a:lnSpc>
                <a:spcPct val="112000"/>
              </a:lnSpc>
              <a:spcAft>
                <a:spcPts val="1000"/>
              </a:spcAft>
            </a:pPr>
            <a:r>
              <a:rPr sz="1800">
                <a:solidFill>
                  <a:srgbClr val="152042"/>
                </a:solidFill>
                <a:latin typeface="Calibri"/>
              </a:rPr>
              <a:t>Indicateurs calculés à la main, croisements longs et source d'erreurs.</a:t>
            </a:r>
          </a:p>
          <a:p>
            <a:pPr>
              <a:lnSpc>
                <a:spcPct val="112000"/>
              </a:lnSpc>
              <a:spcAft>
                <a:spcPts val="1000"/>
              </a:spcAft>
            </a:pPr>
            <a:r>
              <a:rPr sz="1800">
                <a:solidFill>
                  <a:srgbClr val="152042"/>
                </a:solidFill>
                <a:latin typeface="Calibri"/>
              </a:rPr>
              <a:t>Réseau alumni inanimé : aucun canal pour rester en contact.</a:t>
            </a:r>
          </a:p>
          <a:p>
            <a:pPr>
              <a:lnSpc>
                <a:spcPct val="112000"/>
              </a:lnSpc>
              <a:spcAft>
                <a:spcPts val="1000"/>
              </a:spcAft>
            </a:pPr>
            <a:r>
              <a:rPr sz="1800">
                <a:solidFill>
                  <a:srgbClr val="152042"/>
                </a:solidFill>
                <a:latin typeface="Calibri"/>
              </a:rPr>
              <a:t>RGPD : aucun workflow traçable sur les données personnelles.</a:t>
            </a:r>
          </a:p>
          <a:p>
            <a:pPr>
              <a:lnSpc>
                <a:spcPct val="112000"/>
              </a:lnSpc>
              <a:spcAft>
                <a:spcPts val="1000"/>
              </a:spcAft>
            </a:pPr>
            <a:r>
              <a:rPr sz="1800">
                <a:solidFill>
                  <a:srgbClr val="152042"/>
                </a:solidFill>
                <a:latin typeface="Calibri"/>
              </a:rPr>
              <a:t>Prouver l'insertion = un argument fort pour recruter de futurs étudiants.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2191695" cy="1051560"/>
          </a:xfrm>
          <a:prstGeom prst="rect">
            <a:avLst/>
          </a:prstGeom>
          <a:noFill/>
        </p:spPr>
        <p:txBody>
          <a:bodyPr wrap="square" lIns="0" tIns="0" rIns="0" bIns="0" anchor="t">
            <a:spAutoFit/>
          </a:bodyPr>
          <a:lstStyle/>
          <a:p>
            <a:pPr algn="l">
              <a:lnSpc>
                <a:spcPct val="105000"/>
              </a:lnSpc>
            </a:pPr>
            <a:r>
              <a:rPr sz="2700" b="1">
                <a:solidFill>
                  <a:srgbClr val="152042"/>
                </a:solidFill>
                <a:latin typeface="Calibri"/>
              </a:rPr>
              <a:t>Problématique et objectifs</a:t>
            </a:r>
          </a:p>
        </p:txBody>
      </p:sp>
      <p:sp>
        <p:nvSpPr>
          <p:cNvPr id="3" name="TextBox 2"/>
          <p:cNvSpPr txBox="1"/>
          <p:nvPr/>
        </p:nvSpPr>
        <p:spPr>
          <a:xfrm>
            <a:off x="502920" y="932688"/>
            <a:ext cx="2377440" cy="82296"/>
          </a:xfrm>
          <a:prstGeom prst="rect">
            <a:avLst/>
          </a:prstGeom>
          <a:solidFill>
            <a:srgbClr val="2EA06E"/>
          </a:solidFill>
        </p:spPr>
        <p:txBody>
          <a:bodyPr wrap="square" lIns="0" tIns="0" rIns="0" bIns="0" anchor="t">
            <a:spAutoFit/>
          </a:bodyPr>
          <a:lstStyle/>
          <a:p>
            <a:pPr algn="l">
              <a:lnSpc>
                <a:spcPct val="105000"/>
              </a:lnSpc>
            </a:pPr>
            <a:endParaRPr/>
          </a:p>
        </p:txBody>
      </p:sp>
      <p:sp>
        <p:nvSpPr>
          <p:cNvPr id="4" name="TextBox 3"/>
          <p:cNvSpPr txBox="1"/>
          <p:nvPr/>
        </p:nvSpPr>
        <p:spPr>
          <a:xfrm>
            <a:off x="11109960" y="201168"/>
            <a:ext cx="868680" cy="365760"/>
          </a:xfrm>
          <a:prstGeom prst="rect">
            <a:avLst/>
          </a:prstGeom>
          <a:noFill/>
        </p:spPr>
        <p:txBody>
          <a:bodyPr wrap="square" lIns="0" tIns="0" rIns="0" bIns="0" anchor="t">
            <a:spAutoFit/>
          </a:bodyPr>
          <a:lstStyle/>
          <a:p>
            <a:pPr algn="r">
              <a:lnSpc>
                <a:spcPct val="105000"/>
              </a:lnSpc>
            </a:pPr>
            <a:r>
              <a:rPr sz="1200" b="0">
                <a:solidFill>
                  <a:srgbClr val="606A7E"/>
                </a:solidFill>
                <a:latin typeface="Calibri"/>
              </a:rPr>
              <a:t>1:00</a:t>
            </a:r>
          </a:p>
        </p:txBody>
      </p:sp>
      <p:sp>
        <p:nvSpPr>
          <p:cNvPr id="5" name="TextBox 4"/>
          <p:cNvSpPr txBox="1"/>
          <p:nvPr/>
        </p:nvSpPr>
        <p:spPr>
          <a:xfrm>
            <a:off x="0" y="6446520"/>
            <a:ext cx="12191695" cy="320040"/>
          </a:xfrm>
          <a:prstGeom prst="rect">
            <a:avLst/>
          </a:prstGeom>
          <a:solidFill>
            <a:srgbClr val="152042"/>
          </a:solidFill>
        </p:spPr>
        <p:txBody>
          <a:bodyPr wrap="square" lIns="0" tIns="0" rIns="0" bIns="0" anchor="t">
            <a:spAutoFit/>
          </a:bodyPr>
          <a:lstStyle/>
          <a:p>
            <a:pPr algn="l">
              <a:lnSpc>
                <a:spcPct val="105000"/>
              </a:lnSpc>
            </a:pPr>
            <a:endParaRPr/>
          </a:p>
        </p:txBody>
      </p:sp>
      <p:sp>
        <p:nvSpPr>
          <p:cNvPr id="6" name="Rectangle 5"/>
          <p:cNvSpPr/>
          <p:nvPr/>
        </p:nvSpPr>
        <p:spPr>
          <a:xfrm>
            <a:off x="640080" y="1371600"/>
            <a:ext cx="10881360" cy="123444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536192"/>
            <a:ext cx="10424160" cy="914400"/>
          </a:xfrm>
          <a:prstGeom prst="rect">
            <a:avLst/>
          </a:prstGeom>
          <a:noFill/>
        </p:spPr>
        <p:txBody>
          <a:bodyPr wrap="square" lIns="0" tIns="0" rIns="0" bIns="0" anchor="t">
            <a:spAutoFit/>
          </a:bodyPr>
          <a:lstStyle/>
          <a:p>
            <a:pPr algn="l">
              <a:lnSpc>
                <a:spcPct val="105000"/>
              </a:lnSpc>
            </a:pPr>
            <a:r>
              <a:rPr sz="1900" b="1">
                <a:solidFill>
                  <a:srgbClr val="152042"/>
                </a:solidFill>
                <a:latin typeface="Calibri"/>
              </a:rPr>
              <a:t>Comment suivre le parcours complet de l'étudiant, de l'inscription jusqu'au réseau des anciens, tout en restant conforme au RGPD ?</a:t>
            </a:r>
          </a:p>
        </p:txBody>
      </p:sp>
      <p:sp>
        <p:nvSpPr>
          <p:cNvPr id="8" name="TextBox 7"/>
          <p:cNvSpPr txBox="1"/>
          <p:nvPr/>
        </p:nvSpPr>
        <p:spPr>
          <a:xfrm>
            <a:off x="868680" y="2880360"/>
            <a:ext cx="10972800" cy="4846320"/>
          </a:xfrm>
          <a:prstGeom prst="rect">
            <a:avLst/>
          </a:prstGeom>
          <a:noFill/>
        </p:spPr>
        <p:txBody>
          <a:bodyPr wrap="square" lIns="0" tIns="0" rIns="0" bIns="0">
            <a:spAutoFit/>
          </a:bodyPr>
          <a:lstStyle/>
          <a:p>
            <a:pPr>
              <a:lnSpc>
                <a:spcPct val="112000"/>
              </a:lnSpc>
              <a:spcAft>
                <a:spcPts val="1000"/>
              </a:spcAft>
            </a:pPr>
            <a:r>
              <a:rPr sz="1800">
                <a:solidFill>
                  <a:srgbClr val="152042"/>
                </a:solidFill>
                <a:latin typeface="Calibri"/>
              </a:rPr>
              <a:t>1. Centraliser les données : un cycle de vie unique, de l'inscription au parcours professionnel</a:t>
            </a:r>
          </a:p>
          <a:p>
            <a:pPr>
              <a:lnSpc>
                <a:spcPct val="112000"/>
              </a:lnSpc>
              <a:spcAft>
                <a:spcPts val="1000"/>
              </a:spcAft>
            </a:pPr>
            <a:r>
              <a:rPr sz="1800">
                <a:solidFill>
                  <a:srgbClr val="152042"/>
                </a:solidFill>
                <a:latin typeface="Calibri"/>
              </a:rPr>
              <a:t>2. Fiabiliser les indicateurs d'insertion : taux d'emploi, salaires, adéquation</a:t>
            </a:r>
          </a:p>
          <a:p>
            <a:pPr>
              <a:lnSpc>
                <a:spcPct val="112000"/>
              </a:lnSpc>
              <a:spcAft>
                <a:spcPts val="1000"/>
              </a:spcAft>
            </a:pPr>
            <a:r>
              <a:rPr sz="1800">
                <a:solidFill>
                  <a:srgbClr val="152042"/>
                </a:solidFill>
                <a:latin typeface="Calibri"/>
              </a:rPr>
              <a:t>3. Animer le réseau alumni : questionnaire annuel, newsletter</a:t>
            </a:r>
          </a:p>
          <a:p>
            <a:pPr>
              <a:lnSpc>
                <a:spcPct val="112000"/>
              </a:lnSpc>
              <a:spcAft>
                <a:spcPts val="1000"/>
              </a:spcAft>
            </a:pPr>
            <a:r>
              <a:rPr sz="1800">
                <a:solidFill>
                  <a:srgbClr val="152042"/>
                </a:solidFill>
                <a:latin typeface="Calibri"/>
              </a:rPr>
              <a:t>4. Intégrer le RGPD dès la conception : consentements, export, suppression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2191695" cy="1051560"/>
          </a:xfrm>
          <a:prstGeom prst="rect">
            <a:avLst/>
          </a:prstGeom>
          <a:noFill/>
        </p:spPr>
        <p:txBody>
          <a:bodyPr wrap="square" lIns="0" tIns="0" rIns="0" bIns="0" anchor="t">
            <a:spAutoFit/>
          </a:bodyPr>
          <a:lstStyle/>
          <a:p>
            <a:pPr algn="l">
              <a:lnSpc>
                <a:spcPct val="105000"/>
              </a:lnSpc>
            </a:pPr>
            <a:r>
              <a:rPr sz="2700" b="1">
                <a:solidFill>
                  <a:srgbClr val="152042"/>
                </a:solidFill>
                <a:latin typeface="Calibri"/>
              </a:rPr>
              <a:t>Comment j'ai travaillé</a:t>
            </a:r>
          </a:p>
        </p:txBody>
      </p:sp>
      <p:sp>
        <p:nvSpPr>
          <p:cNvPr id="3" name="TextBox 2"/>
          <p:cNvSpPr txBox="1"/>
          <p:nvPr/>
        </p:nvSpPr>
        <p:spPr>
          <a:xfrm>
            <a:off x="502920" y="932688"/>
            <a:ext cx="2377440" cy="82296"/>
          </a:xfrm>
          <a:prstGeom prst="rect">
            <a:avLst/>
          </a:prstGeom>
          <a:solidFill>
            <a:srgbClr val="2EA06E"/>
          </a:solidFill>
        </p:spPr>
        <p:txBody>
          <a:bodyPr wrap="square" lIns="0" tIns="0" rIns="0" bIns="0" anchor="t">
            <a:spAutoFit/>
          </a:bodyPr>
          <a:lstStyle/>
          <a:p>
            <a:pPr algn="l">
              <a:lnSpc>
                <a:spcPct val="105000"/>
              </a:lnSpc>
            </a:pPr>
            <a:endParaRPr/>
          </a:p>
        </p:txBody>
      </p:sp>
      <p:sp>
        <p:nvSpPr>
          <p:cNvPr id="4" name="TextBox 3"/>
          <p:cNvSpPr txBox="1"/>
          <p:nvPr/>
        </p:nvSpPr>
        <p:spPr>
          <a:xfrm>
            <a:off x="11109960" y="201168"/>
            <a:ext cx="868680" cy="365760"/>
          </a:xfrm>
          <a:prstGeom prst="rect">
            <a:avLst/>
          </a:prstGeom>
          <a:noFill/>
        </p:spPr>
        <p:txBody>
          <a:bodyPr wrap="square" lIns="0" tIns="0" rIns="0" bIns="0" anchor="t">
            <a:spAutoFit/>
          </a:bodyPr>
          <a:lstStyle/>
          <a:p>
            <a:pPr algn="r">
              <a:lnSpc>
                <a:spcPct val="105000"/>
              </a:lnSpc>
            </a:pPr>
            <a:r>
              <a:rPr sz="1200" b="0">
                <a:solidFill>
                  <a:srgbClr val="606A7E"/>
                </a:solidFill>
                <a:latin typeface="Calibri"/>
              </a:rPr>
              <a:t>0:45</a:t>
            </a:r>
          </a:p>
        </p:txBody>
      </p:sp>
      <p:sp>
        <p:nvSpPr>
          <p:cNvPr id="5" name="TextBox 4"/>
          <p:cNvSpPr txBox="1"/>
          <p:nvPr/>
        </p:nvSpPr>
        <p:spPr>
          <a:xfrm>
            <a:off x="0" y="6446520"/>
            <a:ext cx="12191695" cy="320040"/>
          </a:xfrm>
          <a:prstGeom prst="rect">
            <a:avLst/>
          </a:prstGeom>
          <a:solidFill>
            <a:srgbClr val="152042"/>
          </a:solidFill>
        </p:spPr>
        <p:txBody>
          <a:bodyPr wrap="square" lIns="0" tIns="0" rIns="0" bIns="0" anchor="t">
            <a:spAutoFit/>
          </a:bodyPr>
          <a:lstStyle/>
          <a:p>
            <a:pPr algn="l">
              <a:lnSpc>
                <a:spcPct val="105000"/>
              </a:lnSpc>
            </a:pPr>
            <a:endParaRPr/>
          </a:p>
        </p:txBody>
      </p:sp>
      <p:sp>
        <p:nvSpPr>
          <p:cNvPr id="6" name="Rectangle 5"/>
          <p:cNvSpPr/>
          <p:nvPr/>
        </p:nvSpPr>
        <p:spPr>
          <a:xfrm>
            <a:off x="502920" y="3566160"/>
            <a:ext cx="2121408" cy="22860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648" y="3703320"/>
            <a:ext cx="1901952" cy="548640"/>
          </a:xfrm>
          <a:prstGeom prst="rect">
            <a:avLst/>
          </a:prstGeom>
          <a:noFill/>
        </p:spPr>
        <p:txBody>
          <a:bodyPr wrap="square" lIns="0" tIns="0" rIns="0" bIns="0" anchor="t">
            <a:spAutoFit/>
          </a:bodyPr>
          <a:lstStyle/>
          <a:p>
            <a:pPr algn="ctr">
              <a:lnSpc>
                <a:spcPct val="105000"/>
              </a:lnSpc>
            </a:pPr>
            <a:r>
              <a:rPr sz="1600" b="1">
                <a:solidFill>
                  <a:srgbClr val="152042"/>
                </a:solidFill>
                <a:latin typeface="Calibri"/>
              </a:rPr>
              <a:t>1. Cadrage</a:t>
            </a:r>
          </a:p>
        </p:txBody>
      </p:sp>
      <p:sp>
        <p:nvSpPr>
          <p:cNvPr id="8" name="TextBox 7"/>
          <p:cNvSpPr txBox="1"/>
          <p:nvPr/>
        </p:nvSpPr>
        <p:spPr>
          <a:xfrm>
            <a:off x="612648" y="4389120"/>
            <a:ext cx="1901952" cy="1280160"/>
          </a:xfrm>
          <a:prstGeom prst="rect">
            <a:avLst/>
          </a:prstGeom>
          <a:noFill/>
        </p:spPr>
        <p:txBody>
          <a:bodyPr wrap="square" lIns="0" tIns="0" rIns="0" bIns="0" anchor="t">
            <a:spAutoFit/>
          </a:bodyPr>
          <a:lstStyle/>
          <a:p>
            <a:pPr algn="ctr">
              <a:lnSpc>
                <a:spcPct val="105000"/>
              </a:lnSpc>
            </a:pPr>
            <a:r>
              <a:rPr sz="1150" b="0">
                <a:solidFill>
                  <a:srgbClr val="606A7E"/>
                </a:solidFill>
                <a:latin typeface="Calibri"/>
              </a:rPr>
              <a:t>recueil du besoin, 4 objectifs validés</a:t>
            </a:r>
          </a:p>
        </p:txBody>
      </p:sp>
      <p:sp>
        <p:nvSpPr>
          <p:cNvPr id="9" name="Octagon 8"/>
          <p:cNvSpPr/>
          <p:nvPr/>
        </p:nvSpPr>
        <p:spPr>
          <a:xfrm>
            <a:off x="2624328" y="4434840"/>
            <a:ext cx="237744" cy="365760"/>
          </a:xfrm>
          <a:prstGeom prst="octagon">
            <a:avLst/>
          </a:prstGeom>
          <a:solidFill>
            <a:srgbClr val="2E6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15768" y="3566160"/>
            <a:ext cx="2121408" cy="2286000"/>
          </a:xfrm>
          <a:prstGeom prst="rect">
            <a:avLst/>
          </a:prstGeom>
          <a:solidFill>
            <a:srgbClr val="E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25496" y="3703320"/>
            <a:ext cx="1901952" cy="548640"/>
          </a:xfrm>
          <a:prstGeom prst="rect">
            <a:avLst/>
          </a:prstGeom>
          <a:noFill/>
        </p:spPr>
        <p:txBody>
          <a:bodyPr wrap="square" lIns="0" tIns="0" rIns="0" bIns="0" anchor="t">
            <a:spAutoFit/>
          </a:bodyPr>
          <a:lstStyle/>
          <a:p>
            <a:pPr algn="ctr">
              <a:lnSpc>
                <a:spcPct val="105000"/>
              </a:lnSpc>
            </a:pPr>
            <a:r>
              <a:rPr sz="1600" b="1">
                <a:solidFill>
                  <a:srgbClr val="152042"/>
                </a:solidFill>
                <a:latin typeface="Calibri"/>
              </a:rPr>
              <a:t>2. Modélisation</a:t>
            </a:r>
          </a:p>
        </p:txBody>
      </p:sp>
      <p:sp>
        <p:nvSpPr>
          <p:cNvPr id="12" name="TextBox 11"/>
          <p:cNvSpPr txBox="1"/>
          <p:nvPr/>
        </p:nvSpPr>
        <p:spPr>
          <a:xfrm>
            <a:off x="2825496" y="4389120"/>
            <a:ext cx="1901952" cy="1280160"/>
          </a:xfrm>
          <a:prstGeom prst="rect">
            <a:avLst/>
          </a:prstGeom>
          <a:noFill/>
        </p:spPr>
        <p:txBody>
          <a:bodyPr wrap="square" lIns="0" tIns="0" rIns="0" bIns="0" anchor="t">
            <a:spAutoFit/>
          </a:bodyPr>
          <a:lstStyle/>
          <a:p>
            <a:pPr algn="ctr">
              <a:lnSpc>
                <a:spcPct val="105000"/>
              </a:lnSpc>
            </a:pPr>
            <a:r>
              <a:rPr sz="1150" b="0">
                <a:solidFill>
                  <a:srgbClr val="606A7E"/>
                </a:solidFill>
                <a:latin typeface="Calibri"/>
              </a:rPr>
              <a:t>MCD / MLD avec Looping, cartographie des données</a:t>
            </a:r>
          </a:p>
        </p:txBody>
      </p:sp>
      <p:sp>
        <p:nvSpPr>
          <p:cNvPr id="13" name="Octagon 12"/>
          <p:cNvSpPr/>
          <p:nvPr/>
        </p:nvSpPr>
        <p:spPr>
          <a:xfrm>
            <a:off x="4837175" y="4434840"/>
            <a:ext cx="237744" cy="365760"/>
          </a:xfrm>
          <a:prstGeom prst="octagon">
            <a:avLst/>
          </a:prstGeom>
          <a:solidFill>
            <a:srgbClr val="2E6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928616" y="3566160"/>
            <a:ext cx="2121408" cy="22860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38344" y="3703320"/>
            <a:ext cx="1901952" cy="548640"/>
          </a:xfrm>
          <a:prstGeom prst="rect">
            <a:avLst/>
          </a:prstGeom>
          <a:noFill/>
        </p:spPr>
        <p:txBody>
          <a:bodyPr wrap="square" lIns="0" tIns="0" rIns="0" bIns="0" anchor="t">
            <a:spAutoFit/>
          </a:bodyPr>
          <a:lstStyle/>
          <a:p>
            <a:pPr algn="ctr">
              <a:lnSpc>
                <a:spcPct val="105000"/>
              </a:lnSpc>
            </a:pPr>
            <a:r>
              <a:rPr sz="1600" b="1">
                <a:solidFill>
                  <a:srgbClr val="152042"/>
                </a:solidFill>
                <a:latin typeface="Calibri"/>
              </a:rPr>
              <a:t>3. Backend</a:t>
            </a:r>
          </a:p>
        </p:txBody>
      </p:sp>
      <p:sp>
        <p:nvSpPr>
          <p:cNvPr id="16" name="TextBox 15"/>
          <p:cNvSpPr txBox="1"/>
          <p:nvPr/>
        </p:nvSpPr>
        <p:spPr>
          <a:xfrm>
            <a:off x="5038344" y="4389120"/>
            <a:ext cx="1901952" cy="1280160"/>
          </a:xfrm>
          <a:prstGeom prst="rect">
            <a:avLst/>
          </a:prstGeom>
          <a:noFill/>
        </p:spPr>
        <p:txBody>
          <a:bodyPr wrap="square" lIns="0" tIns="0" rIns="0" bIns="0" anchor="t">
            <a:spAutoFit/>
          </a:bodyPr>
          <a:lstStyle/>
          <a:p>
            <a:pPr algn="ctr">
              <a:lnSpc>
                <a:spcPct val="105000"/>
              </a:lnSpc>
            </a:pPr>
            <a:r>
              <a:rPr sz="1150" b="0">
                <a:solidFill>
                  <a:srgbClr val="606A7E"/>
                </a:solidFill>
                <a:latin typeface="Calibri"/>
              </a:rPr>
              <a:t>FastAPI, 84 endpoints, 17 migrations versionnées</a:t>
            </a:r>
          </a:p>
        </p:txBody>
      </p:sp>
      <p:sp>
        <p:nvSpPr>
          <p:cNvPr id="17" name="Octagon 16"/>
          <p:cNvSpPr/>
          <p:nvPr/>
        </p:nvSpPr>
        <p:spPr>
          <a:xfrm>
            <a:off x="7050023" y="4434840"/>
            <a:ext cx="237744" cy="365760"/>
          </a:xfrm>
          <a:prstGeom prst="octagon">
            <a:avLst/>
          </a:prstGeom>
          <a:solidFill>
            <a:srgbClr val="2E6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141464" y="3566160"/>
            <a:ext cx="2121408" cy="2286000"/>
          </a:xfrm>
          <a:prstGeom prst="rect">
            <a:avLst/>
          </a:prstGeom>
          <a:solidFill>
            <a:srgbClr val="E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251192" y="3703320"/>
            <a:ext cx="1901952" cy="548640"/>
          </a:xfrm>
          <a:prstGeom prst="rect">
            <a:avLst/>
          </a:prstGeom>
          <a:noFill/>
        </p:spPr>
        <p:txBody>
          <a:bodyPr wrap="square" lIns="0" tIns="0" rIns="0" bIns="0" anchor="t">
            <a:spAutoFit/>
          </a:bodyPr>
          <a:lstStyle/>
          <a:p>
            <a:pPr algn="ctr">
              <a:lnSpc>
                <a:spcPct val="105000"/>
              </a:lnSpc>
            </a:pPr>
            <a:r>
              <a:rPr sz="1600" b="1">
                <a:solidFill>
                  <a:srgbClr val="152042"/>
                </a:solidFill>
                <a:latin typeface="Calibri"/>
              </a:rPr>
              <a:t>4. Frontend</a:t>
            </a:r>
          </a:p>
        </p:txBody>
      </p:sp>
      <p:sp>
        <p:nvSpPr>
          <p:cNvPr id="20" name="TextBox 19"/>
          <p:cNvSpPr txBox="1"/>
          <p:nvPr/>
        </p:nvSpPr>
        <p:spPr>
          <a:xfrm>
            <a:off x="7251192" y="4389120"/>
            <a:ext cx="1901952" cy="1280160"/>
          </a:xfrm>
          <a:prstGeom prst="rect">
            <a:avLst/>
          </a:prstGeom>
          <a:noFill/>
        </p:spPr>
        <p:txBody>
          <a:bodyPr wrap="square" lIns="0" tIns="0" rIns="0" bIns="0" anchor="t">
            <a:spAutoFit/>
          </a:bodyPr>
          <a:lstStyle/>
          <a:p>
            <a:pPr algn="ctr">
              <a:lnSpc>
                <a:spcPct val="105000"/>
              </a:lnSpc>
            </a:pPr>
            <a:r>
              <a:rPr sz="1150" b="0">
                <a:solidFill>
                  <a:srgbClr val="606A7E"/>
                </a:solidFill>
                <a:latin typeface="Calibri"/>
              </a:rPr>
              <a:t>React + Vite, deux espaces (admin / alumni), 14 routes</a:t>
            </a:r>
          </a:p>
        </p:txBody>
      </p:sp>
      <p:sp>
        <p:nvSpPr>
          <p:cNvPr id="21" name="Octagon 20"/>
          <p:cNvSpPr/>
          <p:nvPr/>
        </p:nvSpPr>
        <p:spPr>
          <a:xfrm>
            <a:off x="9262872" y="4434840"/>
            <a:ext cx="237744" cy="365760"/>
          </a:xfrm>
          <a:prstGeom prst="octagon">
            <a:avLst/>
          </a:prstGeom>
          <a:solidFill>
            <a:srgbClr val="2E6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354312" y="3566160"/>
            <a:ext cx="2121408" cy="22860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64040" y="3703320"/>
            <a:ext cx="1901952" cy="548640"/>
          </a:xfrm>
          <a:prstGeom prst="rect">
            <a:avLst/>
          </a:prstGeom>
          <a:noFill/>
        </p:spPr>
        <p:txBody>
          <a:bodyPr wrap="square" lIns="0" tIns="0" rIns="0" bIns="0" anchor="t">
            <a:spAutoFit/>
          </a:bodyPr>
          <a:lstStyle/>
          <a:p>
            <a:pPr algn="ctr">
              <a:lnSpc>
                <a:spcPct val="105000"/>
              </a:lnSpc>
            </a:pPr>
            <a:r>
              <a:rPr sz="1600" b="1">
                <a:solidFill>
                  <a:srgbClr val="152042"/>
                </a:solidFill>
                <a:latin typeface="Calibri"/>
              </a:rPr>
              <a:t>5. Audits &amp; livrables</a:t>
            </a:r>
          </a:p>
        </p:txBody>
      </p:sp>
      <p:sp>
        <p:nvSpPr>
          <p:cNvPr id="24" name="TextBox 23"/>
          <p:cNvSpPr txBox="1"/>
          <p:nvPr/>
        </p:nvSpPr>
        <p:spPr>
          <a:xfrm>
            <a:off x="9464040" y="4389120"/>
            <a:ext cx="1901952" cy="1280160"/>
          </a:xfrm>
          <a:prstGeom prst="rect">
            <a:avLst/>
          </a:prstGeom>
          <a:noFill/>
        </p:spPr>
        <p:txBody>
          <a:bodyPr wrap="square" lIns="0" tIns="0" rIns="0" bIns="0" anchor="t">
            <a:spAutoFit/>
          </a:bodyPr>
          <a:lstStyle/>
          <a:p>
            <a:pPr algn="ctr">
              <a:lnSpc>
                <a:spcPct val="105000"/>
              </a:lnSpc>
            </a:pPr>
            <a:r>
              <a:rPr sz="1150" b="0">
                <a:solidFill>
                  <a:srgbClr val="606A7E"/>
                </a:solidFill>
                <a:latin typeface="Calibri"/>
              </a:rPr>
              <a:t>cohérence base / API, sécurité, 5 documents</a:t>
            </a:r>
          </a:p>
        </p:txBody>
      </p:sp>
      <p:sp>
        <p:nvSpPr>
          <p:cNvPr id="25" name="TextBox 24"/>
          <p:cNvSpPr txBox="1"/>
          <p:nvPr/>
        </p:nvSpPr>
        <p:spPr>
          <a:xfrm>
            <a:off x="640080" y="1737360"/>
            <a:ext cx="10881360" cy="548640"/>
          </a:xfrm>
          <a:prstGeom prst="rect">
            <a:avLst/>
          </a:prstGeom>
          <a:noFill/>
        </p:spPr>
        <p:txBody>
          <a:bodyPr wrap="square" lIns="0" tIns="0" rIns="0" bIns="0" anchor="t">
            <a:spAutoFit/>
          </a:bodyPr>
          <a:lstStyle/>
          <a:p>
            <a:pPr algn="l">
              <a:lnSpc>
                <a:spcPct val="105000"/>
              </a:lnSpc>
            </a:pPr>
            <a:r>
              <a:rPr sz="1700" b="1">
                <a:solidFill>
                  <a:srgbClr val="152042"/>
                </a:solidFill>
                <a:latin typeface="Calibri"/>
              </a:rPr>
              <a:t>Démarche itérative : une fonctionnalité développée et consolidée avant la suivante.</a:t>
            </a:r>
          </a:p>
        </p:txBody>
      </p:sp>
      <p:sp>
        <p:nvSpPr>
          <p:cNvPr id="26" name="TextBox 25"/>
          <p:cNvSpPr txBox="1"/>
          <p:nvPr/>
        </p:nvSpPr>
        <p:spPr>
          <a:xfrm>
            <a:off x="640080" y="2286000"/>
            <a:ext cx="10881360" cy="914400"/>
          </a:xfrm>
          <a:prstGeom prst="rect">
            <a:avLst/>
          </a:prstGeom>
          <a:noFill/>
        </p:spPr>
        <p:txBody>
          <a:bodyPr wrap="square" lIns="0" tIns="0" rIns="0" bIns="0" anchor="t">
            <a:spAutoFit/>
          </a:bodyPr>
          <a:lstStyle/>
          <a:p>
            <a:pPr algn="l">
              <a:lnSpc>
                <a:spcPct val="105000"/>
              </a:lnSpc>
            </a:pPr>
            <a:r>
              <a:rPr sz="1500" b="0">
                <a:solidFill>
                  <a:srgbClr val="606A7E"/>
                </a:solidFill>
                <a:latin typeface="Calibri"/>
              </a:rPr>
              <a:t>Stage de substitution proposé par IONIS-STM, mené en solo avec une autonomie totale sur les choix techniques.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2191695" cy="1051560"/>
          </a:xfrm>
          <a:prstGeom prst="rect">
            <a:avLst/>
          </a:prstGeom>
          <a:noFill/>
        </p:spPr>
        <p:txBody>
          <a:bodyPr wrap="square" lIns="0" tIns="0" rIns="0" bIns="0" anchor="t">
            <a:spAutoFit/>
          </a:bodyPr>
          <a:lstStyle/>
          <a:p>
            <a:pPr algn="l">
              <a:lnSpc>
                <a:spcPct val="105000"/>
              </a:lnSpc>
            </a:pPr>
            <a:r>
              <a:rPr sz="2700" b="1">
                <a:solidFill>
                  <a:srgbClr val="152042"/>
                </a:solidFill>
                <a:latin typeface="Calibri"/>
              </a:rPr>
              <a:t>Étape 1 — Cadrage</a:t>
            </a:r>
          </a:p>
        </p:txBody>
      </p:sp>
      <p:sp>
        <p:nvSpPr>
          <p:cNvPr id="3" name="TextBox 2"/>
          <p:cNvSpPr txBox="1"/>
          <p:nvPr/>
        </p:nvSpPr>
        <p:spPr>
          <a:xfrm>
            <a:off x="502920" y="932688"/>
            <a:ext cx="2377440" cy="82296"/>
          </a:xfrm>
          <a:prstGeom prst="rect">
            <a:avLst/>
          </a:prstGeom>
          <a:solidFill>
            <a:srgbClr val="2EA06E"/>
          </a:solidFill>
        </p:spPr>
        <p:txBody>
          <a:bodyPr wrap="square" lIns="0" tIns="0" rIns="0" bIns="0" anchor="t">
            <a:spAutoFit/>
          </a:bodyPr>
          <a:lstStyle/>
          <a:p>
            <a:pPr algn="l">
              <a:lnSpc>
                <a:spcPct val="105000"/>
              </a:lnSpc>
            </a:pPr>
            <a:endParaRPr/>
          </a:p>
        </p:txBody>
      </p:sp>
      <p:sp>
        <p:nvSpPr>
          <p:cNvPr id="4" name="TextBox 3"/>
          <p:cNvSpPr txBox="1"/>
          <p:nvPr/>
        </p:nvSpPr>
        <p:spPr>
          <a:xfrm>
            <a:off x="0" y="1078992"/>
            <a:ext cx="12191695" cy="365760"/>
          </a:xfrm>
          <a:prstGeom prst="rect">
            <a:avLst/>
          </a:prstGeom>
          <a:noFill/>
        </p:spPr>
        <p:txBody>
          <a:bodyPr wrap="square" lIns="0" tIns="0" rIns="0" bIns="0" anchor="t">
            <a:spAutoFit/>
          </a:bodyPr>
          <a:lstStyle/>
          <a:p>
            <a:pPr algn="l">
              <a:lnSpc>
                <a:spcPct val="105000"/>
              </a:lnSpc>
            </a:pPr>
            <a:r>
              <a:rPr sz="1500" b="0">
                <a:solidFill>
                  <a:srgbClr val="606A7E"/>
                </a:solidFill>
                <a:latin typeface="Calibri"/>
              </a:rPr>
              <a:t>recueil du besoin et du contexte métier</a:t>
            </a:r>
          </a:p>
        </p:txBody>
      </p:sp>
      <p:sp>
        <p:nvSpPr>
          <p:cNvPr id="5" name="TextBox 4"/>
          <p:cNvSpPr txBox="1"/>
          <p:nvPr/>
        </p:nvSpPr>
        <p:spPr>
          <a:xfrm>
            <a:off x="11109960" y="201168"/>
            <a:ext cx="868680" cy="365760"/>
          </a:xfrm>
          <a:prstGeom prst="rect">
            <a:avLst/>
          </a:prstGeom>
          <a:noFill/>
        </p:spPr>
        <p:txBody>
          <a:bodyPr wrap="square" lIns="0" tIns="0" rIns="0" bIns="0" anchor="t">
            <a:spAutoFit/>
          </a:bodyPr>
          <a:lstStyle/>
          <a:p>
            <a:pPr algn="r">
              <a:lnSpc>
                <a:spcPct val="105000"/>
              </a:lnSpc>
            </a:pPr>
            <a:r>
              <a:rPr sz="1200" b="0">
                <a:solidFill>
                  <a:srgbClr val="606A7E"/>
                </a:solidFill>
                <a:latin typeface="Calibri"/>
              </a:rPr>
              <a:t>0:30</a:t>
            </a:r>
          </a:p>
        </p:txBody>
      </p:sp>
      <p:sp>
        <p:nvSpPr>
          <p:cNvPr id="6" name="TextBox 5"/>
          <p:cNvSpPr txBox="1"/>
          <p:nvPr/>
        </p:nvSpPr>
        <p:spPr>
          <a:xfrm>
            <a:off x="0" y="6446520"/>
            <a:ext cx="12191695" cy="320040"/>
          </a:xfrm>
          <a:prstGeom prst="rect">
            <a:avLst/>
          </a:prstGeom>
          <a:solidFill>
            <a:srgbClr val="152042"/>
          </a:solidFill>
        </p:spPr>
        <p:txBody>
          <a:bodyPr wrap="square" lIns="0" tIns="0" rIns="0" bIns="0" anchor="t">
            <a:spAutoFit/>
          </a:bodyPr>
          <a:lstStyle/>
          <a:p>
            <a:pPr algn="l">
              <a:lnSpc>
                <a:spcPct val="105000"/>
              </a:lnSpc>
            </a:pPr>
            <a:endParaRPr/>
          </a:p>
        </p:txBody>
      </p:sp>
      <p:sp>
        <p:nvSpPr>
          <p:cNvPr id="7" name="TextBox 6"/>
          <p:cNvSpPr txBox="1"/>
          <p:nvPr/>
        </p:nvSpPr>
        <p:spPr>
          <a:xfrm>
            <a:off x="640080" y="1600200"/>
            <a:ext cx="5669280" cy="4572000"/>
          </a:xfrm>
          <a:prstGeom prst="rect">
            <a:avLst/>
          </a:prstGeom>
          <a:noFill/>
        </p:spPr>
        <p:txBody>
          <a:bodyPr wrap="square" lIns="0" tIns="0" rIns="0" bIns="0">
            <a:spAutoFit/>
          </a:bodyPr>
          <a:lstStyle/>
          <a:p>
            <a:pPr>
              <a:lnSpc>
                <a:spcPct val="112000"/>
              </a:lnSpc>
              <a:spcAft>
                <a:spcPts val="1000"/>
              </a:spcAft>
            </a:pPr>
            <a:r>
              <a:rPr sz="1600">
                <a:solidFill>
                  <a:srgbClr val="152042"/>
                </a:solidFill>
                <a:latin typeface="Calibri"/>
              </a:rPr>
              <a:t>Entretiens avec l'équipe de l'école pour comprendre le besoin réel</a:t>
            </a:r>
          </a:p>
          <a:p>
            <a:pPr>
              <a:lnSpc>
                <a:spcPct val="112000"/>
              </a:lnSpc>
              <a:spcAft>
                <a:spcPts val="1000"/>
              </a:spcAft>
            </a:pPr>
            <a:r>
              <a:rPr sz="1600">
                <a:solidFill>
                  <a:srgbClr val="152042"/>
                </a:solidFill>
                <a:latin typeface="Calibri"/>
              </a:rPr>
              <a:t>État des lieux : le suivi se fait dans des fichiers Excel, sans vue d'ensemble</a:t>
            </a:r>
          </a:p>
          <a:p>
            <a:pPr>
              <a:lnSpc>
                <a:spcPct val="112000"/>
              </a:lnSpc>
              <a:spcAft>
                <a:spcPts val="1000"/>
              </a:spcAft>
            </a:pPr>
            <a:r>
              <a:rPr sz="1600">
                <a:solidFill>
                  <a:srgbClr val="152042"/>
                </a:solidFill>
                <a:latin typeface="Calibri"/>
              </a:rPr>
              <a:t>4 objectifs validés : cycle de vie étudiant, insertion, réseau alumni, RGPD</a:t>
            </a:r>
          </a:p>
          <a:p>
            <a:pPr>
              <a:lnSpc>
                <a:spcPct val="112000"/>
              </a:lnSpc>
              <a:spcAft>
                <a:spcPts val="1000"/>
              </a:spcAft>
            </a:pPr>
            <a:r>
              <a:rPr sz="1600">
                <a:solidFill>
                  <a:srgbClr val="152042"/>
                </a:solidFill>
                <a:latin typeface="Calibri"/>
              </a:rPr>
              <a:t>Cadrage des deux espaces : école (admin) et anciens étudiants (alumni)</a:t>
            </a:r>
          </a:p>
        </p:txBody>
      </p:sp>
      <p:pic>
        <p:nvPicPr>
          <p:cNvPr id="8" name="Picture 7" descr="login_light.png"/>
          <p:cNvPicPr>
            <a:picLocks noChangeAspect="1"/>
          </p:cNvPicPr>
          <p:nvPr/>
        </p:nvPicPr>
        <p:blipFill>
          <a:blip r:embed="rId3"/>
          <a:stretch>
            <a:fillRect/>
          </a:stretch>
        </p:blipFill>
        <p:spPr>
          <a:xfrm>
            <a:off x="6629400" y="2160270"/>
            <a:ext cx="4937760" cy="3086100"/>
          </a:xfrm>
          <a:prstGeom prst="rect">
            <a:avLst/>
          </a:prstGeom>
        </p:spPr>
      </p:pic>
      <p:sp>
        <p:nvSpPr>
          <p:cNvPr id="9" name="TextBox 8"/>
          <p:cNvSpPr txBox="1"/>
          <p:nvPr/>
        </p:nvSpPr>
        <p:spPr>
          <a:xfrm>
            <a:off x="6629400" y="5852160"/>
            <a:ext cx="4937760" cy="365760"/>
          </a:xfrm>
          <a:prstGeom prst="rect">
            <a:avLst/>
          </a:prstGeom>
          <a:noFill/>
        </p:spPr>
        <p:txBody>
          <a:bodyPr wrap="square" lIns="0" tIns="0" rIns="0" bIns="0" anchor="t">
            <a:spAutoFit/>
          </a:bodyPr>
          <a:lstStyle/>
          <a:p>
            <a:pPr algn="ctr">
              <a:lnSpc>
                <a:spcPct val="105000"/>
              </a:lnSpc>
            </a:pPr>
            <a:r>
              <a:rPr sz="1300" b="0">
                <a:solidFill>
                  <a:srgbClr val="606A7E"/>
                </a:solidFill>
                <a:latin typeface="Calibri"/>
              </a:rPr>
              <a:t>la porte d'entrée : deux espaces dès le départ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2191695" cy="1051560"/>
          </a:xfrm>
          <a:prstGeom prst="rect">
            <a:avLst/>
          </a:prstGeom>
          <a:noFill/>
        </p:spPr>
        <p:txBody>
          <a:bodyPr wrap="square" lIns="0" tIns="0" rIns="0" bIns="0" anchor="t">
            <a:spAutoFit/>
          </a:bodyPr>
          <a:lstStyle/>
          <a:p>
            <a:pPr algn="l">
              <a:lnSpc>
                <a:spcPct val="105000"/>
              </a:lnSpc>
            </a:pPr>
            <a:r>
              <a:rPr sz="2700" b="1">
                <a:solidFill>
                  <a:srgbClr val="152042"/>
                </a:solidFill>
                <a:latin typeface="Calibri"/>
              </a:rPr>
              <a:t>Étape 2 — Modélisation</a:t>
            </a:r>
          </a:p>
        </p:txBody>
      </p:sp>
      <p:sp>
        <p:nvSpPr>
          <p:cNvPr id="3" name="TextBox 2"/>
          <p:cNvSpPr txBox="1"/>
          <p:nvPr/>
        </p:nvSpPr>
        <p:spPr>
          <a:xfrm>
            <a:off x="502920" y="932688"/>
            <a:ext cx="2377440" cy="82296"/>
          </a:xfrm>
          <a:prstGeom prst="rect">
            <a:avLst/>
          </a:prstGeom>
          <a:solidFill>
            <a:srgbClr val="2EA06E"/>
          </a:solidFill>
        </p:spPr>
        <p:txBody>
          <a:bodyPr wrap="square" lIns="0" tIns="0" rIns="0" bIns="0" anchor="t">
            <a:spAutoFit/>
          </a:bodyPr>
          <a:lstStyle/>
          <a:p>
            <a:pPr algn="l">
              <a:lnSpc>
                <a:spcPct val="105000"/>
              </a:lnSpc>
            </a:pPr>
            <a:endParaRPr/>
          </a:p>
        </p:txBody>
      </p:sp>
      <p:sp>
        <p:nvSpPr>
          <p:cNvPr id="4" name="TextBox 3"/>
          <p:cNvSpPr txBox="1"/>
          <p:nvPr/>
        </p:nvSpPr>
        <p:spPr>
          <a:xfrm>
            <a:off x="0" y="1078992"/>
            <a:ext cx="12191695" cy="365760"/>
          </a:xfrm>
          <a:prstGeom prst="rect">
            <a:avLst/>
          </a:prstGeom>
          <a:noFill/>
        </p:spPr>
        <p:txBody>
          <a:bodyPr wrap="square" lIns="0" tIns="0" rIns="0" bIns="0" anchor="t">
            <a:spAutoFit/>
          </a:bodyPr>
          <a:lstStyle/>
          <a:p>
            <a:pPr algn="l">
              <a:lnSpc>
                <a:spcPct val="105000"/>
              </a:lnSpc>
            </a:pPr>
            <a:r>
              <a:rPr sz="1500" b="0">
                <a:solidFill>
                  <a:srgbClr val="606A7E"/>
                </a:solidFill>
                <a:latin typeface="Calibri"/>
              </a:rPr>
              <a:t>MCD / MLD avec Looping, cartographie des données</a:t>
            </a:r>
          </a:p>
        </p:txBody>
      </p:sp>
      <p:sp>
        <p:nvSpPr>
          <p:cNvPr id="5" name="TextBox 4"/>
          <p:cNvSpPr txBox="1"/>
          <p:nvPr/>
        </p:nvSpPr>
        <p:spPr>
          <a:xfrm>
            <a:off x="11109960" y="201168"/>
            <a:ext cx="868680" cy="365760"/>
          </a:xfrm>
          <a:prstGeom prst="rect">
            <a:avLst/>
          </a:prstGeom>
          <a:noFill/>
        </p:spPr>
        <p:txBody>
          <a:bodyPr wrap="square" lIns="0" tIns="0" rIns="0" bIns="0" anchor="t">
            <a:spAutoFit/>
          </a:bodyPr>
          <a:lstStyle/>
          <a:p>
            <a:pPr algn="r">
              <a:lnSpc>
                <a:spcPct val="105000"/>
              </a:lnSpc>
            </a:pPr>
            <a:r>
              <a:rPr sz="1200" b="0">
                <a:solidFill>
                  <a:srgbClr val="606A7E"/>
                </a:solidFill>
                <a:latin typeface="Calibri"/>
              </a:rPr>
              <a:t>0:30</a:t>
            </a:r>
          </a:p>
        </p:txBody>
      </p:sp>
      <p:sp>
        <p:nvSpPr>
          <p:cNvPr id="6" name="TextBox 5"/>
          <p:cNvSpPr txBox="1"/>
          <p:nvPr/>
        </p:nvSpPr>
        <p:spPr>
          <a:xfrm>
            <a:off x="0" y="6446520"/>
            <a:ext cx="12191695" cy="320040"/>
          </a:xfrm>
          <a:prstGeom prst="rect">
            <a:avLst/>
          </a:prstGeom>
          <a:solidFill>
            <a:srgbClr val="152042"/>
          </a:solidFill>
        </p:spPr>
        <p:txBody>
          <a:bodyPr wrap="square" lIns="0" tIns="0" rIns="0" bIns="0" anchor="t">
            <a:spAutoFit/>
          </a:bodyPr>
          <a:lstStyle/>
          <a:p>
            <a:pPr algn="l">
              <a:lnSpc>
                <a:spcPct val="105000"/>
              </a:lnSpc>
            </a:pPr>
            <a:endParaRPr/>
          </a:p>
        </p:txBody>
      </p:sp>
      <p:sp>
        <p:nvSpPr>
          <p:cNvPr id="7" name="TextBox 6"/>
          <p:cNvSpPr txBox="1"/>
          <p:nvPr/>
        </p:nvSpPr>
        <p:spPr>
          <a:xfrm>
            <a:off x="640080" y="1600200"/>
            <a:ext cx="5669280" cy="4572000"/>
          </a:xfrm>
          <a:prstGeom prst="rect">
            <a:avLst/>
          </a:prstGeom>
          <a:noFill/>
        </p:spPr>
        <p:txBody>
          <a:bodyPr wrap="square" lIns="0" tIns="0" rIns="0" bIns="0">
            <a:spAutoFit/>
          </a:bodyPr>
          <a:lstStyle/>
          <a:p>
            <a:pPr>
              <a:lnSpc>
                <a:spcPct val="112000"/>
              </a:lnSpc>
              <a:spcAft>
                <a:spcPts val="1000"/>
              </a:spcAft>
            </a:pPr>
            <a:r>
              <a:rPr sz="1600">
                <a:solidFill>
                  <a:srgbClr val="152042"/>
                </a:solidFill>
                <a:latin typeface="Calibri"/>
              </a:rPr>
              <a:t>MCD : les entités du métier (étudiant, expérience, certification, consentement…)</a:t>
            </a:r>
          </a:p>
          <a:p>
            <a:pPr>
              <a:lnSpc>
                <a:spcPct val="112000"/>
              </a:lnSpc>
              <a:spcAft>
                <a:spcPts val="1000"/>
              </a:spcAft>
            </a:pPr>
            <a:r>
              <a:rPr sz="1600">
                <a:solidFill>
                  <a:srgbClr val="152042"/>
                </a:solidFill>
                <a:latin typeface="Calibri"/>
              </a:rPr>
              <a:t>Modélisation avec Looping, des documents clairs et réutilisables</a:t>
            </a:r>
          </a:p>
          <a:p>
            <a:pPr>
              <a:lnSpc>
                <a:spcPct val="112000"/>
              </a:lnSpc>
              <a:spcAft>
                <a:spcPts val="1000"/>
              </a:spcAft>
            </a:pPr>
            <a:r>
              <a:rPr sz="1600">
                <a:solidFill>
                  <a:srgbClr val="152042"/>
                </a:solidFill>
                <a:latin typeface="Calibri"/>
              </a:rPr>
              <a:t>14 tables normalisées en 5 domaines, reprises en 17 migrations versionnées</a:t>
            </a:r>
          </a:p>
          <a:p>
            <a:pPr>
              <a:lnSpc>
                <a:spcPct val="112000"/>
              </a:lnSpc>
              <a:spcAft>
                <a:spcPts val="1000"/>
              </a:spcAft>
            </a:pPr>
            <a:r>
              <a:rPr sz="1600">
                <a:solidFill>
                  <a:srgbClr val="152042"/>
                </a:solidFill>
                <a:latin typeface="Calibri"/>
              </a:rPr>
              <a:t>Cartographie des données personnelles, exigée par le RGPD</a:t>
            </a:r>
          </a:p>
        </p:txBody>
      </p:sp>
      <p:pic>
        <p:nvPicPr>
          <p:cNvPr id="8" name="Picture 7" descr="MCD.png"/>
          <p:cNvPicPr>
            <a:picLocks noChangeAspect="1"/>
          </p:cNvPicPr>
          <p:nvPr/>
        </p:nvPicPr>
        <p:blipFill>
          <a:blip r:embed="rId3"/>
          <a:stretch>
            <a:fillRect/>
          </a:stretch>
        </p:blipFill>
        <p:spPr>
          <a:xfrm>
            <a:off x="6979822" y="1600200"/>
            <a:ext cx="4236915" cy="2148840"/>
          </a:xfrm>
          <a:prstGeom prst="rect">
            <a:avLst/>
          </a:prstGeom>
        </p:spPr>
      </p:pic>
      <p:sp>
        <p:nvSpPr>
          <p:cNvPr id="9" name="TextBox 8"/>
          <p:cNvSpPr txBox="1"/>
          <p:nvPr/>
        </p:nvSpPr>
        <p:spPr>
          <a:xfrm>
            <a:off x="6629400" y="3794760"/>
            <a:ext cx="4937760" cy="320040"/>
          </a:xfrm>
          <a:prstGeom prst="rect">
            <a:avLst/>
          </a:prstGeom>
          <a:noFill/>
        </p:spPr>
        <p:txBody>
          <a:bodyPr wrap="square" lIns="0" tIns="0" rIns="0" bIns="0" anchor="t">
            <a:spAutoFit/>
          </a:bodyPr>
          <a:lstStyle/>
          <a:p>
            <a:pPr algn="ctr">
              <a:lnSpc>
                <a:spcPct val="105000"/>
              </a:lnSpc>
            </a:pPr>
            <a:r>
              <a:rPr sz="1300" b="0">
                <a:solidFill>
                  <a:srgbClr val="606A7E"/>
                </a:solidFill>
                <a:latin typeface="Calibri"/>
              </a:rPr>
              <a:t>MCD — entités métier</a:t>
            </a:r>
          </a:p>
        </p:txBody>
      </p:sp>
      <p:pic>
        <p:nvPicPr>
          <p:cNvPr id="10" name="Picture 9" descr="MLD.png"/>
          <p:cNvPicPr>
            <a:picLocks noChangeAspect="1"/>
          </p:cNvPicPr>
          <p:nvPr/>
        </p:nvPicPr>
        <p:blipFill>
          <a:blip r:embed="rId4"/>
          <a:stretch>
            <a:fillRect/>
          </a:stretch>
        </p:blipFill>
        <p:spPr>
          <a:xfrm>
            <a:off x="7045738" y="4160520"/>
            <a:ext cx="4105082" cy="2148840"/>
          </a:xfrm>
          <a:prstGeom prst="rect">
            <a:avLst/>
          </a:prstGeom>
        </p:spPr>
      </p:pic>
      <p:sp>
        <p:nvSpPr>
          <p:cNvPr id="11" name="TextBox 10"/>
          <p:cNvSpPr txBox="1"/>
          <p:nvPr/>
        </p:nvSpPr>
        <p:spPr>
          <a:xfrm>
            <a:off x="6629400" y="6355080"/>
            <a:ext cx="4937760" cy="320040"/>
          </a:xfrm>
          <a:prstGeom prst="rect">
            <a:avLst/>
          </a:prstGeom>
          <a:noFill/>
        </p:spPr>
        <p:txBody>
          <a:bodyPr wrap="square" lIns="0" tIns="0" rIns="0" bIns="0" anchor="t">
            <a:spAutoFit/>
          </a:bodyPr>
          <a:lstStyle/>
          <a:p>
            <a:pPr algn="ctr">
              <a:lnSpc>
                <a:spcPct val="105000"/>
              </a:lnSpc>
            </a:pPr>
            <a:r>
              <a:rPr sz="1300" b="0">
                <a:solidFill>
                  <a:srgbClr val="606A7E"/>
                </a:solidFill>
                <a:latin typeface="Calibri"/>
              </a:rPr>
              <a:t>MLD — 14 tables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2191695" cy="1051560"/>
          </a:xfrm>
          <a:prstGeom prst="rect">
            <a:avLst/>
          </a:prstGeom>
          <a:noFill/>
        </p:spPr>
        <p:txBody>
          <a:bodyPr wrap="square" lIns="0" tIns="0" rIns="0" bIns="0" anchor="t">
            <a:spAutoFit/>
          </a:bodyPr>
          <a:lstStyle/>
          <a:p>
            <a:pPr algn="l">
              <a:lnSpc>
                <a:spcPct val="105000"/>
              </a:lnSpc>
            </a:pPr>
            <a:r>
              <a:rPr sz="2700" b="1">
                <a:solidFill>
                  <a:srgbClr val="152042"/>
                </a:solidFill>
                <a:latin typeface="Calibri"/>
              </a:rPr>
              <a:t>Étape 3 — Backend</a:t>
            </a:r>
          </a:p>
        </p:txBody>
      </p:sp>
      <p:sp>
        <p:nvSpPr>
          <p:cNvPr id="3" name="TextBox 2"/>
          <p:cNvSpPr txBox="1"/>
          <p:nvPr/>
        </p:nvSpPr>
        <p:spPr>
          <a:xfrm>
            <a:off x="502920" y="932688"/>
            <a:ext cx="2377440" cy="82296"/>
          </a:xfrm>
          <a:prstGeom prst="rect">
            <a:avLst/>
          </a:prstGeom>
          <a:solidFill>
            <a:srgbClr val="2EA06E"/>
          </a:solidFill>
        </p:spPr>
        <p:txBody>
          <a:bodyPr wrap="square" lIns="0" tIns="0" rIns="0" bIns="0" anchor="t">
            <a:spAutoFit/>
          </a:bodyPr>
          <a:lstStyle/>
          <a:p>
            <a:pPr algn="l">
              <a:lnSpc>
                <a:spcPct val="105000"/>
              </a:lnSpc>
            </a:pPr>
            <a:endParaRPr/>
          </a:p>
        </p:txBody>
      </p:sp>
      <p:sp>
        <p:nvSpPr>
          <p:cNvPr id="4" name="TextBox 3"/>
          <p:cNvSpPr txBox="1"/>
          <p:nvPr/>
        </p:nvSpPr>
        <p:spPr>
          <a:xfrm>
            <a:off x="0" y="1078992"/>
            <a:ext cx="12191695" cy="365760"/>
          </a:xfrm>
          <a:prstGeom prst="rect">
            <a:avLst/>
          </a:prstGeom>
          <a:noFill/>
        </p:spPr>
        <p:txBody>
          <a:bodyPr wrap="square" lIns="0" tIns="0" rIns="0" bIns="0" anchor="t">
            <a:spAutoFit/>
          </a:bodyPr>
          <a:lstStyle/>
          <a:p>
            <a:pPr algn="l">
              <a:lnSpc>
                <a:spcPct val="105000"/>
              </a:lnSpc>
            </a:pPr>
            <a:r>
              <a:rPr sz="1500" b="0">
                <a:solidFill>
                  <a:srgbClr val="606A7E"/>
                </a:solidFill>
                <a:latin typeface="Calibri"/>
              </a:rPr>
              <a:t>FastAPI, 84 endpoints, 17 migrations versionnées</a:t>
            </a:r>
          </a:p>
        </p:txBody>
      </p:sp>
      <p:sp>
        <p:nvSpPr>
          <p:cNvPr id="5" name="TextBox 4"/>
          <p:cNvSpPr txBox="1"/>
          <p:nvPr/>
        </p:nvSpPr>
        <p:spPr>
          <a:xfrm>
            <a:off x="11109960" y="201168"/>
            <a:ext cx="868680" cy="365760"/>
          </a:xfrm>
          <a:prstGeom prst="rect">
            <a:avLst/>
          </a:prstGeom>
          <a:noFill/>
        </p:spPr>
        <p:txBody>
          <a:bodyPr wrap="square" lIns="0" tIns="0" rIns="0" bIns="0" anchor="t">
            <a:spAutoFit/>
          </a:bodyPr>
          <a:lstStyle/>
          <a:p>
            <a:pPr algn="r">
              <a:lnSpc>
                <a:spcPct val="105000"/>
              </a:lnSpc>
            </a:pPr>
            <a:r>
              <a:rPr sz="1200" b="0">
                <a:solidFill>
                  <a:srgbClr val="606A7E"/>
                </a:solidFill>
                <a:latin typeface="Calibri"/>
              </a:rPr>
              <a:t>0:30</a:t>
            </a:r>
          </a:p>
        </p:txBody>
      </p:sp>
      <p:sp>
        <p:nvSpPr>
          <p:cNvPr id="6" name="TextBox 5"/>
          <p:cNvSpPr txBox="1"/>
          <p:nvPr/>
        </p:nvSpPr>
        <p:spPr>
          <a:xfrm>
            <a:off x="0" y="6446520"/>
            <a:ext cx="12191695" cy="320040"/>
          </a:xfrm>
          <a:prstGeom prst="rect">
            <a:avLst/>
          </a:prstGeom>
          <a:solidFill>
            <a:srgbClr val="152042"/>
          </a:solidFill>
        </p:spPr>
        <p:txBody>
          <a:bodyPr wrap="square" lIns="0" tIns="0" rIns="0" bIns="0" anchor="t">
            <a:spAutoFit/>
          </a:bodyPr>
          <a:lstStyle/>
          <a:p>
            <a:pPr algn="l">
              <a:lnSpc>
                <a:spcPct val="105000"/>
              </a:lnSpc>
            </a:pPr>
            <a:endParaRPr/>
          </a:p>
        </p:txBody>
      </p:sp>
      <p:sp>
        <p:nvSpPr>
          <p:cNvPr id="7" name="TextBox 6"/>
          <p:cNvSpPr txBox="1"/>
          <p:nvPr/>
        </p:nvSpPr>
        <p:spPr>
          <a:xfrm>
            <a:off x="640080" y="1600200"/>
            <a:ext cx="5669280" cy="4572000"/>
          </a:xfrm>
          <a:prstGeom prst="rect">
            <a:avLst/>
          </a:prstGeom>
          <a:noFill/>
        </p:spPr>
        <p:txBody>
          <a:bodyPr wrap="square" lIns="0" tIns="0" rIns="0" bIns="0">
            <a:spAutoFit/>
          </a:bodyPr>
          <a:lstStyle/>
          <a:p>
            <a:pPr>
              <a:lnSpc>
                <a:spcPct val="112000"/>
              </a:lnSpc>
              <a:spcAft>
                <a:spcPts val="1000"/>
              </a:spcAft>
            </a:pPr>
            <a:r>
              <a:rPr sz="1500">
                <a:solidFill>
                  <a:srgbClr val="152042"/>
                </a:solidFill>
                <a:latin typeface="Calibri"/>
              </a:rPr>
              <a:t>FastAPI : une API REST documentée automatiquement dans Swagger</a:t>
            </a:r>
          </a:p>
          <a:p>
            <a:pPr>
              <a:lnSpc>
                <a:spcPct val="112000"/>
              </a:lnSpc>
              <a:spcAft>
                <a:spcPts val="1000"/>
              </a:spcAft>
            </a:pPr>
            <a:r>
              <a:rPr sz="1500">
                <a:solidFill>
                  <a:srgbClr val="152042"/>
                </a:solidFill>
                <a:latin typeface="Calibri"/>
              </a:rPr>
              <a:t>84 endpoints répartis par domaine (dossiers, expériences, entreprises, RGPD…)</a:t>
            </a:r>
          </a:p>
          <a:p>
            <a:pPr>
              <a:lnSpc>
                <a:spcPct val="112000"/>
              </a:lnSpc>
              <a:spcAft>
                <a:spcPts val="1000"/>
              </a:spcAft>
            </a:pPr>
            <a:r>
              <a:rPr sz="1500">
                <a:solidFill>
                  <a:srgbClr val="152042"/>
                </a:solidFill>
                <a:latin typeface="Calibri"/>
              </a:rPr>
              <a:t>17 migrations versionnées : chaque évolution du schéma est tracée et rejouable</a:t>
            </a:r>
          </a:p>
          <a:p>
            <a:pPr>
              <a:lnSpc>
                <a:spcPct val="112000"/>
              </a:lnSpc>
              <a:spcAft>
                <a:spcPts val="1000"/>
              </a:spcAft>
            </a:pPr>
            <a:r>
              <a:rPr sz="1500">
                <a:solidFill>
                  <a:srgbClr val="152042"/>
                </a:solidFill>
                <a:latin typeface="Calibri"/>
              </a:rPr>
              <a:t>Sécurité : clé API admin, sessions JWT par rôle, code OTP à 6 chiffres (TTL 10 min)</a:t>
            </a:r>
          </a:p>
          <a:p>
            <a:pPr>
              <a:lnSpc>
                <a:spcPct val="112000"/>
              </a:lnSpc>
              <a:spcAft>
                <a:spcPts val="1000"/>
              </a:spcAft>
            </a:pPr>
            <a:r>
              <a:rPr sz="1500">
                <a:solidFill>
                  <a:srgbClr val="152042"/>
                </a:solidFill>
                <a:latin typeface="Calibri"/>
              </a:rPr>
              <a:t>Emails OTP et relances via Resend (console en développement)</a:t>
            </a:r>
          </a:p>
          <a:p>
            <a:pPr>
              <a:lnSpc>
                <a:spcPct val="112000"/>
              </a:lnSpc>
              <a:spcAft>
                <a:spcPts val="1000"/>
              </a:spcAft>
            </a:pPr>
            <a:r>
              <a:rPr sz="1500">
                <a:solidFill>
                  <a:srgbClr val="152042"/>
                </a:solidFill>
                <a:latin typeface="Calibri"/>
              </a:rPr>
              <a:t>Fin de stage : newsletter ciblée, relance questionnaire, indicateurs partenaires anonymisés, export groupé RGPD, PUT expérience atomique</a:t>
            </a:r>
          </a:p>
        </p:txBody>
      </p:sp>
      <p:pic>
        <p:nvPicPr>
          <p:cNvPr id="8" name="Picture 7" descr="swagger_light.png"/>
          <p:cNvPicPr>
            <a:picLocks noChangeAspect="1"/>
          </p:cNvPicPr>
          <p:nvPr/>
        </p:nvPicPr>
        <p:blipFill>
          <a:blip r:embed="rId3"/>
          <a:stretch>
            <a:fillRect/>
          </a:stretch>
        </p:blipFill>
        <p:spPr>
          <a:xfrm>
            <a:off x="6629400" y="2297430"/>
            <a:ext cx="4937760" cy="30861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2191695" cy="1051560"/>
          </a:xfrm>
          <a:prstGeom prst="rect">
            <a:avLst/>
          </a:prstGeom>
          <a:noFill/>
        </p:spPr>
        <p:txBody>
          <a:bodyPr wrap="square" lIns="0" tIns="0" rIns="0" bIns="0" anchor="t">
            <a:spAutoFit/>
          </a:bodyPr>
          <a:lstStyle/>
          <a:p>
            <a:pPr algn="l">
              <a:lnSpc>
                <a:spcPct val="105000"/>
              </a:lnSpc>
            </a:pPr>
            <a:r>
              <a:rPr sz="2700" b="1">
                <a:solidFill>
                  <a:srgbClr val="152042"/>
                </a:solidFill>
                <a:latin typeface="Calibri"/>
              </a:rPr>
              <a:t>Étape 4 — Frontend</a:t>
            </a:r>
          </a:p>
        </p:txBody>
      </p:sp>
      <p:sp>
        <p:nvSpPr>
          <p:cNvPr id="3" name="TextBox 2"/>
          <p:cNvSpPr txBox="1"/>
          <p:nvPr/>
        </p:nvSpPr>
        <p:spPr>
          <a:xfrm>
            <a:off x="502920" y="932688"/>
            <a:ext cx="2377440" cy="82296"/>
          </a:xfrm>
          <a:prstGeom prst="rect">
            <a:avLst/>
          </a:prstGeom>
          <a:solidFill>
            <a:srgbClr val="2EA06E"/>
          </a:solidFill>
        </p:spPr>
        <p:txBody>
          <a:bodyPr wrap="square" lIns="0" tIns="0" rIns="0" bIns="0" anchor="t">
            <a:spAutoFit/>
          </a:bodyPr>
          <a:lstStyle/>
          <a:p>
            <a:pPr algn="l">
              <a:lnSpc>
                <a:spcPct val="105000"/>
              </a:lnSpc>
            </a:pPr>
            <a:endParaRPr/>
          </a:p>
        </p:txBody>
      </p:sp>
      <p:sp>
        <p:nvSpPr>
          <p:cNvPr id="4" name="TextBox 3"/>
          <p:cNvSpPr txBox="1"/>
          <p:nvPr/>
        </p:nvSpPr>
        <p:spPr>
          <a:xfrm>
            <a:off x="0" y="1078992"/>
            <a:ext cx="12191695" cy="365760"/>
          </a:xfrm>
          <a:prstGeom prst="rect">
            <a:avLst/>
          </a:prstGeom>
          <a:noFill/>
        </p:spPr>
        <p:txBody>
          <a:bodyPr wrap="square" lIns="0" tIns="0" rIns="0" bIns="0" anchor="t">
            <a:spAutoFit/>
          </a:bodyPr>
          <a:lstStyle/>
          <a:p>
            <a:pPr algn="l">
              <a:lnSpc>
                <a:spcPct val="105000"/>
              </a:lnSpc>
            </a:pPr>
            <a:r>
              <a:rPr sz="1500" b="0">
                <a:solidFill>
                  <a:srgbClr val="606A7E"/>
                </a:solidFill>
                <a:latin typeface="Calibri"/>
              </a:rPr>
              <a:t>React + Vite, deux espaces (admin / alumni), 14 routes</a:t>
            </a:r>
          </a:p>
        </p:txBody>
      </p:sp>
      <p:sp>
        <p:nvSpPr>
          <p:cNvPr id="5" name="TextBox 4"/>
          <p:cNvSpPr txBox="1"/>
          <p:nvPr/>
        </p:nvSpPr>
        <p:spPr>
          <a:xfrm>
            <a:off x="11109960" y="201168"/>
            <a:ext cx="868680" cy="365760"/>
          </a:xfrm>
          <a:prstGeom prst="rect">
            <a:avLst/>
          </a:prstGeom>
          <a:noFill/>
        </p:spPr>
        <p:txBody>
          <a:bodyPr wrap="square" lIns="0" tIns="0" rIns="0" bIns="0" anchor="t">
            <a:spAutoFit/>
          </a:bodyPr>
          <a:lstStyle/>
          <a:p>
            <a:pPr algn="r">
              <a:lnSpc>
                <a:spcPct val="105000"/>
              </a:lnSpc>
            </a:pPr>
            <a:r>
              <a:rPr sz="1200" b="0">
                <a:solidFill>
                  <a:srgbClr val="606A7E"/>
                </a:solidFill>
                <a:latin typeface="Calibri"/>
              </a:rPr>
              <a:t>0:30</a:t>
            </a:r>
          </a:p>
        </p:txBody>
      </p:sp>
      <p:sp>
        <p:nvSpPr>
          <p:cNvPr id="6" name="TextBox 5"/>
          <p:cNvSpPr txBox="1"/>
          <p:nvPr/>
        </p:nvSpPr>
        <p:spPr>
          <a:xfrm>
            <a:off x="0" y="6446520"/>
            <a:ext cx="12191695" cy="320040"/>
          </a:xfrm>
          <a:prstGeom prst="rect">
            <a:avLst/>
          </a:prstGeom>
          <a:solidFill>
            <a:srgbClr val="152042"/>
          </a:solidFill>
        </p:spPr>
        <p:txBody>
          <a:bodyPr wrap="square" lIns="0" tIns="0" rIns="0" bIns="0" anchor="t">
            <a:spAutoFit/>
          </a:bodyPr>
          <a:lstStyle/>
          <a:p>
            <a:pPr algn="l">
              <a:lnSpc>
                <a:spcPct val="105000"/>
              </a:lnSpc>
            </a:pPr>
            <a:endParaRPr/>
          </a:p>
        </p:txBody>
      </p:sp>
      <p:sp>
        <p:nvSpPr>
          <p:cNvPr id="7" name="TextBox 6"/>
          <p:cNvSpPr txBox="1"/>
          <p:nvPr/>
        </p:nvSpPr>
        <p:spPr>
          <a:xfrm>
            <a:off x="640080" y="1600200"/>
            <a:ext cx="5669280" cy="4572000"/>
          </a:xfrm>
          <a:prstGeom prst="rect">
            <a:avLst/>
          </a:prstGeom>
          <a:noFill/>
        </p:spPr>
        <p:txBody>
          <a:bodyPr wrap="square" lIns="0" tIns="0" rIns="0" bIns="0">
            <a:spAutoFit/>
          </a:bodyPr>
          <a:lstStyle/>
          <a:p>
            <a:pPr>
              <a:lnSpc>
                <a:spcPct val="112000"/>
              </a:lnSpc>
              <a:spcAft>
                <a:spcPts val="1000"/>
              </a:spcAft>
            </a:pPr>
            <a:r>
              <a:rPr sz="1600">
                <a:solidFill>
                  <a:srgbClr val="152042"/>
                </a:solidFill>
                <a:latin typeface="Calibri"/>
              </a:rPr>
              <a:t>React + Vite : composants réutilisables, thème clair / sombre</a:t>
            </a:r>
          </a:p>
          <a:p>
            <a:pPr>
              <a:lnSpc>
                <a:spcPct val="112000"/>
              </a:lnSpc>
              <a:spcAft>
                <a:spcPts val="1000"/>
              </a:spcAft>
            </a:pPr>
            <a:r>
              <a:rPr sz="1600">
                <a:solidFill>
                  <a:srgbClr val="152042"/>
                </a:solidFill>
                <a:latin typeface="Calibri"/>
              </a:rPr>
              <a:t>14 routes frontend, protection par rôle dans le navigateur</a:t>
            </a:r>
          </a:p>
          <a:p>
            <a:pPr>
              <a:lnSpc>
                <a:spcPct val="112000"/>
              </a:lnSpc>
              <a:spcAft>
                <a:spcPts val="1000"/>
              </a:spcAft>
            </a:pPr>
            <a:r>
              <a:rPr sz="1600">
                <a:solidFill>
                  <a:srgbClr val="152042"/>
                </a:solidFill>
                <a:latin typeface="Calibri"/>
              </a:rPr>
              <a:t>Espace alumni : inscription guidée, profil, parcours, questionnaire, consentements</a:t>
            </a:r>
          </a:p>
          <a:p>
            <a:pPr>
              <a:lnSpc>
                <a:spcPct val="112000"/>
              </a:lnSpc>
              <a:spcAft>
                <a:spcPts val="1000"/>
              </a:spcAft>
            </a:pPr>
            <a:r>
              <a:rPr sz="1600">
                <a:solidFill>
                  <a:srgbClr val="152042"/>
                </a:solidFill>
                <a:latin typeface="Calibri"/>
              </a:rPr>
              <a:t>Espace admin : tableau de bord KPI, annuaire filtrable, import / export Excel</a:t>
            </a:r>
          </a:p>
          <a:p>
            <a:pPr>
              <a:lnSpc>
                <a:spcPct val="112000"/>
              </a:lnSpc>
              <a:spcAft>
                <a:spcPts val="1000"/>
              </a:spcAft>
            </a:pPr>
            <a:r>
              <a:rPr sz="1600">
                <a:solidFill>
                  <a:srgbClr val="152042"/>
                </a:solidFill>
                <a:latin typeface="Calibri"/>
              </a:rPr>
              <a:t>Chaque écran consomme les endpoints de l'API</a:t>
            </a:r>
          </a:p>
        </p:txBody>
      </p:sp>
      <p:pic>
        <p:nvPicPr>
          <p:cNvPr id="8" name="Picture 7" descr="anC_profil_light_1.png"/>
          <p:cNvPicPr>
            <a:picLocks noChangeAspect="1"/>
          </p:cNvPicPr>
          <p:nvPr/>
        </p:nvPicPr>
        <p:blipFill>
          <a:blip r:embed="rId3"/>
          <a:stretch>
            <a:fillRect/>
          </a:stretch>
        </p:blipFill>
        <p:spPr>
          <a:xfrm>
            <a:off x="7603434" y="1600200"/>
            <a:ext cx="2989690" cy="2148840"/>
          </a:xfrm>
          <a:prstGeom prst="rect">
            <a:avLst/>
          </a:prstGeom>
        </p:spPr>
      </p:pic>
      <p:sp>
        <p:nvSpPr>
          <p:cNvPr id="9" name="TextBox 8"/>
          <p:cNvSpPr txBox="1"/>
          <p:nvPr/>
        </p:nvSpPr>
        <p:spPr>
          <a:xfrm>
            <a:off x="6629400" y="3794760"/>
            <a:ext cx="4937760" cy="320040"/>
          </a:xfrm>
          <a:prstGeom prst="rect">
            <a:avLst/>
          </a:prstGeom>
          <a:noFill/>
        </p:spPr>
        <p:txBody>
          <a:bodyPr wrap="square" lIns="0" tIns="0" rIns="0" bIns="0" anchor="t">
            <a:spAutoFit/>
          </a:bodyPr>
          <a:lstStyle/>
          <a:p>
            <a:pPr algn="ctr">
              <a:lnSpc>
                <a:spcPct val="105000"/>
              </a:lnSpc>
            </a:pPr>
            <a:r>
              <a:rPr sz="1300" b="0">
                <a:solidFill>
                  <a:srgbClr val="606A7E"/>
                </a:solidFill>
                <a:latin typeface="Calibri"/>
              </a:rPr>
              <a:t>espace alumni</a:t>
            </a:r>
          </a:p>
        </p:txBody>
      </p:sp>
      <p:pic>
        <p:nvPicPr>
          <p:cNvPr id="10" name="Picture 9" descr="anB_promotions_light.png"/>
          <p:cNvPicPr>
            <a:picLocks noChangeAspect="1"/>
          </p:cNvPicPr>
          <p:nvPr/>
        </p:nvPicPr>
        <p:blipFill>
          <a:blip r:embed="rId4"/>
          <a:stretch>
            <a:fillRect/>
          </a:stretch>
        </p:blipFill>
        <p:spPr>
          <a:xfrm>
            <a:off x="7379208" y="4160520"/>
            <a:ext cx="3438144" cy="2148840"/>
          </a:xfrm>
          <a:prstGeom prst="rect">
            <a:avLst/>
          </a:prstGeom>
        </p:spPr>
      </p:pic>
      <p:sp>
        <p:nvSpPr>
          <p:cNvPr id="11" name="TextBox 10"/>
          <p:cNvSpPr txBox="1"/>
          <p:nvPr/>
        </p:nvSpPr>
        <p:spPr>
          <a:xfrm>
            <a:off x="6629400" y="6355080"/>
            <a:ext cx="4937760" cy="320040"/>
          </a:xfrm>
          <a:prstGeom prst="rect">
            <a:avLst/>
          </a:prstGeom>
          <a:noFill/>
        </p:spPr>
        <p:txBody>
          <a:bodyPr wrap="square" lIns="0" tIns="0" rIns="0" bIns="0" anchor="t">
            <a:spAutoFit/>
          </a:bodyPr>
          <a:lstStyle/>
          <a:p>
            <a:pPr algn="ctr">
              <a:lnSpc>
                <a:spcPct val="105000"/>
              </a:lnSpc>
            </a:pPr>
            <a:r>
              <a:rPr sz="1300" b="0">
                <a:solidFill>
                  <a:srgbClr val="606A7E"/>
                </a:solidFill>
                <a:latin typeface="Calibri"/>
              </a:rPr>
              <a:t>espace admin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2191695" cy="1051560"/>
          </a:xfrm>
          <a:prstGeom prst="rect">
            <a:avLst/>
          </a:prstGeom>
          <a:noFill/>
        </p:spPr>
        <p:txBody>
          <a:bodyPr wrap="square" lIns="0" tIns="0" rIns="0" bIns="0" anchor="t">
            <a:spAutoFit/>
          </a:bodyPr>
          <a:lstStyle/>
          <a:p>
            <a:pPr algn="l">
              <a:lnSpc>
                <a:spcPct val="105000"/>
              </a:lnSpc>
            </a:pPr>
            <a:r>
              <a:rPr sz="2700" b="1">
                <a:solidFill>
                  <a:srgbClr val="152042"/>
                </a:solidFill>
                <a:latin typeface="Calibri"/>
              </a:rPr>
              <a:t>Étape 5 — Tests + audits</a:t>
            </a:r>
          </a:p>
        </p:txBody>
      </p:sp>
      <p:sp>
        <p:nvSpPr>
          <p:cNvPr id="3" name="TextBox 2"/>
          <p:cNvSpPr txBox="1"/>
          <p:nvPr/>
        </p:nvSpPr>
        <p:spPr>
          <a:xfrm>
            <a:off x="502920" y="932688"/>
            <a:ext cx="2377440" cy="82296"/>
          </a:xfrm>
          <a:prstGeom prst="rect">
            <a:avLst/>
          </a:prstGeom>
          <a:solidFill>
            <a:srgbClr val="2EA06E"/>
          </a:solidFill>
        </p:spPr>
        <p:txBody>
          <a:bodyPr wrap="square" lIns="0" tIns="0" rIns="0" bIns="0" anchor="t">
            <a:spAutoFit/>
          </a:bodyPr>
          <a:lstStyle/>
          <a:p>
            <a:pPr algn="l">
              <a:lnSpc>
                <a:spcPct val="105000"/>
              </a:lnSpc>
            </a:pPr>
            <a:endParaRPr/>
          </a:p>
        </p:txBody>
      </p:sp>
      <p:sp>
        <p:nvSpPr>
          <p:cNvPr id="4" name="TextBox 3"/>
          <p:cNvSpPr txBox="1"/>
          <p:nvPr/>
        </p:nvSpPr>
        <p:spPr>
          <a:xfrm>
            <a:off x="0" y="1078992"/>
            <a:ext cx="12191695" cy="365760"/>
          </a:xfrm>
          <a:prstGeom prst="rect">
            <a:avLst/>
          </a:prstGeom>
          <a:noFill/>
        </p:spPr>
        <p:txBody>
          <a:bodyPr wrap="square" lIns="0" tIns="0" rIns="0" bIns="0" anchor="t">
            <a:spAutoFit/>
          </a:bodyPr>
          <a:lstStyle/>
          <a:p>
            <a:pPr algn="l">
              <a:lnSpc>
                <a:spcPct val="105000"/>
              </a:lnSpc>
            </a:pPr>
            <a:r>
              <a:rPr sz="1500" b="0">
                <a:solidFill>
                  <a:srgbClr val="606A7E"/>
                </a:solidFill>
                <a:latin typeface="Calibri"/>
              </a:rPr>
              <a:t>validation manuelle, cohérence base / API, sécurité</a:t>
            </a:r>
          </a:p>
        </p:txBody>
      </p:sp>
      <p:sp>
        <p:nvSpPr>
          <p:cNvPr id="5" name="TextBox 4"/>
          <p:cNvSpPr txBox="1"/>
          <p:nvPr/>
        </p:nvSpPr>
        <p:spPr>
          <a:xfrm>
            <a:off x="11109960" y="201168"/>
            <a:ext cx="868680" cy="365760"/>
          </a:xfrm>
          <a:prstGeom prst="rect">
            <a:avLst/>
          </a:prstGeom>
          <a:noFill/>
        </p:spPr>
        <p:txBody>
          <a:bodyPr wrap="square" lIns="0" tIns="0" rIns="0" bIns="0" anchor="t">
            <a:spAutoFit/>
          </a:bodyPr>
          <a:lstStyle/>
          <a:p>
            <a:pPr algn="r">
              <a:lnSpc>
                <a:spcPct val="105000"/>
              </a:lnSpc>
            </a:pPr>
            <a:r>
              <a:rPr sz="1200" b="0">
                <a:solidFill>
                  <a:srgbClr val="606A7E"/>
                </a:solidFill>
                <a:latin typeface="Calibri"/>
              </a:rPr>
              <a:t>0:30</a:t>
            </a:r>
          </a:p>
        </p:txBody>
      </p:sp>
      <p:sp>
        <p:nvSpPr>
          <p:cNvPr id="6" name="TextBox 5"/>
          <p:cNvSpPr txBox="1"/>
          <p:nvPr/>
        </p:nvSpPr>
        <p:spPr>
          <a:xfrm>
            <a:off x="0" y="6446520"/>
            <a:ext cx="12191695" cy="320040"/>
          </a:xfrm>
          <a:prstGeom prst="rect">
            <a:avLst/>
          </a:prstGeom>
          <a:solidFill>
            <a:srgbClr val="152042"/>
          </a:solidFill>
        </p:spPr>
        <p:txBody>
          <a:bodyPr wrap="square" lIns="0" tIns="0" rIns="0" bIns="0" anchor="t">
            <a:spAutoFit/>
          </a:bodyPr>
          <a:lstStyle/>
          <a:p>
            <a:pPr algn="l">
              <a:lnSpc>
                <a:spcPct val="105000"/>
              </a:lnSpc>
            </a:pPr>
            <a:endParaRPr/>
          </a:p>
        </p:txBody>
      </p:sp>
      <p:sp>
        <p:nvSpPr>
          <p:cNvPr id="7" name="TextBox 6"/>
          <p:cNvSpPr txBox="1"/>
          <p:nvPr/>
        </p:nvSpPr>
        <p:spPr>
          <a:xfrm>
            <a:off x="640080" y="1600200"/>
            <a:ext cx="5669280" cy="4572000"/>
          </a:xfrm>
          <a:prstGeom prst="rect">
            <a:avLst/>
          </a:prstGeom>
          <a:noFill/>
        </p:spPr>
        <p:txBody>
          <a:bodyPr wrap="square" lIns="0" tIns="0" rIns="0" bIns="0">
            <a:spAutoFit/>
          </a:bodyPr>
          <a:lstStyle/>
          <a:p>
            <a:pPr>
              <a:lnSpc>
                <a:spcPct val="112000"/>
              </a:lnSpc>
              <a:spcAft>
                <a:spcPts val="1000"/>
              </a:spcAft>
            </a:pPr>
            <a:r>
              <a:rPr sz="1600">
                <a:solidFill>
                  <a:srgbClr val="152042"/>
                </a:solidFill>
                <a:latin typeface="Calibri"/>
              </a:rPr>
              <a:t>Parcours clés testés manuellement : inscription, profil, questionnaire, admin</a:t>
            </a:r>
          </a:p>
          <a:p>
            <a:pPr>
              <a:lnSpc>
                <a:spcPct val="112000"/>
              </a:lnSpc>
              <a:spcAft>
                <a:spcPts val="1000"/>
              </a:spcAft>
            </a:pPr>
            <a:r>
              <a:rPr sz="1600">
                <a:solidFill>
                  <a:srgbClr val="152042"/>
                </a:solidFill>
                <a:latin typeface="Calibri"/>
              </a:rPr>
              <a:t>Build de production (vite build) + lint (oxlint) comme filet de contrôle</a:t>
            </a:r>
          </a:p>
          <a:p>
            <a:pPr>
              <a:lnSpc>
                <a:spcPct val="112000"/>
              </a:lnSpc>
              <a:spcAft>
                <a:spcPts val="1000"/>
              </a:spcAft>
            </a:pPr>
            <a:r>
              <a:rPr sz="1600">
                <a:solidFill>
                  <a:srgbClr val="152042"/>
                </a:solidFill>
                <a:latin typeface="Calibri"/>
              </a:rPr>
              <a:t>Audit de cohérence : chaque objet de l'API vérifié contre les 14 tables</a:t>
            </a:r>
          </a:p>
          <a:p>
            <a:pPr>
              <a:lnSpc>
                <a:spcPct val="112000"/>
              </a:lnSpc>
              <a:spcAft>
                <a:spcPts val="1000"/>
              </a:spcAft>
            </a:pPr>
            <a:r>
              <a:rPr sz="1600">
                <a:solidFill>
                  <a:srgbClr val="152042"/>
                </a:solidFill>
                <a:latin typeface="Calibri"/>
              </a:rPr>
              <a:t>Audit de sécurité : failles corrigées — détail slide 14</a:t>
            </a:r>
          </a:p>
          <a:p>
            <a:pPr>
              <a:lnSpc>
                <a:spcPct val="112000"/>
              </a:lnSpc>
              <a:spcAft>
                <a:spcPts val="1000"/>
              </a:spcAft>
            </a:pPr>
            <a:r>
              <a:rPr sz="1600">
                <a:solidFill>
                  <a:srgbClr val="152042"/>
                </a:solidFill>
                <a:latin typeface="Calibri"/>
              </a:rPr>
              <a:t>Chantier restant avant production : une vraie suite de tests automatisés</a:t>
            </a:r>
          </a:p>
        </p:txBody>
      </p:sp>
      <p:pic>
        <p:nvPicPr>
          <p:cNvPr id="8" name="Picture 7" descr="anB_dashboard_light_3.png"/>
          <p:cNvPicPr>
            <a:picLocks noChangeAspect="1"/>
          </p:cNvPicPr>
          <p:nvPr/>
        </p:nvPicPr>
        <p:blipFill>
          <a:blip r:embed="rId3"/>
          <a:stretch>
            <a:fillRect/>
          </a:stretch>
        </p:blipFill>
        <p:spPr>
          <a:xfrm>
            <a:off x="6629400" y="2170899"/>
            <a:ext cx="4937760" cy="3339160"/>
          </a:xfrm>
          <a:prstGeom prst="rect">
            <a:avLst/>
          </a:prstGeom>
        </p:spPr>
      </p:pic>
      <p:sp>
        <p:nvSpPr>
          <p:cNvPr id="9" name="TextBox 8"/>
          <p:cNvSpPr txBox="1"/>
          <p:nvPr/>
        </p:nvSpPr>
        <p:spPr>
          <a:xfrm>
            <a:off x="6629400" y="6035040"/>
            <a:ext cx="4937760" cy="365760"/>
          </a:xfrm>
          <a:prstGeom prst="rect">
            <a:avLst/>
          </a:prstGeom>
          <a:noFill/>
        </p:spPr>
        <p:txBody>
          <a:bodyPr wrap="square" lIns="0" tIns="0" rIns="0" bIns="0" anchor="t">
            <a:spAutoFit/>
          </a:bodyPr>
          <a:lstStyle/>
          <a:p>
            <a:pPr algn="ctr">
              <a:lnSpc>
                <a:spcPct val="105000"/>
              </a:lnSpc>
            </a:pPr>
            <a:r>
              <a:rPr sz="1300" b="0">
                <a:solidFill>
                  <a:srgbClr val="606A7E"/>
                </a:solidFill>
                <a:latin typeface="Calibri"/>
              </a:rPr>
              <a:t>un tableau de bord cohérent avec les données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2191695" cy="1051560"/>
          </a:xfrm>
          <a:prstGeom prst="rect">
            <a:avLst/>
          </a:prstGeom>
          <a:noFill/>
        </p:spPr>
        <p:txBody>
          <a:bodyPr wrap="square" lIns="0" tIns="0" rIns="0" bIns="0" anchor="t">
            <a:spAutoFit/>
          </a:bodyPr>
          <a:lstStyle/>
          <a:p>
            <a:pPr algn="l">
              <a:lnSpc>
                <a:spcPct val="105000"/>
              </a:lnSpc>
            </a:pPr>
            <a:r>
              <a:rPr sz="2700" b="1">
                <a:solidFill>
                  <a:srgbClr val="152042"/>
                </a:solidFill>
                <a:latin typeface="Calibri"/>
              </a:rPr>
              <a:t>Architecture de l'application</a:t>
            </a:r>
          </a:p>
        </p:txBody>
      </p:sp>
      <p:sp>
        <p:nvSpPr>
          <p:cNvPr id="3" name="TextBox 2"/>
          <p:cNvSpPr txBox="1"/>
          <p:nvPr/>
        </p:nvSpPr>
        <p:spPr>
          <a:xfrm>
            <a:off x="502920" y="932688"/>
            <a:ext cx="2377440" cy="82296"/>
          </a:xfrm>
          <a:prstGeom prst="rect">
            <a:avLst/>
          </a:prstGeom>
          <a:solidFill>
            <a:srgbClr val="2EA06E"/>
          </a:solidFill>
        </p:spPr>
        <p:txBody>
          <a:bodyPr wrap="square" lIns="0" tIns="0" rIns="0" bIns="0" anchor="t">
            <a:spAutoFit/>
          </a:bodyPr>
          <a:lstStyle/>
          <a:p>
            <a:pPr algn="l">
              <a:lnSpc>
                <a:spcPct val="105000"/>
              </a:lnSpc>
            </a:pPr>
            <a:endParaRPr/>
          </a:p>
        </p:txBody>
      </p:sp>
      <p:sp>
        <p:nvSpPr>
          <p:cNvPr id="4" name="TextBox 3"/>
          <p:cNvSpPr txBox="1"/>
          <p:nvPr/>
        </p:nvSpPr>
        <p:spPr>
          <a:xfrm>
            <a:off x="0" y="1078992"/>
            <a:ext cx="12191695" cy="365760"/>
          </a:xfrm>
          <a:prstGeom prst="rect">
            <a:avLst/>
          </a:prstGeom>
          <a:noFill/>
        </p:spPr>
        <p:txBody>
          <a:bodyPr wrap="square" lIns="0" tIns="0" rIns="0" bIns="0" anchor="t">
            <a:spAutoFit/>
          </a:bodyPr>
          <a:lstStyle/>
          <a:p>
            <a:pPr algn="l">
              <a:lnSpc>
                <a:spcPct val="105000"/>
              </a:lnSpc>
            </a:pPr>
            <a:r>
              <a:rPr sz="1500" b="0">
                <a:solidFill>
                  <a:srgbClr val="606A7E"/>
                </a:solidFill>
                <a:latin typeface="Calibri"/>
              </a:rPr>
              <a:t>une architecture trois tiers : React → FastAPI → PostgreSQL</a:t>
            </a:r>
          </a:p>
        </p:txBody>
      </p:sp>
      <p:sp>
        <p:nvSpPr>
          <p:cNvPr id="5" name="TextBox 4"/>
          <p:cNvSpPr txBox="1"/>
          <p:nvPr/>
        </p:nvSpPr>
        <p:spPr>
          <a:xfrm>
            <a:off x="11109960" y="201168"/>
            <a:ext cx="868680" cy="365760"/>
          </a:xfrm>
          <a:prstGeom prst="rect">
            <a:avLst/>
          </a:prstGeom>
          <a:noFill/>
        </p:spPr>
        <p:txBody>
          <a:bodyPr wrap="square" lIns="0" tIns="0" rIns="0" bIns="0" anchor="t">
            <a:spAutoFit/>
          </a:bodyPr>
          <a:lstStyle/>
          <a:p>
            <a:pPr algn="r">
              <a:lnSpc>
                <a:spcPct val="105000"/>
              </a:lnSpc>
            </a:pPr>
            <a:r>
              <a:rPr sz="1200" b="0">
                <a:solidFill>
                  <a:srgbClr val="606A7E"/>
                </a:solidFill>
                <a:latin typeface="Calibri"/>
              </a:rPr>
              <a:t>1:00</a:t>
            </a:r>
          </a:p>
        </p:txBody>
      </p:sp>
      <p:sp>
        <p:nvSpPr>
          <p:cNvPr id="6" name="TextBox 5"/>
          <p:cNvSpPr txBox="1"/>
          <p:nvPr/>
        </p:nvSpPr>
        <p:spPr>
          <a:xfrm>
            <a:off x="0" y="6446520"/>
            <a:ext cx="12191695" cy="320040"/>
          </a:xfrm>
          <a:prstGeom prst="rect">
            <a:avLst/>
          </a:prstGeom>
          <a:solidFill>
            <a:srgbClr val="152042"/>
          </a:solidFill>
        </p:spPr>
        <p:txBody>
          <a:bodyPr wrap="square" lIns="0" tIns="0" rIns="0" bIns="0" anchor="t">
            <a:spAutoFit/>
          </a:bodyPr>
          <a:lstStyle/>
          <a:p>
            <a:pPr algn="l">
              <a:lnSpc>
                <a:spcPct val="105000"/>
              </a:lnSpc>
            </a:pPr>
            <a:endParaRPr/>
          </a:p>
        </p:txBody>
      </p:sp>
      <p:sp>
        <p:nvSpPr>
          <p:cNvPr id="7" name="Rectangle 6"/>
          <p:cNvSpPr/>
          <p:nvPr/>
        </p:nvSpPr>
        <p:spPr>
          <a:xfrm>
            <a:off x="502920" y="1600200"/>
            <a:ext cx="3520440" cy="356616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600200"/>
            <a:ext cx="3520440" cy="566928"/>
          </a:xfrm>
          <a:prstGeom prst="rect">
            <a:avLst/>
          </a:prstGeom>
          <a:solidFill>
            <a:srgbClr val="2E6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600200"/>
            <a:ext cx="3246120" cy="566928"/>
          </a:xfrm>
          <a:prstGeom prst="rect">
            <a:avLst/>
          </a:prstGeom>
          <a:noFill/>
        </p:spPr>
        <p:txBody>
          <a:bodyPr wrap="square" lIns="0" tIns="0" rIns="0" bIns="0" anchor="t">
            <a:spAutoFit/>
          </a:bodyPr>
          <a:lstStyle/>
          <a:p>
            <a:pPr algn="ctr">
              <a:lnSpc>
                <a:spcPct val="105000"/>
              </a:lnSpc>
            </a:pPr>
            <a:r>
              <a:rPr sz="1500" b="1">
                <a:solidFill>
                  <a:srgbClr val="FFFFFF"/>
                </a:solidFill>
                <a:latin typeface="Calibri"/>
              </a:rPr>
              <a:t>Front — React + Vite</a:t>
            </a:r>
          </a:p>
        </p:txBody>
      </p:sp>
      <p:sp>
        <p:nvSpPr>
          <p:cNvPr id="10" name="TextBox 9"/>
          <p:cNvSpPr txBox="1"/>
          <p:nvPr/>
        </p:nvSpPr>
        <p:spPr>
          <a:xfrm>
            <a:off x="685800" y="2331720"/>
            <a:ext cx="3154680" cy="2651760"/>
          </a:xfrm>
          <a:prstGeom prst="rect">
            <a:avLst/>
          </a:prstGeom>
          <a:noFill/>
        </p:spPr>
        <p:txBody>
          <a:bodyPr wrap="square" lIns="0" tIns="0" rIns="0" bIns="0" anchor="t">
            <a:spAutoFit/>
          </a:bodyPr>
          <a:lstStyle/>
          <a:p>
            <a:pPr algn="l">
              <a:lnSpc>
                <a:spcPct val="112000"/>
              </a:lnSpc>
            </a:pPr>
            <a:r>
              <a:rPr sz="1150" b="0">
                <a:solidFill>
                  <a:srgbClr val="152042"/>
                </a:solidFill>
                <a:latin typeface="Calibri"/>
              </a:rPr>
              <a:t>• espace alumni &amp; espace admin</a:t>
            </a:r>
          </a:p>
          <a:p>
            <a:pPr algn="l">
              <a:lnSpc>
                <a:spcPct val="112000"/>
              </a:lnSpc>
            </a:pPr>
            <a:r>
              <a:rPr sz="1150" b="0">
                <a:solidFill>
                  <a:srgbClr val="152042"/>
                </a:solidFill>
                <a:latin typeface="Calibri"/>
              </a:rPr>
              <a:t>• 14 routes, thème clair / sombre</a:t>
            </a:r>
          </a:p>
          <a:p>
            <a:pPr algn="l">
              <a:lnSpc>
                <a:spcPct val="112000"/>
              </a:lnSpc>
            </a:pPr>
            <a:r>
              <a:rPr sz="1150" b="0">
                <a:solidFill>
                  <a:srgbClr val="152042"/>
                </a:solidFill>
                <a:latin typeface="Calibri"/>
              </a:rPr>
              <a:t>• inscription guidée + questionnaire</a:t>
            </a:r>
          </a:p>
          <a:p>
            <a:pPr algn="l">
              <a:lnSpc>
                <a:spcPct val="112000"/>
              </a:lnSpc>
            </a:pPr>
            <a:r>
              <a:rPr sz="1150" b="0">
                <a:solidFill>
                  <a:srgbClr val="152042"/>
                </a:solidFill>
                <a:latin typeface="Calibri"/>
              </a:rPr>
              <a:t>• dashboard KPI, annuaire, import / export</a:t>
            </a:r>
          </a:p>
          <a:p>
            <a:pPr algn="l">
              <a:lnSpc>
                <a:spcPct val="112000"/>
              </a:lnSpc>
            </a:pPr>
            <a:r>
              <a:rPr sz="1150" b="0">
                <a:solidFill>
                  <a:srgbClr val="152042"/>
                </a:solidFill>
                <a:latin typeface="Calibri"/>
              </a:rPr>
              <a:t>• protection des routes par rôle</a:t>
            </a:r>
          </a:p>
        </p:txBody>
      </p:sp>
      <p:sp>
        <p:nvSpPr>
          <p:cNvPr id="11" name="Octagon 10"/>
          <p:cNvSpPr/>
          <p:nvPr/>
        </p:nvSpPr>
        <p:spPr>
          <a:xfrm>
            <a:off x="4114800" y="3063240"/>
            <a:ext cx="237744" cy="365760"/>
          </a:xfrm>
          <a:prstGeom prst="octagon">
            <a:avLst/>
          </a:prstGeom>
          <a:solidFill>
            <a:srgbClr val="2E6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34840" y="1600200"/>
            <a:ext cx="3520440" cy="356616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434840" y="1600200"/>
            <a:ext cx="3520440" cy="566928"/>
          </a:xfrm>
          <a:prstGeom prst="rect">
            <a:avLst/>
          </a:prstGeom>
          <a:solidFill>
            <a:srgbClr val="152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0" y="1600200"/>
            <a:ext cx="3246120" cy="566928"/>
          </a:xfrm>
          <a:prstGeom prst="rect">
            <a:avLst/>
          </a:prstGeom>
          <a:noFill/>
        </p:spPr>
        <p:txBody>
          <a:bodyPr wrap="square" lIns="0" tIns="0" rIns="0" bIns="0" anchor="t">
            <a:spAutoFit/>
          </a:bodyPr>
          <a:lstStyle/>
          <a:p>
            <a:pPr algn="ctr">
              <a:lnSpc>
                <a:spcPct val="105000"/>
              </a:lnSpc>
            </a:pPr>
            <a:r>
              <a:rPr sz="1500" b="1">
                <a:solidFill>
                  <a:srgbClr val="FFFFFF"/>
                </a:solidFill>
                <a:latin typeface="Calibri"/>
              </a:rPr>
              <a:t>API — FastAPI</a:t>
            </a:r>
          </a:p>
        </p:txBody>
      </p:sp>
      <p:sp>
        <p:nvSpPr>
          <p:cNvPr id="15" name="TextBox 14"/>
          <p:cNvSpPr txBox="1"/>
          <p:nvPr/>
        </p:nvSpPr>
        <p:spPr>
          <a:xfrm>
            <a:off x="4617720" y="2331720"/>
            <a:ext cx="3154680" cy="2651760"/>
          </a:xfrm>
          <a:prstGeom prst="rect">
            <a:avLst/>
          </a:prstGeom>
          <a:noFill/>
        </p:spPr>
        <p:txBody>
          <a:bodyPr wrap="square" lIns="0" tIns="0" rIns="0" bIns="0" anchor="t">
            <a:spAutoFit/>
          </a:bodyPr>
          <a:lstStyle/>
          <a:p>
            <a:pPr algn="l">
              <a:lnSpc>
                <a:spcPct val="112000"/>
              </a:lnSpc>
            </a:pPr>
            <a:r>
              <a:rPr sz="1150" b="0">
                <a:solidFill>
                  <a:srgbClr val="152042"/>
                </a:solidFill>
                <a:latin typeface="Calibri"/>
              </a:rPr>
              <a:t>• 84 endpoints REST</a:t>
            </a:r>
          </a:p>
          <a:p>
            <a:pPr algn="l">
              <a:lnSpc>
                <a:spcPct val="112000"/>
              </a:lnSpc>
            </a:pPr>
            <a:r>
              <a:rPr sz="1150" b="0">
                <a:solidFill>
                  <a:srgbClr val="152042"/>
                </a:solidFill>
                <a:latin typeface="Calibri"/>
              </a:rPr>
              <a:t>• doc Swagger générée automatiquement</a:t>
            </a:r>
          </a:p>
          <a:p>
            <a:pPr algn="l">
              <a:lnSpc>
                <a:spcPct val="112000"/>
              </a:lnSpc>
            </a:pPr>
            <a:r>
              <a:rPr sz="1150" b="0">
                <a:solidFill>
                  <a:srgbClr val="152042"/>
                </a:solidFill>
                <a:latin typeface="Calibri"/>
              </a:rPr>
              <a:t>• auth OTP / JWT par rôle / clé API admin</a:t>
            </a:r>
          </a:p>
          <a:p>
            <a:pPr algn="l">
              <a:lnSpc>
                <a:spcPct val="112000"/>
              </a:lnSpc>
            </a:pPr>
            <a:r>
              <a:rPr sz="1150" b="0">
                <a:solidFill>
                  <a:srgbClr val="152042"/>
                </a:solidFill>
                <a:latin typeface="Calibri"/>
              </a:rPr>
              <a:t>• import &amp; export Excel / CSV</a:t>
            </a:r>
          </a:p>
          <a:p>
            <a:pPr algn="l">
              <a:lnSpc>
                <a:spcPct val="112000"/>
              </a:lnSpc>
            </a:pPr>
            <a:r>
              <a:rPr sz="1150" b="0">
                <a:solidFill>
                  <a:srgbClr val="152042"/>
                </a:solidFill>
                <a:latin typeface="Calibri"/>
              </a:rPr>
              <a:t>• emails : Resend (console en dev)</a:t>
            </a:r>
          </a:p>
        </p:txBody>
      </p:sp>
      <p:sp>
        <p:nvSpPr>
          <p:cNvPr id="16" name="Octagon 15"/>
          <p:cNvSpPr/>
          <p:nvPr/>
        </p:nvSpPr>
        <p:spPr>
          <a:xfrm>
            <a:off x="8046720" y="3063240"/>
            <a:ext cx="237744" cy="365760"/>
          </a:xfrm>
          <a:prstGeom prst="octagon">
            <a:avLst/>
          </a:prstGeom>
          <a:solidFill>
            <a:srgbClr val="2E6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366760" y="1600200"/>
            <a:ext cx="3520440" cy="356616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66760" y="1600200"/>
            <a:ext cx="3520440" cy="566928"/>
          </a:xfrm>
          <a:prstGeom prst="rect">
            <a:avLst/>
          </a:prstGeom>
          <a:solidFill>
            <a:srgbClr val="2EA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03920" y="1600200"/>
            <a:ext cx="3246120" cy="566928"/>
          </a:xfrm>
          <a:prstGeom prst="rect">
            <a:avLst/>
          </a:prstGeom>
          <a:noFill/>
        </p:spPr>
        <p:txBody>
          <a:bodyPr wrap="square" lIns="0" tIns="0" rIns="0" bIns="0" anchor="t">
            <a:spAutoFit/>
          </a:bodyPr>
          <a:lstStyle/>
          <a:p>
            <a:pPr algn="ctr">
              <a:lnSpc>
                <a:spcPct val="105000"/>
              </a:lnSpc>
            </a:pPr>
            <a:r>
              <a:rPr sz="1500" b="1">
                <a:solidFill>
                  <a:srgbClr val="FFFFFF"/>
                </a:solidFill>
                <a:latin typeface="Calibri"/>
              </a:rPr>
              <a:t>Base — PostgreSQL</a:t>
            </a:r>
          </a:p>
        </p:txBody>
      </p:sp>
      <p:sp>
        <p:nvSpPr>
          <p:cNvPr id="20" name="TextBox 19"/>
          <p:cNvSpPr txBox="1"/>
          <p:nvPr/>
        </p:nvSpPr>
        <p:spPr>
          <a:xfrm>
            <a:off x="8549640" y="2331720"/>
            <a:ext cx="3154680" cy="2651760"/>
          </a:xfrm>
          <a:prstGeom prst="rect">
            <a:avLst/>
          </a:prstGeom>
          <a:noFill/>
        </p:spPr>
        <p:txBody>
          <a:bodyPr wrap="square" lIns="0" tIns="0" rIns="0" bIns="0" anchor="t">
            <a:spAutoFit/>
          </a:bodyPr>
          <a:lstStyle/>
          <a:p>
            <a:pPr algn="l">
              <a:lnSpc>
                <a:spcPct val="112000"/>
              </a:lnSpc>
            </a:pPr>
            <a:r>
              <a:rPr sz="1150" b="0">
                <a:solidFill>
                  <a:srgbClr val="152042"/>
                </a:solidFill>
                <a:latin typeface="Calibri"/>
              </a:rPr>
              <a:t>• 14 tables, 5 domaines</a:t>
            </a:r>
          </a:p>
          <a:p>
            <a:pPr algn="l">
              <a:lnSpc>
                <a:spcPct val="112000"/>
              </a:lnSpc>
            </a:pPr>
            <a:r>
              <a:rPr sz="1150" b="0">
                <a:solidFill>
                  <a:srgbClr val="152042"/>
                </a:solidFill>
                <a:latin typeface="Calibri"/>
              </a:rPr>
              <a:t>• 17 migrations versionnées</a:t>
            </a:r>
          </a:p>
          <a:p>
            <a:pPr algn="l">
              <a:lnSpc>
                <a:spcPct val="112000"/>
              </a:lnSpc>
            </a:pPr>
            <a:r>
              <a:rPr sz="1150" b="0">
                <a:solidFill>
                  <a:srgbClr val="152042"/>
                </a:solidFill>
                <a:latin typeface="Calibri"/>
              </a:rPr>
              <a:t>• contraintes CHECK + unicité (RGPD)</a:t>
            </a:r>
          </a:p>
          <a:p>
            <a:pPr algn="l">
              <a:lnSpc>
                <a:spcPct val="112000"/>
              </a:lnSpc>
            </a:pPr>
            <a:r>
              <a:rPr sz="1150" b="0">
                <a:solidFill>
                  <a:srgbClr val="152042"/>
                </a:solidFill>
                <a:latin typeface="Calibri"/>
              </a:rPr>
              <a:t>• rejeu complet validé sur base vide</a:t>
            </a:r>
          </a:p>
          <a:p>
            <a:pPr algn="l">
              <a:lnSpc>
                <a:spcPct val="112000"/>
              </a:lnSpc>
            </a:pPr>
            <a:r>
              <a:rPr sz="1150" b="0">
                <a:solidFill>
                  <a:srgbClr val="152042"/>
                </a:solidFill>
                <a:latin typeface="Calibri"/>
              </a:rPr>
              <a:t>• purge différée des comptes anonymisés</a:t>
            </a:r>
          </a:p>
        </p:txBody>
      </p:sp>
      <p:sp>
        <p:nvSpPr>
          <p:cNvPr id="21" name="TextBox 20"/>
          <p:cNvSpPr txBox="1"/>
          <p:nvPr/>
        </p:nvSpPr>
        <p:spPr>
          <a:xfrm>
            <a:off x="502920" y="5394960"/>
            <a:ext cx="11338560" cy="640080"/>
          </a:xfrm>
          <a:prstGeom prst="rect">
            <a:avLst/>
          </a:prstGeom>
          <a:noFill/>
        </p:spPr>
        <p:txBody>
          <a:bodyPr wrap="square" lIns="0" tIns="0" rIns="0" bIns="0" anchor="t">
            <a:spAutoFit/>
          </a:bodyPr>
          <a:lstStyle/>
          <a:p>
            <a:pPr algn="l">
              <a:lnSpc>
                <a:spcPct val="105000"/>
              </a:lnSpc>
            </a:pPr>
            <a:r>
              <a:rPr sz="1400" b="1">
                <a:solidFill>
                  <a:srgbClr val="152042"/>
                </a:solidFill>
                <a:latin typeface="Calibri"/>
              </a:rPr>
              <a:t>Chaque écran consomme l'API ; chaque objet de l'API existe dans la base. Une sécurité sur toutes les couches : clé API admin, JWT par rôle, code OTP, aucun secret dans le dépôt (.env).</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2191695" cy="1051560"/>
          </a:xfrm>
          <a:prstGeom prst="rect">
            <a:avLst/>
          </a:prstGeom>
          <a:noFill/>
        </p:spPr>
        <p:txBody>
          <a:bodyPr wrap="square" lIns="0" tIns="0" rIns="0" bIns="0" anchor="t">
            <a:spAutoFit/>
          </a:bodyPr>
          <a:lstStyle/>
          <a:p>
            <a:pPr algn="l">
              <a:lnSpc>
                <a:spcPct val="105000"/>
              </a:lnSpc>
            </a:pPr>
            <a:r>
              <a:rPr sz="2700" b="1">
                <a:solidFill>
                  <a:srgbClr val="152042"/>
                </a:solidFill>
                <a:latin typeface="Calibri"/>
              </a:rPr>
              <a:t>Le modèle de données et le parcours étudiant</a:t>
            </a:r>
          </a:p>
        </p:txBody>
      </p:sp>
      <p:sp>
        <p:nvSpPr>
          <p:cNvPr id="3" name="TextBox 2"/>
          <p:cNvSpPr txBox="1"/>
          <p:nvPr/>
        </p:nvSpPr>
        <p:spPr>
          <a:xfrm>
            <a:off x="502920" y="932688"/>
            <a:ext cx="2377440" cy="82296"/>
          </a:xfrm>
          <a:prstGeom prst="rect">
            <a:avLst/>
          </a:prstGeom>
          <a:solidFill>
            <a:srgbClr val="2EA06E"/>
          </a:solidFill>
        </p:spPr>
        <p:txBody>
          <a:bodyPr wrap="square" lIns="0" tIns="0" rIns="0" bIns="0" anchor="t">
            <a:spAutoFit/>
          </a:bodyPr>
          <a:lstStyle/>
          <a:p>
            <a:pPr algn="l">
              <a:lnSpc>
                <a:spcPct val="105000"/>
              </a:lnSpc>
            </a:pPr>
            <a:endParaRPr/>
          </a:p>
        </p:txBody>
      </p:sp>
      <p:sp>
        <p:nvSpPr>
          <p:cNvPr id="4" name="TextBox 3"/>
          <p:cNvSpPr txBox="1"/>
          <p:nvPr/>
        </p:nvSpPr>
        <p:spPr>
          <a:xfrm>
            <a:off x="11109960" y="201168"/>
            <a:ext cx="868680" cy="365760"/>
          </a:xfrm>
          <a:prstGeom prst="rect">
            <a:avLst/>
          </a:prstGeom>
          <a:noFill/>
        </p:spPr>
        <p:txBody>
          <a:bodyPr wrap="square" lIns="0" tIns="0" rIns="0" bIns="0" anchor="t">
            <a:spAutoFit/>
          </a:bodyPr>
          <a:lstStyle/>
          <a:p>
            <a:pPr algn="r">
              <a:lnSpc>
                <a:spcPct val="105000"/>
              </a:lnSpc>
            </a:pPr>
            <a:r>
              <a:rPr sz="1200" b="0">
                <a:solidFill>
                  <a:srgbClr val="606A7E"/>
                </a:solidFill>
                <a:latin typeface="Calibri"/>
              </a:rPr>
              <a:t>0:45</a:t>
            </a:r>
          </a:p>
        </p:txBody>
      </p:sp>
      <p:sp>
        <p:nvSpPr>
          <p:cNvPr id="5" name="TextBox 4"/>
          <p:cNvSpPr txBox="1"/>
          <p:nvPr/>
        </p:nvSpPr>
        <p:spPr>
          <a:xfrm>
            <a:off x="0" y="6446520"/>
            <a:ext cx="12191695" cy="320040"/>
          </a:xfrm>
          <a:prstGeom prst="rect">
            <a:avLst/>
          </a:prstGeom>
          <a:solidFill>
            <a:srgbClr val="152042"/>
          </a:solidFill>
        </p:spPr>
        <p:txBody>
          <a:bodyPr wrap="square" lIns="0" tIns="0" rIns="0" bIns="0" anchor="t">
            <a:spAutoFit/>
          </a:bodyPr>
          <a:lstStyle/>
          <a:p>
            <a:pPr algn="l">
              <a:lnSpc>
                <a:spcPct val="105000"/>
              </a:lnSpc>
            </a:pPr>
            <a:endParaRPr/>
          </a:p>
        </p:txBody>
      </p:sp>
      <p:sp>
        <p:nvSpPr>
          <p:cNvPr id="6" name="TextBox 5"/>
          <p:cNvSpPr txBox="1"/>
          <p:nvPr/>
        </p:nvSpPr>
        <p:spPr>
          <a:xfrm>
            <a:off x="640080" y="1188720"/>
            <a:ext cx="5486400" cy="4937760"/>
          </a:xfrm>
          <a:prstGeom prst="rect">
            <a:avLst/>
          </a:prstGeom>
          <a:noFill/>
        </p:spPr>
        <p:txBody>
          <a:bodyPr wrap="square" lIns="0" tIns="0" rIns="0" bIns="0" anchor="t">
            <a:spAutoFit/>
          </a:bodyPr>
          <a:lstStyle/>
          <a:p>
            <a:pPr algn="l">
              <a:lnSpc>
                <a:spcPct val="105000"/>
              </a:lnSpc>
            </a:pPr>
            <a:r>
              <a:rPr sz="1600" b="0">
                <a:solidFill>
                  <a:srgbClr val="152042"/>
                </a:solidFill>
                <a:latin typeface="Calibri"/>
              </a:rPr>
              <a:t>Tout le cycle de vie est couvert :</a:t>
            </a:r>
          </a:p>
          <a:p>
            <a:pPr algn="l">
              <a:lnSpc>
                <a:spcPct val="105000"/>
              </a:lnSpc>
            </a:pPr>
            <a:r>
              <a:rPr sz="1600" b="0">
                <a:solidFill>
                  <a:srgbClr val="152042"/>
                </a:solidFill>
                <a:latin typeface="Calibri"/>
              </a:rPr>
              <a:t>  • dossier étudiant / alumni</a:t>
            </a:r>
          </a:p>
          <a:p>
            <a:pPr algn="l">
              <a:lnSpc>
                <a:spcPct val="105000"/>
              </a:lnSpc>
            </a:pPr>
            <a:r>
              <a:rPr sz="1600" b="0">
                <a:solidFill>
                  <a:srgbClr val="152042"/>
                </a:solidFill>
                <a:latin typeface="Calibri"/>
              </a:rPr>
              <a:t>  • expériences et certifications</a:t>
            </a:r>
          </a:p>
          <a:p>
            <a:pPr algn="l">
              <a:lnSpc>
                <a:spcPct val="105000"/>
              </a:lnSpc>
            </a:pPr>
            <a:r>
              <a:rPr sz="1600" b="0">
                <a:solidFill>
                  <a:srgbClr val="152042"/>
                </a:solidFill>
                <a:latin typeface="Calibri"/>
              </a:rPr>
              <a:t>  • consentements RGPD</a:t>
            </a:r>
          </a:p>
          <a:p>
            <a:pPr algn="l">
              <a:lnSpc>
                <a:spcPct val="105000"/>
              </a:lnSpc>
            </a:pPr>
            <a:endParaRPr sz="1600" b="0">
              <a:solidFill>
                <a:srgbClr val="152042"/>
              </a:solidFill>
              <a:latin typeface="Calibri"/>
            </a:endParaRPr>
          </a:p>
          <a:p>
            <a:pPr algn="l">
              <a:lnSpc>
                <a:spcPct val="105000"/>
              </a:lnSpc>
            </a:pPr>
            <a:r>
              <a:rPr sz="1600" b="0">
                <a:solidFill>
                  <a:srgbClr val="152042"/>
                </a:solidFill>
                <a:latin typeface="Calibri"/>
              </a:rPr>
              <a:t>Parcours de l'alumni :</a:t>
            </a:r>
          </a:p>
          <a:p>
            <a:pPr algn="l">
              <a:lnSpc>
                <a:spcPct val="105000"/>
              </a:lnSpc>
            </a:pPr>
            <a:r>
              <a:rPr sz="1600" b="0">
                <a:solidFill>
                  <a:srgbClr val="152042"/>
                </a:solidFill>
                <a:latin typeface="Calibri"/>
              </a:rPr>
              <a:t>  • inscription en étapes avec code OTP</a:t>
            </a:r>
          </a:p>
          <a:p>
            <a:pPr algn="l">
              <a:lnSpc>
                <a:spcPct val="105000"/>
              </a:lnSpc>
            </a:pPr>
            <a:r>
              <a:rPr sz="1600" b="0">
                <a:solidFill>
                  <a:srgbClr val="152042"/>
                </a:solidFill>
                <a:latin typeface="Calibri"/>
              </a:rPr>
              <a:t>  • profil + parcours professionnel</a:t>
            </a:r>
          </a:p>
          <a:p>
            <a:pPr algn="l">
              <a:lnSpc>
                <a:spcPct val="105000"/>
              </a:lnSpc>
            </a:pPr>
            <a:r>
              <a:rPr sz="1600" b="0">
                <a:solidFill>
                  <a:srgbClr val="152042"/>
                </a:solidFill>
                <a:latin typeface="Calibri"/>
              </a:rPr>
              <a:t>  • questionnaire annuel d'insertion</a:t>
            </a:r>
          </a:p>
        </p:txBody>
      </p:sp>
      <p:pic>
        <p:nvPicPr>
          <p:cNvPr id="7" name="Picture 6" descr="MLD.png"/>
          <p:cNvPicPr>
            <a:picLocks noChangeAspect="1"/>
          </p:cNvPicPr>
          <p:nvPr/>
        </p:nvPicPr>
        <p:blipFill>
          <a:blip r:embed="rId3"/>
          <a:stretch>
            <a:fillRect/>
          </a:stretch>
        </p:blipFill>
        <p:spPr>
          <a:xfrm>
            <a:off x="6400800" y="2180218"/>
            <a:ext cx="5120640" cy="268044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2191695" cy="1051560"/>
          </a:xfrm>
          <a:prstGeom prst="rect">
            <a:avLst/>
          </a:prstGeom>
          <a:noFill/>
        </p:spPr>
        <p:txBody>
          <a:bodyPr wrap="square" lIns="0" tIns="0" rIns="0" bIns="0" anchor="t">
            <a:spAutoFit/>
          </a:bodyPr>
          <a:lstStyle/>
          <a:p>
            <a:pPr algn="l">
              <a:lnSpc>
                <a:spcPct val="105000"/>
              </a:lnSpc>
            </a:pPr>
            <a:r>
              <a:rPr sz="2700" b="1">
                <a:solidFill>
                  <a:srgbClr val="152042"/>
                </a:solidFill>
                <a:latin typeface="Calibri"/>
              </a:rPr>
              <a:t>Le RGPD, pris dès le départ</a:t>
            </a:r>
          </a:p>
        </p:txBody>
      </p:sp>
      <p:sp>
        <p:nvSpPr>
          <p:cNvPr id="3" name="TextBox 2"/>
          <p:cNvSpPr txBox="1"/>
          <p:nvPr/>
        </p:nvSpPr>
        <p:spPr>
          <a:xfrm>
            <a:off x="502920" y="932688"/>
            <a:ext cx="2377440" cy="82296"/>
          </a:xfrm>
          <a:prstGeom prst="rect">
            <a:avLst/>
          </a:prstGeom>
          <a:solidFill>
            <a:srgbClr val="2EA06E"/>
          </a:solidFill>
        </p:spPr>
        <p:txBody>
          <a:bodyPr wrap="square" lIns="0" tIns="0" rIns="0" bIns="0" anchor="t">
            <a:spAutoFit/>
          </a:bodyPr>
          <a:lstStyle/>
          <a:p>
            <a:pPr algn="l">
              <a:lnSpc>
                <a:spcPct val="105000"/>
              </a:lnSpc>
            </a:pPr>
            <a:endParaRPr/>
          </a:p>
        </p:txBody>
      </p:sp>
      <p:sp>
        <p:nvSpPr>
          <p:cNvPr id="4" name="TextBox 3"/>
          <p:cNvSpPr txBox="1"/>
          <p:nvPr/>
        </p:nvSpPr>
        <p:spPr>
          <a:xfrm>
            <a:off x="11109960" y="201168"/>
            <a:ext cx="868680" cy="365760"/>
          </a:xfrm>
          <a:prstGeom prst="rect">
            <a:avLst/>
          </a:prstGeom>
          <a:noFill/>
        </p:spPr>
        <p:txBody>
          <a:bodyPr wrap="square" lIns="0" tIns="0" rIns="0" bIns="0" anchor="t">
            <a:spAutoFit/>
          </a:bodyPr>
          <a:lstStyle/>
          <a:p>
            <a:pPr algn="r">
              <a:lnSpc>
                <a:spcPct val="105000"/>
              </a:lnSpc>
            </a:pPr>
            <a:r>
              <a:rPr sz="1200" b="0">
                <a:solidFill>
                  <a:srgbClr val="606A7E"/>
                </a:solidFill>
                <a:latin typeface="Calibri"/>
              </a:rPr>
              <a:t>0:45</a:t>
            </a:r>
          </a:p>
        </p:txBody>
      </p:sp>
      <p:sp>
        <p:nvSpPr>
          <p:cNvPr id="5" name="TextBox 4"/>
          <p:cNvSpPr txBox="1"/>
          <p:nvPr/>
        </p:nvSpPr>
        <p:spPr>
          <a:xfrm>
            <a:off x="0" y="6446520"/>
            <a:ext cx="12191695" cy="320040"/>
          </a:xfrm>
          <a:prstGeom prst="rect">
            <a:avLst/>
          </a:prstGeom>
          <a:solidFill>
            <a:srgbClr val="152042"/>
          </a:solidFill>
        </p:spPr>
        <p:txBody>
          <a:bodyPr wrap="square" lIns="0" tIns="0" rIns="0" bIns="0" anchor="t">
            <a:spAutoFit/>
          </a:bodyPr>
          <a:lstStyle/>
          <a:p>
            <a:pPr algn="l">
              <a:lnSpc>
                <a:spcPct val="105000"/>
              </a:lnSpc>
            </a:pPr>
            <a:endParaRPr/>
          </a:p>
        </p:txBody>
      </p:sp>
      <p:sp>
        <p:nvSpPr>
          <p:cNvPr id="6" name="TextBox 5"/>
          <p:cNvSpPr txBox="1"/>
          <p:nvPr/>
        </p:nvSpPr>
        <p:spPr>
          <a:xfrm>
            <a:off x="640080" y="1371600"/>
            <a:ext cx="10972800" cy="4846320"/>
          </a:xfrm>
          <a:prstGeom prst="rect">
            <a:avLst/>
          </a:prstGeom>
          <a:noFill/>
        </p:spPr>
        <p:txBody>
          <a:bodyPr wrap="square" lIns="0" tIns="0" rIns="0" bIns="0">
            <a:spAutoFit/>
          </a:bodyPr>
          <a:lstStyle/>
          <a:p>
            <a:pPr>
              <a:lnSpc>
                <a:spcPct val="112000"/>
              </a:lnSpc>
              <a:spcAft>
                <a:spcPts val="1000"/>
              </a:spcAft>
            </a:pPr>
            <a:r>
              <a:rPr sz="1600">
                <a:solidFill>
                  <a:srgbClr val="152042"/>
                </a:solidFill>
                <a:latin typeface="Calibri"/>
              </a:rPr>
              <a:t>4 types de consentement, tracés et réellement consommés (contact, partage, enquêtes, newsletter)</a:t>
            </a:r>
          </a:p>
          <a:p>
            <a:pPr>
              <a:lnSpc>
                <a:spcPct val="112000"/>
              </a:lnSpc>
              <a:spcAft>
                <a:spcPts val="1000"/>
              </a:spcAft>
            </a:pPr>
            <a:r>
              <a:rPr sz="1600">
                <a:solidFill>
                  <a:srgbClr val="152042"/>
                </a:solidFill>
                <a:latin typeface="Calibri"/>
              </a:rPr>
              <a:t>Demandes d'export et de suppression via un workflow avec verrou anti-double-traitement</a:t>
            </a:r>
          </a:p>
          <a:p>
            <a:pPr>
              <a:lnSpc>
                <a:spcPct val="112000"/>
              </a:lnSpc>
              <a:spcAft>
                <a:spcPts val="1000"/>
              </a:spcAft>
            </a:pPr>
            <a:r>
              <a:rPr sz="1600">
                <a:solidFill>
                  <a:srgbClr val="152042"/>
                </a:solidFill>
                <a:latin typeface="Calibri"/>
              </a:rPr>
              <a:t>Choix entre anonymiser et supprimer définitivement (suppression réservée aux doublons)</a:t>
            </a:r>
          </a:p>
          <a:p>
            <a:pPr>
              <a:lnSpc>
                <a:spcPct val="112000"/>
              </a:lnSpc>
              <a:spcAft>
                <a:spcPts val="1000"/>
              </a:spcAft>
            </a:pPr>
            <a:r>
              <a:rPr sz="1600">
                <a:solidFill>
                  <a:srgbClr val="152042"/>
                </a:solidFill>
                <a:latin typeface="Calibri"/>
              </a:rPr>
              <a:t>Purge différée paramétrable : 6 mois par défaut (purge.py --dry-run)</a:t>
            </a:r>
          </a:p>
          <a:p>
            <a:pPr>
              <a:lnSpc>
                <a:spcPct val="112000"/>
              </a:lnSpc>
              <a:spcAft>
                <a:spcPts val="1000"/>
              </a:spcAft>
            </a:pPr>
            <a:r>
              <a:rPr sz="1600">
                <a:solidFill>
                  <a:srgbClr val="152042"/>
                </a:solidFill>
                <a:latin typeface="Calibri"/>
              </a:rPr>
              <a:t>Durée de conservation affichée à l'alumni + contact DPO</a:t>
            </a:r>
          </a:p>
          <a:p>
            <a:pPr>
              <a:lnSpc>
                <a:spcPct val="112000"/>
              </a:lnSpc>
              <a:spcAft>
                <a:spcPts val="1000"/>
              </a:spcAft>
            </a:pPr>
            <a:r>
              <a:rPr sz="1600">
                <a:solidFill>
                  <a:srgbClr val="152042"/>
                </a:solidFill>
                <a:latin typeface="Calibri"/>
              </a:rPr>
              <a:t>Livrables d'accompagnement : cartographie des données + charte RGPD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2191695" cy="1051560"/>
          </a:xfrm>
          <a:prstGeom prst="rect">
            <a:avLst/>
          </a:prstGeom>
          <a:noFill/>
        </p:spPr>
        <p:txBody>
          <a:bodyPr wrap="square" lIns="0" tIns="0" rIns="0" bIns="0" anchor="t">
            <a:spAutoFit/>
          </a:bodyPr>
          <a:lstStyle/>
          <a:p>
            <a:pPr algn="l">
              <a:lnSpc>
                <a:spcPct val="105000"/>
              </a:lnSpc>
            </a:pPr>
            <a:r>
              <a:rPr sz="2700" b="1">
                <a:solidFill>
                  <a:srgbClr val="152042"/>
                </a:solidFill>
                <a:latin typeface="Calibri"/>
              </a:rPr>
              <a:t>Audit de sécurité : les failles corrigées</a:t>
            </a:r>
          </a:p>
        </p:txBody>
      </p:sp>
      <p:sp>
        <p:nvSpPr>
          <p:cNvPr id="3" name="TextBox 2"/>
          <p:cNvSpPr txBox="1"/>
          <p:nvPr/>
        </p:nvSpPr>
        <p:spPr>
          <a:xfrm>
            <a:off x="502920" y="932688"/>
            <a:ext cx="2377440" cy="82296"/>
          </a:xfrm>
          <a:prstGeom prst="rect">
            <a:avLst/>
          </a:prstGeom>
          <a:solidFill>
            <a:srgbClr val="2EA06E"/>
          </a:solidFill>
        </p:spPr>
        <p:txBody>
          <a:bodyPr wrap="square" lIns="0" tIns="0" rIns="0" bIns="0" anchor="t">
            <a:spAutoFit/>
          </a:bodyPr>
          <a:lstStyle/>
          <a:p>
            <a:pPr algn="l">
              <a:lnSpc>
                <a:spcPct val="105000"/>
              </a:lnSpc>
            </a:pPr>
            <a:endParaRPr/>
          </a:p>
        </p:txBody>
      </p:sp>
      <p:sp>
        <p:nvSpPr>
          <p:cNvPr id="4" name="TextBox 3"/>
          <p:cNvSpPr txBox="1"/>
          <p:nvPr/>
        </p:nvSpPr>
        <p:spPr>
          <a:xfrm>
            <a:off x="0" y="1078992"/>
            <a:ext cx="12191695" cy="365760"/>
          </a:xfrm>
          <a:prstGeom prst="rect">
            <a:avLst/>
          </a:prstGeom>
          <a:noFill/>
        </p:spPr>
        <p:txBody>
          <a:bodyPr wrap="square" lIns="0" tIns="0" rIns="0" bIns="0" anchor="t">
            <a:spAutoFit/>
          </a:bodyPr>
          <a:lstStyle/>
          <a:p>
            <a:pPr algn="l">
              <a:lnSpc>
                <a:spcPct val="105000"/>
              </a:lnSpc>
            </a:pPr>
            <a:r>
              <a:rPr sz="1500" b="0">
                <a:solidFill>
                  <a:srgbClr val="606A7E"/>
                </a:solidFill>
                <a:latin typeface="Calibri"/>
              </a:rPr>
              <a:t>un passage au crible, des correctifs versionnés</a:t>
            </a:r>
          </a:p>
        </p:txBody>
      </p:sp>
      <p:sp>
        <p:nvSpPr>
          <p:cNvPr id="5" name="TextBox 4"/>
          <p:cNvSpPr txBox="1"/>
          <p:nvPr/>
        </p:nvSpPr>
        <p:spPr>
          <a:xfrm>
            <a:off x="11109960" y="201168"/>
            <a:ext cx="868680" cy="365760"/>
          </a:xfrm>
          <a:prstGeom prst="rect">
            <a:avLst/>
          </a:prstGeom>
          <a:noFill/>
        </p:spPr>
        <p:txBody>
          <a:bodyPr wrap="square" lIns="0" tIns="0" rIns="0" bIns="0" anchor="t">
            <a:spAutoFit/>
          </a:bodyPr>
          <a:lstStyle/>
          <a:p>
            <a:pPr algn="r">
              <a:lnSpc>
                <a:spcPct val="105000"/>
              </a:lnSpc>
            </a:pPr>
            <a:r>
              <a:rPr sz="1200" b="0">
                <a:solidFill>
                  <a:srgbClr val="606A7E"/>
                </a:solidFill>
                <a:latin typeface="Calibri"/>
              </a:rPr>
              <a:t>0:45</a:t>
            </a:r>
          </a:p>
        </p:txBody>
      </p:sp>
      <p:sp>
        <p:nvSpPr>
          <p:cNvPr id="6" name="TextBox 5"/>
          <p:cNvSpPr txBox="1"/>
          <p:nvPr/>
        </p:nvSpPr>
        <p:spPr>
          <a:xfrm>
            <a:off x="0" y="6446520"/>
            <a:ext cx="12191695" cy="320040"/>
          </a:xfrm>
          <a:prstGeom prst="rect">
            <a:avLst/>
          </a:prstGeom>
          <a:solidFill>
            <a:srgbClr val="152042"/>
          </a:solidFill>
        </p:spPr>
        <p:txBody>
          <a:bodyPr wrap="square" lIns="0" tIns="0" rIns="0" bIns="0" anchor="t">
            <a:spAutoFit/>
          </a:bodyPr>
          <a:lstStyle/>
          <a:p>
            <a:pPr algn="l">
              <a:lnSpc>
                <a:spcPct val="105000"/>
              </a:lnSpc>
            </a:pPr>
            <a:endParaRPr/>
          </a:p>
        </p:txBody>
      </p:sp>
      <p:sp>
        <p:nvSpPr>
          <p:cNvPr id="7" name="TextBox 6"/>
          <p:cNvSpPr txBox="1"/>
          <p:nvPr/>
        </p:nvSpPr>
        <p:spPr>
          <a:xfrm>
            <a:off x="640080" y="1463040"/>
            <a:ext cx="5852160" cy="4846320"/>
          </a:xfrm>
          <a:prstGeom prst="rect">
            <a:avLst/>
          </a:prstGeom>
          <a:noFill/>
        </p:spPr>
        <p:txBody>
          <a:bodyPr wrap="square" lIns="0" tIns="0" rIns="0" bIns="0">
            <a:spAutoFit/>
          </a:bodyPr>
          <a:lstStyle/>
          <a:p>
            <a:pPr>
              <a:lnSpc>
                <a:spcPct val="112000"/>
              </a:lnSpc>
              <a:spcAft>
                <a:spcPts val="1000"/>
              </a:spcAft>
            </a:pPr>
            <a:r>
              <a:rPr sz="1400">
                <a:solidFill>
                  <a:srgbClr val="152042"/>
                </a:solidFill>
                <a:latin typeface="Calibri"/>
              </a:rPr>
              <a:t>Routes POST/DELETE (promotions, entreprises) non protégées</a:t>
            </a:r>
          </a:p>
          <a:p>
            <a:pPr lvl="1">
              <a:lnSpc>
                <a:spcPct val="112000"/>
              </a:lnSpc>
              <a:spcAft>
                <a:spcPts val="1000"/>
              </a:spcAft>
            </a:pPr>
            <a:r>
              <a:rPr sz="1200">
                <a:solidFill>
                  <a:srgbClr val="606A7E"/>
                </a:solidFill>
                <a:latin typeface="Calibri"/>
              </a:rPr>
              <a:t>clé API admin obligatoire sur les écritures sensibles</a:t>
            </a:r>
          </a:p>
          <a:p>
            <a:pPr>
              <a:lnSpc>
                <a:spcPct val="112000"/>
              </a:lnSpc>
              <a:spcAft>
                <a:spcPts val="1000"/>
              </a:spcAft>
            </a:pPr>
            <a:r>
              <a:rPr sz="1400">
                <a:solidFill>
                  <a:srgbClr val="152042"/>
                </a:solidFill>
                <a:latin typeface="Calibri"/>
              </a:rPr>
              <a:t>Route d'upload morte et ouverte</a:t>
            </a:r>
          </a:p>
          <a:p>
            <a:pPr lvl="1">
              <a:lnSpc>
                <a:spcPct val="112000"/>
              </a:lnSpc>
              <a:spcAft>
                <a:spcPts val="1000"/>
              </a:spcAft>
            </a:pPr>
            <a:r>
              <a:rPr sz="1200">
                <a:solidFill>
                  <a:srgbClr val="606A7E"/>
                </a:solidFill>
                <a:latin typeface="Calibri"/>
              </a:rPr>
              <a:t>router supprimé, import via la route protégée uniquement</a:t>
            </a:r>
          </a:p>
          <a:p>
            <a:pPr>
              <a:lnSpc>
                <a:spcPct val="112000"/>
              </a:lnSpc>
              <a:spcAft>
                <a:spcPts val="1000"/>
              </a:spcAft>
            </a:pPr>
            <a:r>
              <a:rPr sz="1400">
                <a:solidFill>
                  <a:srgbClr val="152042"/>
                </a:solidFill>
                <a:latin typeface="Calibri"/>
              </a:rPr>
              <a:t>IDOR : un alumni pouvait lire et modifier les réponses d'un autre</a:t>
            </a:r>
          </a:p>
          <a:p>
            <a:pPr lvl="1">
              <a:lnSpc>
                <a:spcPct val="112000"/>
              </a:lnSpc>
              <a:spcAft>
                <a:spcPts val="1000"/>
              </a:spcAft>
            </a:pPr>
            <a:r>
              <a:rPr sz="1200">
                <a:solidFill>
                  <a:srgbClr val="606A7E"/>
                </a:solidFill>
                <a:latin typeface="Calibri"/>
              </a:rPr>
              <a:t>require_owner_or_admin sur les ressources personnelles</a:t>
            </a:r>
          </a:p>
          <a:p>
            <a:pPr>
              <a:lnSpc>
                <a:spcPct val="112000"/>
              </a:lnSpc>
              <a:spcAft>
                <a:spcPts val="1000"/>
              </a:spcAft>
            </a:pPr>
            <a:r>
              <a:rPr sz="1400">
                <a:solidFill>
                  <a:srgbClr val="152042"/>
                </a:solidFill>
                <a:latin typeface="Calibri"/>
              </a:rPr>
              <a:t>Comptes anonymisés redevenus modifiables</a:t>
            </a:r>
          </a:p>
          <a:p>
            <a:pPr lvl="1">
              <a:lnSpc>
                <a:spcPct val="112000"/>
              </a:lnSpc>
              <a:spcAft>
                <a:spcPts val="1000"/>
              </a:spcAft>
            </a:pPr>
            <a:r>
              <a:rPr sz="1200">
                <a:solidFill>
                  <a:srgbClr val="606A7E"/>
                </a:solidFill>
                <a:latin typeface="Calibri"/>
              </a:rPr>
              <a:t>garde « refuser_compte_anonymise » sur 12 points d'écriture</a:t>
            </a:r>
          </a:p>
          <a:p>
            <a:pPr>
              <a:lnSpc>
                <a:spcPct val="112000"/>
              </a:lnSpc>
              <a:spcAft>
                <a:spcPts val="1000"/>
              </a:spcAft>
            </a:pPr>
            <a:r>
              <a:rPr sz="1400">
                <a:solidFill>
                  <a:srgbClr val="152042"/>
                </a:solidFill>
                <a:latin typeface="Calibri"/>
              </a:rPr>
              <a:t>Suppression d'une promotion avec étudiants rattachés</a:t>
            </a:r>
          </a:p>
          <a:p>
            <a:pPr lvl="1">
              <a:lnSpc>
                <a:spcPct val="112000"/>
              </a:lnSpc>
              <a:spcAft>
                <a:spcPts val="1000"/>
              </a:spcAft>
            </a:pPr>
            <a:r>
              <a:rPr sz="1200">
                <a:solidFill>
                  <a:srgbClr val="606A7E"/>
                </a:solidFill>
                <a:latin typeface="Calibri"/>
              </a:rPr>
              <a:t>409 sauf ?force=true</a:t>
            </a:r>
          </a:p>
        </p:txBody>
      </p:sp>
      <p:pic>
        <p:nvPicPr>
          <p:cNvPr id="8" name="Picture 7" descr="anB_demandes_rgpd_light.png"/>
          <p:cNvPicPr>
            <a:picLocks noChangeAspect="1"/>
          </p:cNvPicPr>
          <p:nvPr/>
        </p:nvPicPr>
        <p:blipFill>
          <a:blip r:embed="rId3"/>
          <a:stretch>
            <a:fillRect/>
          </a:stretch>
        </p:blipFill>
        <p:spPr>
          <a:xfrm>
            <a:off x="6949440" y="2320289"/>
            <a:ext cx="4572000" cy="2857500"/>
          </a:xfrm>
          <a:prstGeom prst="rect">
            <a:avLst/>
          </a:prstGeom>
        </p:spPr>
      </p:pic>
      <p:sp>
        <p:nvSpPr>
          <p:cNvPr id="9" name="TextBox 8"/>
          <p:cNvSpPr txBox="1"/>
          <p:nvPr/>
        </p:nvSpPr>
        <p:spPr>
          <a:xfrm>
            <a:off x="6949440" y="5989320"/>
            <a:ext cx="4572000" cy="365760"/>
          </a:xfrm>
          <a:prstGeom prst="rect">
            <a:avLst/>
          </a:prstGeom>
          <a:noFill/>
        </p:spPr>
        <p:txBody>
          <a:bodyPr wrap="square" lIns="0" tIns="0" rIns="0" bIns="0" anchor="t">
            <a:spAutoFit/>
          </a:bodyPr>
          <a:lstStyle/>
          <a:p>
            <a:pPr algn="ctr">
              <a:lnSpc>
                <a:spcPct val="105000"/>
              </a:lnSpc>
            </a:pPr>
            <a:r>
              <a:rPr sz="1300" b="0">
                <a:solidFill>
                  <a:srgbClr val="606A7E"/>
                </a:solidFill>
                <a:latin typeface="Calibri"/>
              </a:rPr>
              <a:t>le workflow RGPD, rendu robuste par l'audit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2191695" cy="1051560"/>
          </a:xfrm>
          <a:prstGeom prst="rect">
            <a:avLst/>
          </a:prstGeom>
          <a:noFill/>
        </p:spPr>
        <p:txBody>
          <a:bodyPr wrap="square" lIns="0" tIns="0" rIns="0" bIns="0" anchor="t">
            <a:spAutoFit/>
          </a:bodyPr>
          <a:lstStyle/>
          <a:p>
            <a:pPr algn="l">
              <a:lnSpc>
                <a:spcPct val="105000"/>
              </a:lnSpc>
            </a:pPr>
            <a:r>
              <a:rPr sz="2700" b="1">
                <a:solidFill>
                  <a:srgbClr val="152042"/>
                </a:solidFill>
                <a:latin typeface="Calibri"/>
              </a:rPr>
              <a:t>Démo — l'espace alumni</a:t>
            </a:r>
          </a:p>
        </p:txBody>
      </p:sp>
      <p:sp>
        <p:nvSpPr>
          <p:cNvPr id="3" name="TextBox 2"/>
          <p:cNvSpPr txBox="1"/>
          <p:nvPr/>
        </p:nvSpPr>
        <p:spPr>
          <a:xfrm>
            <a:off x="502920" y="932688"/>
            <a:ext cx="2377440" cy="82296"/>
          </a:xfrm>
          <a:prstGeom prst="rect">
            <a:avLst/>
          </a:prstGeom>
          <a:solidFill>
            <a:srgbClr val="2EA06E"/>
          </a:solidFill>
        </p:spPr>
        <p:txBody>
          <a:bodyPr wrap="square" lIns="0" tIns="0" rIns="0" bIns="0" anchor="t">
            <a:spAutoFit/>
          </a:bodyPr>
          <a:lstStyle/>
          <a:p>
            <a:pPr algn="l">
              <a:lnSpc>
                <a:spcPct val="105000"/>
              </a:lnSpc>
            </a:pPr>
            <a:endParaRPr/>
          </a:p>
        </p:txBody>
      </p:sp>
      <p:sp>
        <p:nvSpPr>
          <p:cNvPr id="4" name="TextBox 3"/>
          <p:cNvSpPr txBox="1"/>
          <p:nvPr/>
        </p:nvSpPr>
        <p:spPr>
          <a:xfrm>
            <a:off x="11109960" y="201168"/>
            <a:ext cx="868680" cy="365760"/>
          </a:xfrm>
          <a:prstGeom prst="rect">
            <a:avLst/>
          </a:prstGeom>
          <a:noFill/>
        </p:spPr>
        <p:txBody>
          <a:bodyPr wrap="square" lIns="0" tIns="0" rIns="0" bIns="0" anchor="t">
            <a:spAutoFit/>
          </a:bodyPr>
          <a:lstStyle/>
          <a:p>
            <a:pPr algn="r">
              <a:lnSpc>
                <a:spcPct val="105000"/>
              </a:lnSpc>
            </a:pPr>
            <a:r>
              <a:rPr sz="1200" b="0">
                <a:solidFill>
                  <a:srgbClr val="606A7E"/>
                </a:solidFill>
                <a:latin typeface="Calibri"/>
              </a:rPr>
              <a:t>1:15</a:t>
            </a:r>
          </a:p>
        </p:txBody>
      </p:sp>
      <p:sp>
        <p:nvSpPr>
          <p:cNvPr id="5" name="TextBox 4"/>
          <p:cNvSpPr txBox="1"/>
          <p:nvPr/>
        </p:nvSpPr>
        <p:spPr>
          <a:xfrm>
            <a:off x="0" y="6446520"/>
            <a:ext cx="12191695" cy="320040"/>
          </a:xfrm>
          <a:prstGeom prst="rect">
            <a:avLst/>
          </a:prstGeom>
          <a:solidFill>
            <a:srgbClr val="152042"/>
          </a:solidFill>
        </p:spPr>
        <p:txBody>
          <a:bodyPr wrap="square" lIns="0" tIns="0" rIns="0" bIns="0" anchor="t">
            <a:spAutoFit/>
          </a:bodyPr>
          <a:lstStyle/>
          <a:p>
            <a:pPr algn="l">
              <a:lnSpc>
                <a:spcPct val="105000"/>
              </a:lnSpc>
            </a:pPr>
            <a:endParaRPr/>
          </a:p>
        </p:txBody>
      </p:sp>
      <p:pic>
        <p:nvPicPr>
          <p:cNvPr id="6" name="Picture 5" descr="anC_inscription_light_1.png"/>
          <p:cNvPicPr>
            <a:picLocks noChangeAspect="1"/>
          </p:cNvPicPr>
          <p:nvPr/>
        </p:nvPicPr>
        <p:blipFill>
          <a:blip r:embed="rId3"/>
          <a:stretch>
            <a:fillRect/>
          </a:stretch>
        </p:blipFill>
        <p:spPr>
          <a:xfrm>
            <a:off x="1419307" y="1234440"/>
            <a:ext cx="3562184" cy="2560320"/>
          </a:xfrm>
          <a:prstGeom prst="rect">
            <a:avLst/>
          </a:prstGeom>
        </p:spPr>
      </p:pic>
      <p:sp>
        <p:nvSpPr>
          <p:cNvPr id="7" name="TextBox 6"/>
          <p:cNvSpPr txBox="1"/>
          <p:nvPr/>
        </p:nvSpPr>
        <p:spPr>
          <a:xfrm>
            <a:off x="502920" y="3813048"/>
            <a:ext cx="5394960" cy="365760"/>
          </a:xfrm>
          <a:prstGeom prst="rect">
            <a:avLst/>
          </a:prstGeom>
          <a:noFill/>
        </p:spPr>
        <p:txBody>
          <a:bodyPr wrap="square" lIns="0" tIns="0" rIns="0" bIns="0" anchor="t">
            <a:spAutoFit/>
          </a:bodyPr>
          <a:lstStyle/>
          <a:p>
            <a:pPr algn="ctr">
              <a:lnSpc>
                <a:spcPct val="105000"/>
              </a:lnSpc>
            </a:pPr>
            <a:r>
              <a:rPr sz="1400" b="0">
                <a:solidFill>
                  <a:srgbClr val="606A7E"/>
                </a:solidFill>
                <a:latin typeface="Calibri"/>
              </a:rPr>
              <a:t>Inscription en étapes</a:t>
            </a:r>
          </a:p>
        </p:txBody>
      </p:sp>
      <p:pic>
        <p:nvPicPr>
          <p:cNvPr id="8" name="Picture 7" descr="anC_inscription_light_2.png"/>
          <p:cNvPicPr>
            <a:picLocks noChangeAspect="1"/>
          </p:cNvPicPr>
          <p:nvPr/>
        </p:nvPicPr>
        <p:blipFill>
          <a:blip r:embed="rId4"/>
          <a:stretch>
            <a:fillRect/>
          </a:stretch>
        </p:blipFill>
        <p:spPr>
          <a:xfrm>
            <a:off x="6309360" y="1717157"/>
            <a:ext cx="5394960" cy="1594885"/>
          </a:xfrm>
          <a:prstGeom prst="rect">
            <a:avLst/>
          </a:prstGeom>
        </p:spPr>
      </p:pic>
      <p:sp>
        <p:nvSpPr>
          <p:cNvPr id="9" name="TextBox 8"/>
          <p:cNvSpPr txBox="1"/>
          <p:nvPr/>
        </p:nvSpPr>
        <p:spPr>
          <a:xfrm>
            <a:off x="6309360" y="3813048"/>
            <a:ext cx="5394960" cy="365760"/>
          </a:xfrm>
          <a:prstGeom prst="rect">
            <a:avLst/>
          </a:prstGeom>
          <a:noFill/>
        </p:spPr>
        <p:txBody>
          <a:bodyPr wrap="square" lIns="0" tIns="0" rIns="0" bIns="0" anchor="t">
            <a:spAutoFit/>
          </a:bodyPr>
          <a:lstStyle/>
          <a:p>
            <a:pPr algn="ctr">
              <a:lnSpc>
                <a:spcPct val="105000"/>
              </a:lnSpc>
            </a:pPr>
            <a:r>
              <a:rPr sz="1400" b="0">
                <a:solidFill>
                  <a:srgbClr val="606A7E"/>
                </a:solidFill>
                <a:latin typeface="Calibri"/>
              </a:rPr>
              <a:t>Vérification par code OTP</a:t>
            </a:r>
          </a:p>
        </p:txBody>
      </p:sp>
      <p:pic>
        <p:nvPicPr>
          <p:cNvPr id="10" name="Picture 9" descr="anC_profil_light_1.png"/>
          <p:cNvPicPr>
            <a:picLocks noChangeAspect="1"/>
          </p:cNvPicPr>
          <p:nvPr/>
        </p:nvPicPr>
        <p:blipFill>
          <a:blip r:embed="rId5"/>
          <a:stretch>
            <a:fillRect/>
          </a:stretch>
        </p:blipFill>
        <p:spPr>
          <a:xfrm>
            <a:off x="1419307" y="4069080"/>
            <a:ext cx="3562184" cy="2560320"/>
          </a:xfrm>
          <a:prstGeom prst="rect">
            <a:avLst/>
          </a:prstGeom>
        </p:spPr>
      </p:pic>
      <p:sp>
        <p:nvSpPr>
          <p:cNvPr id="11" name="TextBox 10"/>
          <p:cNvSpPr txBox="1"/>
          <p:nvPr/>
        </p:nvSpPr>
        <p:spPr>
          <a:xfrm>
            <a:off x="502920" y="6647688"/>
            <a:ext cx="5394960" cy="365760"/>
          </a:xfrm>
          <a:prstGeom prst="rect">
            <a:avLst/>
          </a:prstGeom>
          <a:noFill/>
        </p:spPr>
        <p:txBody>
          <a:bodyPr wrap="square" lIns="0" tIns="0" rIns="0" bIns="0" anchor="t">
            <a:spAutoFit/>
          </a:bodyPr>
          <a:lstStyle/>
          <a:p>
            <a:pPr algn="ctr">
              <a:lnSpc>
                <a:spcPct val="105000"/>
              </a:lnSpc>
            </a:pPr>
            <a:r>
              <a:rPr sz="1400" b="0">
                <a:solidFill>
                  <a:srgbClr val="606A7E"/>
                </a:solidFill>
                <a:latin typeface="Calibri"/>
              </a:rPr>
              <a:t>Profil et expériences</a:t>
            </a:r>
          </a:p>
        </p:txBody>
      </p:sp>
      <p:pic>
        <p:nvPicPr>
          <p:cNvPr id="12" name="Picture 11" descr="anC_consentement_light_1.png"/>
          <p:cNvPicPr>
            <a:picLocks noChangeAspect="1"/>
          </p:cNvPicPr>
          <p:nvPr/>
        </p:nvPicPr>
        <p:blipFill>
          <a:blip r:embed="rId6"/>
          <a:stretch>
            <a:fillRect/>
          </a:stretch>
        </p:blipFill>
        <p:spPr>
          <a:xfrm>
            <a:off x="7225747" y="4069080"/>
            <a:ext cx="3562184" cy="2560320"/>
          </a:xfrm>
          <a:prstGeom prst="rect">
            <a:avLst/>
          </a:prstGeom>
        </p:spPr>
      </p:pic>
      <p:sp>
        <p:nvSpPr>
          <p:cNvPr id="13" name="TextBox 12"/>
          <p:cNvSpPr txBox="1"/>
          <p:nvPr/>
        </p:nvSpPr>
        <p:spPr>
          <a:xfrm>
            <a:off x="6309360" y="6647688"/>
            <a:ext cx="5394960" cy="365760"/>
          </a:xfrm>
          <a:prstGeom prst="rect">
            <a:avLst/>
          </a:prstGeom>
          <a:noFill/>
        </p:spPr>
        <p:txBody>
          <a:bodyPr wrap="square" lIns="0" tIns="0" rIns="0" bIns="0" anchor="t">
            <a:spAutoFit/>
          </a:bodyPr>
          <a:lstStyle/>
          <a:p>
            <a:pPr algn="ctr">
              <a:lnSpc>
                <a:spcPct val="105000"/>
              </a:lnSpc>
            </a:pPr>
            <a:r>
              <a:rPr sz="1400" b="0">
                <a:solidFill>
                  <a:srgbClr val="606A7E"/>
                </a:solidFill>
                <a:latin typeface="Calibri"/>
              </a:rPr>
              <a:t>Consentements RGPD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2191695" cy="1051560"/>
          </a:xfrm>
          <a:prstGeom prst="rect">
            <a:avLst/>
          </a:prstGeom>
          <a:noFill/>
        </p:spPr>
        <p:txBody>
          <a:bodyPr wrap="square" lIns="0" tIns="0" rIns="0" bIns="0" anchor="t">
            <a:spAutoFit/>
          </a:bodyPr>
          <a:lstStyle/>
          <a:p>
            <a:pPr algn="l">
              <a:lnSpc>
                <a:spcPct val="105000"/>
              </a:lnSpc>
            </a:pPr>
            <a:r>
              <a:rPr sz="2700" b="1">
                <a:solidFill>
                  <a:srgbClr val="152042"/>
                </a:solidFill>
                <a:latin typeface="Calibri"/>
              </a:rPr>
              <a:t>Démo — l'espace admin et les indicateurs</a:t>
            </a:r>
          </a:p>
        </p:txBody>
      </p:sp>
      <p:sp>
        <p:nvSpPr>
          <p:cNvPr id="3" name="TextBox 2"/>
          <p:cNvSpPr txBox="1"/>
          <p:nvPr/>
        </p:nvSpPr>
        <p:spPr>
          <a:xfrm>
            <a:off x="502920" y="932688"/>
            <a:ext cx="2377440" cy="82296"/>
          </a:xfrm>
          <a:prstGeom prst="rect">
            <a:avLst/>
          </a:prstGeom>
          <a:solidFill>
            <a:srgbClr val="2EA06E"/>
          </a:solidFill>
        </p:spPr>
        <p:txBody>
          <a:bodyPr wrap="square" lIns="0" tIns="0" rIns="0" bIns="0" anchor="t">
            <a:spAutoFit/>
          </a:bodyPr>
          <a:lstStyle/>
          <a:p>
            <a:pPr algn="l">
              <a:lnSpc>
                <a:spcPct val="105000"/>
              </a:lnSpc>
            </a:pPr>
            <a:endParaRPr/>
          </a:p>
        </p:txBody>
      </p:sp>
      <p:sp>
        <p:nvSpPr>
          <p:cNvPr id="4" name="TextBox 3"/>
          <p:cNvSpPr txBox="1"/>
          <p:nvPr/>
        </p:nvSpPr>
        <p:spPr>
          <a:xfrm>
            <a:off x="11109960" y="201168"/>
            <a:ext cx="868680" cy="365760"/>
          </a:xfrm>
          <a:prstGeom prst="rect">
            <a:avLst/>
          </a:prstGeom>
          <a:noFill/>
        </p:spPr>
        <p:txBody>
          <a:bodyPr wrap="square" lIns="0" tIns="0" rIns="0" bIns="0" anchor="t">
            <a:spAutoFit/>
          </a:bodyPr>
          <a:lstStyle/>
          <a:p>
            <a:pPr algn="r">
              <a:lnSpc>
                <a:spcPct val="105000"/>
              </a:lnSpc>
            </a:pPr>
            <a:r>
              <a:rPr sz="1200" b="0">
                <a:solidFill>
                  <a:srgbClr val="606A7E"/>
                </a:solidFill>
                <a:latin typeface="Calibri"/>
              </a:rPr>
              <a:t>1:15</a:t>
            </a:r>
          </a:p>
        </p:txBody>
      </p:sp>
      <p:sp>
        <p:nvSpPr>
          <p:cNvPr id="5" name="TextBox 4"/>
          <p:cNvSpPr txBox="1"/>
          <p:nvPr/>
        </p:nvSpPr>
        <p:spPr>
          <a:xfrm>
            <a:off x="0" y="6446520"/>
            <a:ext cx="12191695" cy="320040"/>
          </a:xfrm>
          <a:prstGeom prst="rect">
            <a:avLst/>
          </a:prstGeom>
          <a:solidFill>
            <a:srgbClr val="152042"/>
          </a:solidFill>
        </p:spPr>
        <p:txBody>
          <a:bodyPr wrap="square" lIns="0" tIns="0" rIns="0" bIns="0" anchor="t">
            <a:spAutoFit/>
          </a:bodyPr>
          <a:lstStyle/>
          <a:p>
            <a:pPr algn="l">
              <a:lnSpc>
                <a:spcPct val="105000"/>
              </a:lnSpc>
            </a:pPr>
            <a:endParaRPr/>
          </a:p>
        </p:txBody>
      </p:sp>
      <p:pic>
        <p:nvPicPr>
          <p:cNvPr id="6" name="Picture 5" descr="anB_dashboard_light_1.png"/>
          <p:cNvPicPr>
            <a:picLocks noChangeAspect="1"/>
          </p:cNvPicPr>
          <p:nvPr/>
        </p:nvPicPr>
        <p:blipFill>
          <a:blip r:embed="rId3"/>
          <a:stretch>
            <a:fillRect/>
          </a:stretch>
        </p:blipFill>
        <p:spPr>
          <a:xfrm>
            <a:off x="1914276" y="1280160"/>
            <a:ext cx="3943846" cy="2834640"/>
          </a:xfrm>
          <a:prstGeom prst="rect">
            <a:avLst/>
          </a:prstGeom>
        </p:spPr>
      </p:pic>
      <p:pic>
        <p:nvPicPr>
          <p:cNvPr id="7" name="Picture 6" descr="anB_annuaire_light.png"/>
          <p:cNvPicPr>
            <a:picLocks noChangeAspect="1"/>
          </p:cNvPicPr>
          <p:nvPr/>
        </p:nvPicPr>
        <p:blipFill>
          <a:blip r:embed="rId4"/>
          <a:stretch>
            <a:fillRect/>
          </a:stretch>
        </p:blipFill>
        <p:spPr>
          <a:xfrm>
            <a:off x="2549218" y="4206240"/>
            <a:ext cx="2673963" cy="1920240"/>
          </a:xfrm>
          <a:prstGeom prst="rect">
            <a:avLst/>
          </a:prstGeom>
        </p:spPr>
      </p:pic>
      <p:sp>
        <p:nvSpPr>
          <p:cNvPr id="8" name="TextBox 7"/>
          <p:cNvSpPr txBox="1"/>
          <p:nvPr/>
        </p:nvSpPr>
        <p:spPr>
          <a:xfrm>
            <a:off x="7498079" y="1371600"/>
            <a:ext cx="4206240" cy="4754880"/>
          </a:xfrm>
          <a:prstGeom prst="rect">
            <a:avLst/>
          </a:prstGeom>
          <a:noFill/>
        </p:spPr>
        <p:txBody>
          <a:bodyPr wrap="square" lIns="0" tIns="0" rIns="0" bIns="0" anchor="t">
            <a:spAutoFit/>
          </a:bodyPr>
          <a:lstStyle/>
          <a:p>
            <a:pPr algn="l">
              <a:lnSpc>
                <a:spcPct val="105000"/>
              </a:lnSpc>
            </a:pPr>
            <a:r>
              <a:rPr sz="1450" b="0">
                <a:solidFill>
                  <a:srgbClr val="152042"/>
                </a:solidFill>
                <a:latin typeface="Calibri"/>
              </a:rPr>
              <a:t>8 indicateurs de base : total alumni, actifs, complétion, emploi 6 mois, emploi global, salaire, secteur, type de contrat</a:t>
            </a:r>
          </a:p>
          <a:p>
            <a:pPr algn="l">
              <a:lnSpc>
                <a:spcPct val="105000"/>
              </a:lnSpc>
            </a:pPr>
            <a:r>
              <a:rPr sz="1450" b="0">
                <a:solidFill>
                  <a:srgbClr val="152042"/>
                </a:solidFill>
                <a:latin typeface="Calibri"/>
              </a:rPr>
              <a:t>Taux d'emploi à 6 mois : expériences actives à la date de référence ; cohortes jeunes = « en cours », jamais un faux chiffre</a:t>
            </a:r>
          </a:p>
          <a:p>
            <a:pPr algn="l">
              <a:lnSpc>
                <a:spcPct val="105000"/>
              </a:lnSpc>
            </a:pPr>
            <a:r>
              <a:rPr sz="1450" b="0">
                <a:solidFill>
                  <a:srgbClr val="152042"/>
                </a:solidFill>
                <a:latin typeface="Calibri"/>
              </a:rPr>
              <a:t>Indicateurs dérivés par question taguée KPI : ajouter un tag enrichit le tableau de bord sans toucher au backend</a:t>
            </a:r>
          </a:p>
          <a:p>
            <a:pPr algn="l">
              <a:lnSpc>
                <a:spcPct val="105000"/>
              </a:lnSpc>
            </a:pPr>
            <a:r>
              <a:rPr sz="1450" b="0">
                <a:solidFill>
                  <a:srgbClr val="152042"/>
                </a:solidFill>
                <a:latin typeface="Calibri"/>
              </a:rPr>
              <a:t>Annuaire filtrable : promotion, secteur, entreprise, disponibilité, compétence</a:t>
            </a:r>
          </a:p>
          <a:p>
            <a:pPr algn="l">
              <a:lnSpc>
                <a:spcPct val="105000"/>
              </a:lnSpc>
            </a:pPr>
            <a:r>
              <a:rPr sz="1450" b="0">
                <a:solidFill>
                  <a:srgbClr val="152042"/>
                </a:solidFill>
                <a:latin typeface="Calibri"/>
              </a:rPr>
              <a:t>Import / export via template Excel, validation ligne par ligne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2191695" cy="1051560"/>
          </a:xfrm>
          <a:prstGeom prst="rect">
            <a:avLst/>
          </a:prstGeom>
          <a:noFill/>
        </p:spPr>
        <p:txBody>
          <a:bodyPr wrap="square" lIns="0" tIns="0" rIns="0" bIns="0" anchor="t">
            <a:spAutoFit/>
          </a:bodyPr>
          <a:lstStyle/>
          <a:p>
            <a:pPr algn="l">
              <a:lnSpc>
                <a:spcPct val="105000"/>
              </a:lnSpc>
            </a:pPr>
            <a:r>
              <a:rPr sz="2700" b="1">
                <a:solidFill>
                  <a:srgbClr val="152042"/>
                </a:solidFill>
                <a:latin typeface="Calibri"/>
              </a:rPr>
              <a:t>Les 8 indicateurs : formules et exemples</a:t>
            </a:r>
          </a:p>
        </p:txBody>
      </p:sp>
      <p:sp>
        <p:nvSpPr>
          <p:cNvPr id="3" name="TextBox 2"/>
          <p:cNvSpPr txBox="1"/>
          <p:nvPr/>
        </p:nvSpPr>
        <p:spPr>
          <a:xfrm>
            <a:off x="502920" y="932688"/>
            <a:ext cx="2377440" cy="82296"/>
          </a:xfrm>
          <a:prstGeom prst="rect">
            <a:avLst/>
          </a:prstGeom>
          <a:solidFill>
            <a:srgbClr val="2EA06E"/>
          </a:solidFill>
        </p:spPr>
        <p:txBody>
          <a:bodyPr wrap="square" lIns="0" tIns="0" rIns="0" bIns="0" anchor="t">
            <a:spAutoFit/>
          </a:bodyPr>
          <a:lstStyle/>
          <a:p>
            <a:pPr algn="l">
              <a:lnSpc>
                <a:spcPct val="105000"/>
              </a:lnSpc>
            </a:pPr>
            <a:endParaRPr/>
          </a:p>
        </p:txBody>
      </p:sp>
      <p:sp>
        <p:nvSpPr>
          <p:cNvPr id="4" name="TextBox 3"/>
          <p:cNvSpPr txBox="1"/>
          <p:nvPr/>
        </p:nvSpPr>
        <p:spPr>
          <a:xfrm>
            <a:off x="0" y="1078992"/>
            <a:ext cx="12191695" cy="365760"/>
          </a:xfrm>
          <a:prstGeom prst="rect">
            <a:avLst/>
          </a:prstGeom>
          <a:noFill/>
        </p:spPr>
        <p:txBody>
          <a:bodyPr wrap="square" lIns="0" tIns="0" rIns="0" bIns="0" anchor="t">
            <a:spAutoFit/>
          </a:bodyPr>
          <a:lstStyle/>
          <a:p>
            <a:pPr algn="l">
              <a:lnSpc>
                <a:spcPct val="105000"/>
              </a:lnSpc>
            </a:pPr>
            <a:r>
              <a:rPr sz="1500" b="0">
                <a:solidFill>
                  <a:srgbClr val="606A7E"/>
                </a:solidFill>
                <a:latin typeface="Calibri"/>
              </a:rPr>
              <a:t>la table des indicateurs d'insertion du rapport</a:t>
            </a:r>
          </a:p>
        </p:txBody>
      </p:sp>
      <p:sp>
        <p:nvSpPr>
          <p:cNvPr id="5" name="TextBox 4"/>
          <p:cNvSpPr txBox="1"/>
          <p:nvPr/>
        </p:nvSpPr>
        <p:spPr>
          <a:xfrm>
            <a:off x="11109960" y="201168"/>
            <a:ext cx="868680" cy="365760"/>
          </a:xfrm>
          <a:prstGeom prst="rect">
            <a:avLst/>
          </a:prstGeom>
          <a:noFill/>
        </p:spPr>
        <p:txBody>
          <a:bodyPr wrap="square" lIns="0" tIns="0" rIns="0" bIns="0" anchor="t">
            <a:spAutoFit/>
          </a:bodyPr>
          <a:lstStyle/>
          <a:p>
            <a:pPr algn="r">
              <a:lnSpc>
                <a:spcPct val="105000"/>
              </a:lnSpc>
            </a:pPr>
            <a:r>
              <a:rPr sz="1200" b="0">
                <a:solidFill>
                  <a:srgbClr val="606A7E"/>
                </a:solidFill>
                <a:latin typeface="Calibri"/>
              </a:rPr>
              <a:t>0:45</a:t>
            </a:r>
          </a:p>
        </p:txBody>
      </p:sp>
      <p:sp>
        <p:nvSpPr>
          <p:cNvPr id="6" name="TextBox 5"/>
          <p:cNvSpPr txBox="1"/>
          <p:nvPr/>
        </p:nvSpPr>
        <p:spPr>
          <a:xfrm>
            <a:off x="0" y="6446520"/>
            <a:ext cx="12191695" cy="320040"/>
          </a:xfrm>
          <a:prstGeom prst="rect">
            <a:avLst/>
          </a:prstGeom>
          <a:solidFill>
            <a:srgbClr val="152042"/>
          </a:solidFill>
        </p:spPr>
        <p:txBody>
          <a:bodyPr wrap="square" lIns="0" tIns="0" rIns="0" bIns="0" anchor="t">
            <a:spAutoFit/>
          </a:bodyPr>
          <a:lstStyle/>
          <a:p>
            <a:pPr algn="l">
              <a:lnSpc>
                <a:spcPct val="105000"/>
              </a:lnSpc>
            </a:pPr>
            <a:endParaRPr/>
          </a:p>
        </p:txBody>
      </p:sp>
      <p:sp>
        <p:nvSpPr>
          <p:cNvPr id="7" name="Rectangle 6"/>
          <p:cNvSpPr/>
          <p:nvPr/>
        </p:nvSpPr>
        <p:spPr>
          <a:xfrm>
            <a:off x="502920" y="1463040"/>
            <a:ext cx="5486400" cy="105156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463040"/>
            <a:ext cx="5486400" cy="82296"/>
          </a:xfrm>
          <a:prstGeom prst="rect">
            <a:avLst/>
          </a:prstGeom>
          <a:solidFill>
            <a:srgbClr val="2E6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645920"/>
            <a:ext cx="5212080" cy="292608"/>
          </a:xfrm>
          <a:prstGeom prst="rect">
            <a:avLst/>
          </a:prstGeom>
          <a:noFill/>
        </p:spPr>
        <p:txBody>
          <a:bodyPr wrap="square" lIns="0" tIns="0" rIns="0" bIns="0" anchor="t">
            <a:spAutoFit/>
          </a:bodyPr>
          <a:lstStyle/>
          <a:p>
            <a:pPr algn="l">
              <a:lnSpc>
                <a:spcPct val="105000"/>
              </a:lnSpc>
            </a:pPr>
            <a:r>
              <a:rPr sz="1250" b="1">
                <a:solidFill>
                  <a:srgbClr val="152042"/>
                </a:solidFill>
                <a:latin typeface="Calibri"/>
              </a:rPr>
              <a:t>Taux d'emploi à 6 mois</a:t>
            </a:r>
          </a:p>
        </p:txBody>
      </p:sp>
      <p:sp>
        <p:nvSpPr>
          <p:cNvPr id="10" name="TextBox 9"/>
          <p:cNvSpPr txBox="1"/>
          <p:nvPr/>
        </p:nvSpPr>
        <p:spPr>
          <a:xfrm>
            <a:off x="640080" y="1975104"/>
            <a:ext cx="5212080" cy="274320"/>
          </a:xfrm>
          <a:prstGeom prst="rect">
            <a:avLst/>
          </a:prstGeom>
          <a:noFill/>
        </p:spPr>
        <p:txBody>
          <a:bodyPr wrap="square" lIns="0" tIns="0" rIns="0" bIns="0" anchor="t">
            <a:spAutoFit/>
          </a:bodyPr>
          <a:lstStyle/>
          <a:p>
            <a:pPr algn="l">
              <a:lnSpc>
                <a:spcPct val="105000"/>
              </a:lnSpc>
            </a:pPr>
            <a:r>
              <a:rPr sz="1000" b="0">
                <a:solidFill>
                  <a:srgbClr val="606A7E"/>
                </a:solidFill>
                <a:latin typeface="Calibri"/>
              </a:rPr>
              <a:t>expériences actives à la date de référence ÷ effectif</a:t>
            </a:r>
          </a:p>
        </p:txBody>
      </p:sp>
      <p:sp>
        <p:nvSpPr>
          <p:cNvPr id="11" name="TextBox 10"/>
          <p:cNvSpPr txBox="1"/>
          <p:nvPr/>
        </p:nvSpPr>
        <p:spPr>
          <a:xfrm>
            <a:off x="640080" y="2249424"/>
            <a:ext cx="5212080" cy="274320"/>
          </a:xfrm>
          <a:prstGeom prst="rect">
            <a:avLst/>
          </a:prstGeom>
          <a:noFill/>
        </p:spPr>
        <p:txBody>
          <a:bodyPr wrap="square" lIns="0" tIns="0" rIns="0" bIns="0" anchor="t">
            <a:spAutoFit/>
          </a:bodyPr>
          <a:lstStyle/>
          <a:p>
            <a:pPr algn="l">
              <a:lnSpc>
                <a:spcPct val="105000"/>
              </a:lnSpc>
            </a:pPr>
            <a:r>
              <a:rPr sz="1000" b="1">
                <a:solidFill>
                  <a:srgbClr val="2EA06E"/>
                </a:solidFill>
                <a:latin typeface="Calibri"/>
              </a:rPr>
              <a:t>ex. Promo 2025 : 9/12 en poste = 75 %</a:t>
            </a:r>
          </a:p>
        </p:txBody>
      </p:sp>
      <p:sp>
        <p:nvSpPr>
          <p:cNvPr id="12" name="Rectangle 11"/>
          <p:cNvSpPr/>
          <p:nvPr/>
        </p:nvSpPr>
        <p:spPr>
          <a:xfrm>
            <a:off x="502920" y="2670048"/>
            <a:ext cx="5486400" cy="105156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2670048"/>
            <a:ext cx="5486400" cy="82296"/>
          </a:xfrm>
          <a:prstGeom prst="rect">
            <a:avLst/>
          </a:prstGeom>
          <a:solidFill>
            <a:srgbClr val="2E6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852928"/>
            <a:ext cx="5212080" cy="292608"/>
          </a:xfrm>
          <a:prstGeom prst="rect">
            <a:avLst/>
          </a:prstGeom>
          <a:noFill/>
        </p:spPr>
        <p:txBody>
          <a:bodyPr wrap="square" lIns="0" tIns="0" rIns="0" bIns="0" anchor="t">
            <a:spAutoFit/>
          </a:bodyPr>
          <a:lstStyle/>
          <a:p>
            <a:pPr algn="l">
              <a:lnSpc>
                <a:spcPct val="105000"/>
              </a:lnSpc>
            </a:pPr>
            <a:r>
              <a:rPr sz="1250" b="1">
                <a:solidFill>
                  <a:srgbClr val="152042"/>
                </a:solidFill>
                <a:latin typeface="Calibri"/>
              </a:rPr>
              <a:t>Taux d'emploi global (brut)</a:t>
            </a:r>
          </a:p>
        </p:txBody>
      </p:sp>
      <p:sp>
        <p:nvSpPr>
          <p:cNvPr id="15" name="TextBox 14"/>
          <p:cNvSpPr txBox="1"/>
          <p:nvPr/>
        </p:nvSpPr>
        <p:spPr>
          <a:xfrm>
            <a:off x="640080" y="3182112"/>
            <a:ext cx="5212080" cy="274320"/>
          </a:xfrm>
          <a:prstGeom prst="rect">
            <a:avLst/>
          </a:prstGeom>
          <a:noFill/>
        </p:spPr>
        <p:txBody>
          <a:bodyPr wrap="square" lIns="0" tIns="0" rIns="0" bIns="0" anchor="t">
            <a:spAutoFit/>
          </a:bodyPr>
          <a:lstStyle/>
          <a:p>
            <a:pPr algn="l">
              <a:lnSpc>
                <a:spcPct val="105000"/>
              </a:lnSpc>
            </a:pPr>
            <a:r>
              <a:rPr sz="1000" b="0">
                <a:solidFill>
                  <a:srgbClr val="606A7E"/>
                </a:solidFill>
                <a:latin typeface="Calibri"/>
              </a:rPr>
              <a:t>(alumni avec expérience ÷ effectif) × 100</a:t>
            </a:r>
          </a:p>
        </p:txBody>
      </p:sp>
      <p:sp>
        <p:nvSpPr>
          <p:cNvPr id="16" name="TextBox 15"/>
          <p:cNvSpPr txBox="1"/>
          <p:nvPr/>
        </p:nvSpPr>
        <p:spPr>
          <a:xfrm>
            <a:off x="640080" y="3456432"/>
            <a:ext cx="5212080" cy="274320"/>
          </a:xfrm>
          <a:prstGeom prst="rect">
            <a:avLst/>
          </a:prstGeom>
          <a:noFill/>
        </p:spPr>
        <p:txBody>
          <a:bodyPr wrap="square" lIns="0" tIns="0" rIns="0" bIns="0" anchor="t">
            <a:spAutoFit/>
          </a:bodyPr>
          <a:lstStyle/>
          <a:p>
            <a:pPr algn="l">
              <a:lnSpc>
                <a:spcPct val="105000"/>
              </a:lnSpc>
            </a:pPr>
            <a:r>
              <a:rPr sz="1000" b="1">
                <a:solidFill>
                  <a:srgbClr val="2EA06E"/>
                </a:solidFill>
                <a:latin typeface="Calibri"/>
              </a:rPr>
              <a:t>ex. 30 en poste / 40 = 75 %</a:t>
            </a:r>
          </a:p>
        </p:txBody>
      </p:sp>
      <p:sp>
        <p:nvSpPr>
          <p:cNvPr id="17" name="Rectangle 16"/>
          <p:cNvSpPr/>
          <p:nvPr/>
        </p:nvSpPr>
        <p:spPr>
          <a:xfrm>
            <a:off x="502920" y="3877056"/>
            <a:ext cx="5486400" cy="105156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2920" y="3877056"/>
            <a:ext cx="5486400" cy="82296"/>
          </a:xfrm>
          <a:prstGeom prst="rect">
            <a:avLst/>
          </a:prstGeom>
          <a:solidFill>
            <a:srgbClr val="2E6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4059936"/>
            <a:ext cx="5212080" cy="292608"/>
          </a:xfrm>
          <a:prstGeom prst="rect">
            <a:avLst/>
          </a:prstGeom>
          <a:noFill/>
        </p:spPr>
        <p:txBody>
          <a:bodyPr wrap="square" lIns="0" tIns="0" rIns="0" bIns="0" anchor="t">
            <a:spAutoFit/>
          </a:bodyPr>
          <a:lstStyle/>
          <a:p>
            <a:pPr algn="l">
              <a:lnSpc>
                <a:spcPct val="105000"/>
              </a:lnSpc>
            </a:pPr>
            <a:r>
              <a:rPr sz="1250" b="1">
                <a:solidFill>
                  <a:srgbClr val="152042"/>
                </a:solidFill>
                <a:latin typeface="Calibri"/>
              </a:rPr>
              <a:t>Type de contrat</a:t>
            </a:r>
          </a:p>
        </p:txBody>
      </p:sp>
      <p:sp>
        <p:nvSpPr>
          <p:cNvPr id="20" name="TextBox 19"/>
          <p:cNvSpPr txBox="1"/>
          <p:nvPr/>
        </p:nvSpPr>
        <p:spPr>
          <a:xfrm>
            <a:off x="640080" y="4389120"/>
            <a:ext cx="5212080" cy="274320"/>
          </a:xfrm>
          <a:prstGeom prst="rect">
            <a:avLst/>
          </a:prstGeom>
          <a:noFill/>
        </p:spPr>
        <p:txBody>
          <a:bodyPr wrap="square" lIns="0" tIns="0" rIns="0" bIns="0" anchor="t">
            <a:spAutoFit/>
          </a:bodyPr>
          <a:lstStyle/>
          <a:p>
            <a:pPr algn="l">
              <a:lnSpc>
                <a:spcPct val="105000"/>
              </a:lnSpc>
            </a:pPr>
            <a:r>
              <a:rPr sz="1000" b="0">
                <a:solidFill>
                  <a:srgbClr val="606A7E"/>
                </a:solidFill>
                <a:latin typeface="Calibri"/>
              </a:rPr>
              <a:t>comptage des expériences en cours</a:t>
            </a:r>
          </a:p>
        </p:txBody>
      </p:sp>
      <p:sp>
        <p:nvSpPr>
          <p:cNvPr id="21" name="TextBox 20"/>
          <p:cNvSpPr txBox="1"/>
          <p:nvPr/>
        </p:nvSpPr>
        <p:spPr>
          <a:xfrm>
            <a:off x="640080" y="4663440"/>
            <a:ext cx="5212080" cy="274320"/>
          </a:xfrm>
          <a:prstGeom prst="rect">
            <a:avLst/>
          </a:prstGeom>
          <a:noFill/>
        </p:spPr>
        <p:txBody>
          <a:bodyPr wrap="square" lIns="0" tIns="0" rIns="0" bIns="0" anchor="t">
            <a:spAutoFit/>
          </a:bodyPr>
          <a:lstStyle/>
          <a:p>
            <a:pPr algn="l">
              <a:lnSpc>
                <a:spcPct val="105000"/>
              </a:lnSpc>
            </a:pPr>
            <a:r>
              <a:rPr sz="1000" b="1">
                <a:solidFill>
                  <a:srgbClr val="2EA06E"/>
                </a:solidFill>
                <a:latin typeface="Calibri"/>
              </a:rPr>
              <a:t>ex. CDI 8 · CDD 3 · Freelance 2</a:t>
            </a:r>
          </a:p>
        </p:txBody>
      </p:sp>
      <p:sp>
        <p:nvSpPr>
          <p:cNvPr id="22" name="Rectangle 21"/>
          <p:cNvSpPr/>
          <p:nvPr/>
        </p:nvSpPr>
        <p:spPr>
          <a:xfrm>
            <a:off x="502920" y="5084064"/>
            <a:ext cx="5486400" cy="105156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2920" y="5084064"/>
            <a:ext cx="5486400" cy="82296"/>
          </a:xfrm>
          <a:prstGeom prst="rect">
            <a:avLst/>
          </a:prstGeom>
          <a:solidFill>
            <a:srgbClr val="2E6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5266944"/>
            <a:ext cx="5212080" cy="292608"/>
          </a:xfrm>
          <a:prstGeom prst="rect">
            <a:avLst/>
          </a:prstGeom>
          <a:noFill/>
        </p:spPr>
        <p:txBody>
          <a:bodyPr wrap="square" lIns="0" tIns="0" rIns="0" bIns="0" anchor="t">
            <a:spAutoFit/>
          </a:bodyPr>
          <a:lstStyle/>
          <a:p>
            <a:pPr algn="l">
              <a:lnSpc>
                <a:spcPct val="105000"/>
              </a:lnSpc>
            </a:pPr>
            <a:r>
              <a:rPr sz="1250" b="1">
                <a:solidFill>
                  <a:srgbClr val="152042"/>
                </a:solidFill>
                <a:latin typeface="Calibri"/>
              </a:rPr>
              <a:t>Salaire moyen</a:t>
            </a:r>
          </a:p>
        </p:txBody>
      </p:sp>
      <p:sp>
        <p:nvSpPr>
          <p:cNvPr id="25" name="TextBox 24"/>
          <p:cNvSpPr txBox="1"/>
          <p:nvPr/>
        </p:nvSpPr>
        <p:spPr>
          <a:xfrm>
            <a:off x="640080" y="5596128"/>
            <a:ext cx="5212080" cy="274320"/>
          </a:xfrm>
          <a:prstGeom prst="rect">
            <a:avLst/>
          </a:prstGeom>
          <a:noFill/>
        </p:spPr>
        <p:txBody>
          <a:bodyPr wrap="square" lIns="0" tIns="0" rIns="0" bIns="0" anchor="t">
            <a:spAutoFit/>
          </a:bodyPr>
          <a:lstStyle/>
          <a:p>
            <a:pPr algn="l">
              <a:lnSpc>
                <a:spcPct val="105000"/>
              </a:lnSpc>
            </a:pPr>
            <a:r>
              <a:rPr sz="1000" b="0">
                <a:solidFill>
                  <a:srgbClr val="606A7E"/>
                </a:solidFill>
                <a:latin typeface="Calibri"/>
              </a:rPr>
              <a:t>moyenne de salary_annuel (NUMERIC)</a:t>
            </a:r>
          </a:p>
        </p:txBody>
      </p:sp>
      <p:sp>
        <p:nvSpPr>
          <p:cNvPr id="26" name="TextBox 25"/>
          <p:cNvSpPr txBox="1"/>
          <p:nvPr/>
        </p:nvSpPr>
        <p:spPr>
          <a:xfrm>
            <a:off x="640080" y="5870448"/>
            <a:ext cx="5212080" cy="274320"/>
          </a:xfrm>
          <a:prstGeom prst="rect">
            <a:avLst/>
          </a:prstGeom>
          <a:noFill/>
        </p:spPr>
        <p:txBody>
          <a:bodyPr wrap="square" lIns="0" tIns="0" rIns="0" bIns="0" anchor="t">
            <a:spAutoFit/>
          </a:bodyPr>
          <a:lstStyle/>
          <a:p>
            <a:pPr algn="l">
              <a:lnSpc>
                <a:spcPct val="105000"/>
              </a:lnSpc>
            </a:pPr>
            <a:r>
              <a:rPr sz="1000" b="1">
                <a:solidFill>
                  <a:srgbClr val="2EA06E"/>
                </a:solidFill>
                <a:latin typeface="Calibri"/>
              </a:rPr>
              <a:t>ex. (38 000 + 42 000 + 50 000) / 3 = 43 333 €</a:t>
            </a:r>
          </a:p>
        </p:txBody>
      </p:sp>
      <p:sp>
        <p:nvSpPr>
          <p:cNvPr id="27" name="Rectangle 26"/>
          <p:cNvSpPr/>
          <p:nvPr/>
        </p:nvSpPr>
        <p:spPr>
          <a:xfrm>
            <a:off x="6675120" y="1463040"/>
            <a:ext cx="5486400" cy="105156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675120" y="1463040"/>
            <a:ext cx="5486400" cy="82296"/>
          </a:xfrm>
          <a:prstGeom prst="rect">
            <a:avLst/>
          </a:prstGeom>
          <a:solidFill>
            <a:srgbClr val="2E6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812280" y="1645920"/>
            <a:ext cx="5212080" cy="292608"/>
          </a:xfrm>
          <a:prstGeom prst="rect">
            <a:avLst/>
          </a:prstGeom>
          <a:noFill/>
        </p:spPr>
        <p:txBody>
          <a:bodyPr wrap="square" lIns="0" tIns="0" rIns="0" bIns="0" anchor="t">
            <a:spAutoFit/>
          </a:bodyPr>
          <a:lstStyle/>
          <a:p>
            <a:pPr algn="l">
              <a:lnSpc>
                <a:spcPct val="105000"/>
              </a:lnSpc>
            </a:pPr>
            <a:r>
              <a:rPr sz="1250" b="1">
                <a:solidFill>
                  <a:srgbClr val="152042"/>
                </a:solidFill>
                <a:latin typeface="Calibri"/>
              </a:rPr>
              <a:t>Alumni actifs</a:t>
            </a:r>
          </a:p>
        </p:txBody>
      </p:sp>
      <p:sp>
        <p:nvSpPr>
          <p:cNvPr id="30" name="TextBox 29"/>
          <p:cNvSpPr txBox="1"/>
          <p:nvPr/>
        </p:nvSpPr>
        <p:spPr>
          <a:xfrm>
            <a:off x="6812280" y="1975104"/>
            <a:ext cx="5212080" cy="274320"/>
          </a:xfrm>
          <a:prstGeom prst="rect">
            <a:avLst/>
          </a:prstGeom>
          <a:noFill/>
        </p:spPr>
        <p:txBody>
          <a:bodyPr wrap="square" lIns="0" tIns="0" rIns="0" bIns="0" anchor="t">
            <a:spAutoFit/>
          </a:bodyPr>
          <a:lstStyle/>
          <a:p>
            <a:pPr algn="l">
              <a:lnSpc>
                <a:spcPct val="105000"/>
              </a:lnSpc>
            </a:pPr>
            <a:r>
              <a:rPr sz="1000" b="0">
                <a:solidFill>
                  <a:srgbClr val="606A7E"/>
                </a:solidFill>
                <a:latin typeface="Calibri"/>
              </a:rPr>
              <a:t>alumni avec ≥ 1 expérience enregistrée</a:t>
            </a:r>
          </a:p>
        </p:txBody>
      </p:sp>
      <p:sp>
        <p:nvSpPr>
          <p:cNvPr id="31" name="TextBox 30"/>
          <p:cNvSpPr txBox="1"/>
          <p:nvPr/>
        </p:nvSpPr>
        <p:spPr>
          <a:xfrm>
            <a:off x="6812280" y="2249424"/>
            <a:ext cx="5212080" cy="274320"/>
          </a:xfrm>
          <a:prstGeom prst="rect">
            <a:avLst/>
          </a:prstGeom>
          <a:noFill/>
        </p:spPr>
        <p:txBody>
          <a:bodyPr wrap="square" lIns="0" tIns="0" rIns="0" bIns="0" anchor="t">
            <a:spAutoFit/>
          </a:bodyPr>
          <a:lstStyle/>
          <a:p>
            <a:pPr algn="l">
              <a:lnSpc>
                <a:spcPct val="105000"/>
              </a:lnSpc>
            </a:pPr>
            <a:r>
              <a:rPr sz="1000" b="1">
                <a:solidFill>
                  <a:srgbClr val="2EA06E"/>
                </a:solidFill>
                <a:latin typeface="Calibri"/>
              </a:rPr>
              <a:t>ex. 45 actifs sur 60</a:t>
            </a:r>
          </a:p>
        </p:txBody>
      </p:sp>
      <p:sp>
        <p:nvSpPr>
          <p:cNvPr id="32" name="Rectangle 31"/>
          <p:cNvSpPr/>
          <p:nvPr/>
        </p:nvSpPr>
        <p:spPr>
          <a:xfrm>
            <a:off x="6675120" y="2670048"/>
            <a:ext cx="5486400" cy="105156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675120" y="2670048"/>
            <a:ext cx="5486400" cy="82296"/>
          </a:xfrm>
          <a:prstGeom prst="rect">
            <a:avLst/>
          </a:prstGeom>
          <a:solidFill>
            <a:srgbClr val="2E6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812280" y="2852928"/>
            <a:ext cx="5212080" cy="292608"/>
          </a:xfrm>
          <a:prstGeom prst="rect">
            <a:avLst/>
          </a:prstGeom>
          <a:noFill/>
        </p:spPr>
        <p:txBody>
          <a:bodyPr wrap="square" lIns="0" tIns="0" rIns="0" bIns="0" anchor="t">
            <a:spAutoFit/>
          </a:bodyPr>
          <a:lstStyle/>
          <a:p>
            <a:pPr algn="l">
              <a:lnSpc>
                <a:spcPct val="105000"/>
              </a:lnSpc>
            </a:pPr>
            <a:r>
              <a:rPr sz="1250" b="1">
                <a:solidFill>
                  <a:srgbClr val="152042"/>
                </a:solidFill>
                <a:latin typeface="Calibri"/>
              </a:rPr>
              <a:t>Taux de complétion</a:t>
            </a:r>
          </a:p>
        </p:txBody>
      </p:sp>
      <p:sp>
        <p:nvSpPr>
          <p:cNvPr id="35" name="TextBox 34"/>
          <p:cNvSpPr txBox="1"/>
          <p:nvPr/>
        </p:nvSpPr>
        <p:spPr>
          <a:xfrm>
            <a:off x="6812280" y="3182112"/>
            <a:ext cx="5212080" cy="274320"/>
          </a:xfrm>
          <a:prstGeom prst="rect">
            <a:avLst/>
          </a:prstGeom>
          <a:noFill/>
        </p:spPr>
        <p:txBody>
          <a:bodyPr wrap="square" lIns="0" tIns="0" rIns="0" bIns="0" anchor="t">
            <a:spAutoFit/>
          </a:bodyPr>
          <a:lstStyle/>
          <a:p>
            <a:pPr algn="l">
              <a:lnSpc>
                <a:spcPct val="105000"/>
              </a:lnSpc>
            </a:pPr>
            <a:r>
              <a:rPr sz="1000" b="0">
                <a:solidFill>
                  <a:srgbClr val="606A7E"/>
                </a:solidFill>
                <a:latin typeface="Calibri"/>
              </a:rPr>
              <a:t>≥ 1 expérience dans EXPERIENCE_PRO</a:t>
            </a:r>
          </a:p>
        </p:txBody>
      </p:sp>
      <p:sp>
        <p:nvSpPr>
          <p:cNvPr id="36" name="TextBox 35"/>
          <p:cNvSpPr txBox="1"/>
          <p:nvPr/>
        </p:nvSpPr>
        <p:spPr>
          <a:xfrm>
            <a:off x="6812280" y="3456432"/>
            <a:ext cx="5212080" cy="274320"/>
          </a:xfrm>
          <a:prstGeom prst="rect">
            <a:avLst/>
          </a:prstGeom>
          <a:noFill/>
        </p:spPr>
        <p:txBody>
          <a:bodyPr wrap="square" lIns="0" tIns="0" rIns="0" bIns="0" anchor="t">
            <a:spAutoFit/>
          </a:bodyPr>
          <a:lstStyle/>
          <a:p>
            <a:pPr algn="l">
              <a:lnSpc>
                <a:spcPct val="105000"/>
              </a:lnSpc>
            </a:pPr>
            <a:r>
              <a:rPr sz="1000" b="1">
                <a:solidFill>
                  <a:srgbClr val="2EA06E"/>
                </a:solidFill>
                <a:latin typeface="Calibri"/>
              </a:rPr>
              <a:t>ex. 45 / 60 = 75 %</a:t>
            </a:r>
          </a:p>
        </p:txBody>
      </p:sp>
      <p:sp>
        <p:nvSpPr>
          <p:cNvPr id="37" name="Rectangle 36"/>
          <p:cNvSpPr/>
          <p:nvPr/>
        </p:nvSpPr>
        <p:spPr>
          <a:xfrm>
            <a:off x="6675120" y="3877056"/>
            <a:ext cx="5486400" cy="105156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675120" y="3877056"/>
            <a:ext cx="5486400" cy="82296"/>
          </a:xfrm>
          <a:prstGeom prst="rect">
            <a:avLst/>
          </a:prstGeom>
          <a:solidFill>
            <a:srgbClr val="2E6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812280" y="4059936"/>
            <a:ext cx="5212080" cy="292608"/>
          </a:xfrm>
          <a:prstGeom prst="rect">
            <a:avLst/>
          </a:prstGeom>
          <a:noFill/>
        </p:spPr>
        <p:txBody>
          <a:bodyPr wrap="square" lIns="0" tIns="0" rIns="0" bIns="0" anchor="t">
            <a:spAutoFit/>
          </a:bodyPr>
          <a:lstStyle/>
          <a:p>
            <a:pPr algn="l">
              <a:lnSpc>
                <a:spcPct val="105000"/>
              </a:lnSpc>
            </a:pPr>
            <a:r>
              <a:rPr sz="1250" b="1">
                <a:solidFill>
                  <a:srgbClr val="152042"/>
                </a:solidFill>
                <a:latin typeface="Calibri"/>
              </a:rPr>
              <a:t>Alumni par promotion</a:t>
            </a:r>
          </a:p>
        </p:txBody>
      </p:sp>
      <p:sp>
        <p:nvSpPr>
          <p:cNvPr id="40" name="TextBox 39"/>
          <p:cNvSpPr txBox="1"/>
          <p:nvPr/>
        </p:nvSpPr>
        <p:spPr>
          <a:xfrm>
            <a:off x="6812280" y="4389120"/>
            <a:ext cx="5212080" cy="274320"/>
          </a:xfrm>
          <a:prstGeom prst="rect">
            <a:avLst/>
          </a:prstGeom>
          <a:noFill/>
        </p:spPr>
        <p:txBody>
          <a:bodyPr wrap="square" lIns="0" tIns="0" rIns="0" bIns="0" anchor="t">
            <a:spAutoFit/>
          </a:bodyPr>
          <a:lstStyle/>
          <a:p>
            <a:pPr algn="l">
              <a:lnSpc>
                <a:spcPct val="105000"/>
              </a:lnSpc>
            </a:pPr>
            <a:r>
              <a:rPr sz="1000" b="0">
                <a:solidFill>
                  <a:srgbClr val="606A7E"/>
                </a:solidFill>
                <a:latin typeface="Calibri"/>
              </a:rPr>
              <a:t>comptage par id_promotion</a:t>
            </a:r>
          </a:p>
        </p:txBody>
      </p:sp>
      <p:sp>
        <p:nvSpPr>
          <p:cNvPr id="41" name="TextBox 40"/>
          <p:cNvSpPr txBox="1"/>
          <p:nvPr/>
        </p:nvSpPr>
        <p:spPr>
          <a:xfrm>
            <a:off x="6812280" y="4663440"/>
            <a:ext cx="5212080" cy="274320"/>
          </a:xfrm>
          <a:prstGeom prst="rect">
            <a:avLst/>
          </a:prstGeom>
          <a:noFill/>
        </p:spPr>
        <p:txBody>
          <a:bodyPr wrap="square" lIns="0" tIns="0" rIns="0" bIns="0" anchor="t">
            <a:spAutoFit/>
          </a:bodyPr>
          <a:lstStyle/>
          <a:p>
            <a:pPr algn="l">
              <a:lnSpc>
                <a:spcPct val="105000"/>
              </a:lnSpc>
            </a:pPr>
            <a:r>
              <a:rPr sz="1000" b="1">
                <a:solidFill>
                  <a:srgbClr val="2EA06E"/>
                </a:solidFill>
                <a:latin typeface="Calibri"/>
              </a:rPr>
              <a:t>ex. Promo 2025 : 12</a:t>
            </a:r>
          </a:p>
        </p:txBody>
      </p:sp>
      <p:sp>
        <p:nvSpPr>
          <p:cNvPr id="42" name="Rectangle 41"/>
          <p:cNvSpPr/>
          <p:nvPr/>
        </p:nvSpPr>
        <p:spPr>
          <a:xfrm>
            <a:off x="6675120" y="5084064"/>
            <a:ext cx="5486400" cy="105156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675120" y="5084064"/>
            <a:ext cx="5486400" cy="82296"/>
          </a:xfrm>
          <a:prstGeom prst="rect">
            <a:avLst/>
          </a:prstGeom>
          <a:solidFill>
            <a:srgbClr val="2E6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812280" y="5266944"/>
            <a:ext cx="5212080" cy="292608"/>
          </a:xfrm>
          <a:prstGeom prst="rect">
            <a:avLst/>
          </a:prstGeom>
          <a:noFill/>
        </p:spPr>
        <p:txBody>
          <a:bodyPr wrap="square" lIns="0" tIns="0" rIns="0" bIns="0" anchor="t">
            <a:spAutoFit/>
          </a:bodyPr>
          <a:lstStyle/>
          <a:p>
            <a:pPr algn="l">
              <a:lnSpc>
                <a:spcPct val="105000"/>
              </a:lnSpc>
            </a:pPr>
            <a:r>
              <a:rPr sz="1250" b="1">
                <a:solidFill>
                  <a:srgbClr val="152042"/>
                </a:solidFill>
                <a:latin typeface="Calibri"/>
              </a:rPr>
              <a:t>Répartition par secteur</a:t>
            </a:r>
          </a:p>
        </p:txBody>
      </p:sp>
      <p:sp>
        <p:nvSpPr>
          <p:cNvPr id="45" name="TextBox 44"/>
          <p:cNvSpPr txBox="1"/>
          <p:nvPr/>
        </p:nvSpPr>
        <p:spPr>
          <a:xfrm>
            <a:off x="6812280" y="5596128"/>
            <a:ext cx="5212080" cy="274320"/>
          </a:xfrm>
          <a:prstGeom prst="rect">
            <a:avLst/>
          </a:prstGeom>
          <a:noFill/>
        </p:spPr>
        <p:txBody>
          <a:bodyPr wrap="square" lIns="0" tIns="0" rIns="0" bIns="0" anchor="t">
            <a:spAutoFit/>
          </a:bodyPr>
          <a:lstStyle/>
          <a:p>
            <a:pPr algn="l">
              <a:lnSpc>
                <a:spcPct val="105000"/>
              </a:lnSpc>
            </a:pPr>
            <a:r>
              <a:rPr sz="1000" b="0">
                <a:solidFill>
                  <a:srgbClr val="606A7E"/>
                </a:solidFill>
                <a:latin typeface="Calibri"/>
              </a:rPr>
              <a:t>agrégation de secteur_activite</a:t>
            </a:r>
          </a:p>
        </p:txBody>
      </p:sp>
      <p:sp>
        <p:nvSpPr>
          <p:cNvPr id="46" name="TextBox 45"/>
          <p:cNvSpPr txBox="1"/>
          <p:nvPr/>
        </p:nvSpPr>
        <p:spPr>
          <a:xfrm>
            <a:off x="6812280" y="5870448"/>
            <a:ext cx="5212080" cy="274320"/>
          </a:xfrm>
          <a:prstGeom prst="rect">
            <a:avLst/>
          </a:prstGeom>
          <a:noFill/>
        </p:spPr>
        <p:txBody>
          <a:bodyPr wrap="square" lIns="0" tIns="0" rIns="0" bIns="0" anchor="t">
            <a:spAutoFit/>
          </a:bodyPr>
          <a:lstStyle/>
          <a:p>
            <a:pPr algn="l">
              <a:lnSpc>
                <a:spcPct val="105000"/>
              </a:lnSpc>
            </a:pPr>
            <a:r>
              <a:rPr sz="1000" b="1">
                <a:solidFill>
                  <a:srgbClr val="2EA06E"/>
                </a:solidFill>
                <a:latin typeface="Calibri"/>
              </a:rPr>
              <a:t>ex. Info 3 · Finance 2 · Santé 1</a:t>
            </a:r>
          </a:p>
        </p:txBody>
      </p:sp>
      <p:sp>
        <p:nvSpPr>
          <p:cNvPr id="47" name="TextBox 46"/>
          <p:cNvSpPr txBox="1"/>
          <p:nvPr/>
        </p:nvSpPr>
        <p:spPr>
          <a:xfrm>
            <a:off x="640080" y="6355080"/>
            <a:ext cx="10881360" cy="365760"/>
          </a:xfrm>
          <a:prstGeom prst="rect">
            <a:avLst/>
          </a:prstGeom>
          <a:noFill/>
        </p:spPr>
        <p:txBody>
          <a:bodyPr wrap="square" lIns="0" tIns="0" rIns="0" bIns="0" anchor="t">
            <a:spAutoFit/>
          </a:bodyPr>
          <a:lstStyle/>
          <a:p>
            <a:pPr algn="ctr">
              <a:lnSpc>
                <a:spcPct val="105000"/>
              </a:lnSpc>
            </a:pPr>
            <a:r>
              <a:rPr sz="1300" b="0">
                <a:solidFill>
                  <a:srgbClr val="606A7E"/>
                </a:solidFill>
                <a:latin typeface="Calibri"/>
              </a:rPr>
              <a:t>8 indicateurs de base + un indicateur dérivé par question taguée KPI des questionnaires actifs (variable).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2191695" cy="1051560"/>
          </a:xfrm>
          <a:prstGeom prst="rect">
            <a:avLst/>
          </a:prstGeom>
          <a:noFill/>
        </p:spPr>
        <p:txBody>
          <a:bodyPr wrap="square" lIns="0" tIns="0" rIns="0" bIns="0" anchor="t">
            <a:spAutoFit/>
          </a:bodyPr>
          <a:lstStyle/>
          <a:p>
            <a:pPr algn="l">
              <a:lnSpc>
                <a:spcPct val="105000"/>
              </a:lnSpc>
            </a:pPr>
            <a:r>
              <a:rPr sz="2700" b="1">
                <a:solidFill>
                  <a:srgbClr val="152042"/>
                </a:solidFill>
                <a:latin typeface="Calibri"/>
              </a:rPr>
              <a:t>Réponse à la problématique (4 problèmes → 4 solutions)</a:t>
            </a:r>
          </a:p>
        </p:txBody>
      </p:sp>
      <p:sp>
        <p:nvSpPr>
          <p:cNvPr id="3" name="TextBox 2"/>
          <p:cNvSpPr txBox="1"/>
          <p:nvPr/>
        </p:nvSpPr>
        <p:spPr>
          <a:xfrm>
            <a:off x="502920" y="932688"/>
            <a:ext cx="2377440" cy="82296"/>
          </a:xfrm>
          <a:prstGeom prst="rect">
            <a:avLst/>
          </a:prstGeom>
          <a:solidFill>
            <a:srgbClr val="2EA06E"/>
          </a:solidFill>
        </p:spPr>
        <p:txBody>
          <a:bodyPr wrap="square" lIns="0" tIns="0" rIns="0" bIns="0" anchor="t">
            <a:spAutoFit/>
          </a:bodyPr>
          <a:lstStyle/>
          <a:p>
            <a:pPr algn="l">
              <a:lnSpc>
                <a:spcPct val="105000"/>
              </a:lnSpc>
            </a:pPr>
            <a:endParaRPr/>
          </a:p>
        </p:txBody>
      </p:sp>
      <p:sp>
        <p:nvSpPr>
          <p:cNvPr id="4" name="TextBox 3"/>
          <p:cNvSpPr txBox="1"/>
          <p:nvPr/>
        </p:nvSpPr>
        <p:spPr>
          <a:xfrm>
            <a:off x="0" y="1078992"/>
            <a:ext cx="12191695" cy="365760"/>
          </a:xfrm>
          <a:prstGeom prst="rect">
            <a:avLst/>
          </a:prstGeom>
          <a:noFill/>
        </p:spPr>
        <p:txBody>
          <a:bodyPr wrap="square" lIns="0" tIns="0" rIns="0" bIns="0" anchor="t">
            <a:spAutoFit/>
          </a:bodyPr>
          <a:lstStyle/>
          <a:p>
            <a:pPr algn="l">
              <a:lnSpc>
                <a:spcPct val="105000"/>
              </a:lnSpc>
            </a:pPr>
            <a:r>
              <a:rPr sz="1500" b="0">
                <a:solidFill>
                  <a:srgbClr val="606A7E"/>
                </a:solidFill>
                <a:latin typeface="Calibri"/>
              </a:rPr>
              <a:t>la table « problèmes identifiés / solutions apportées » du rapport</a:t>
            </a:r>
          </a:p>
        </p:txBody>
      </p:sp>
      <p:sp>
        <p:nvSpPr>
          <p:cNvPr id="5" name="TextBox 4"/>
          <p:cNvSpPr txBox="1"/>
          <p:nvPr/>
        </p:nvSpPr>
        <p:spPr>
          <a:xfrm>
            <a:off x="11109960" y="201168"/>
            <a:ext cx="868680" cy="365760"/>
          </a:xfrm>
          <a:prstGeom prst="rect">
            <a:avLst/>
          </a:prstGeom>
          <a:noFill/>
        </p:spPr>
        <p:txBody>
          <a:bodyPr wrap="square" lIns="0" tIns="0" rIns="0" bIns="0" anchor="t">
            <a:spAutoFit/>
          </a:bodyPr>
          <a:lstStyle/>
          <a:p>
            <a:pPr algn="r">
              <a:lnSpc>
                <a:spcPct val="105000"/>
              </a:lnSpc>
            </a:pPr>
            <a:r>
              <a:rPr sz="1200" b="0">
                <a:solidFill>
                  <a:srgbClr val="606A7E"/>
                </a:solidFill>
                <a:latin typeface="Calibri"/>
              </a:rPr>
              <a:t>0:30</a:t>
            </a:r>
          </a:p>
        </p:txBody>
      </p:sp>
      <p:sp>
        <p:nvSpPr>
          <p:cNvPr id="6" name="TextBox 5"/>
          <p:cNvSpPr txBox="1"/>
          <p:nvPr/>
        </p:nvSpPr>
        <p:spPr>
          <a:xfrm>
            <a:off x="0" y="6446520"/>
            <a:ext cx="12191695" cy="320040"/>
          </a:xfrm>
          <a:prstGeom prst="rect">
            <a:avLst/>
          </a:prstGeom>
          <a:solidFill>
            <a:srgbClr val="152042"/>
          </a:solidFill>
        </p:spPr>
        <p:txBody>
          <a:bodyPr wrap="square" lIns="0" tIns="0" rIns="0" bIns="0" anchor="t">
            <a:spAutoFit/>
          </a:bodyPr>
          <a:lstStyle/>
          <a:p>
            <a:pPr algn="l">
              <a:lnSpc>
                <a:spcPct val="105000"/>
              </a:lnSpc>
            </a:pPr>
            <a:endParaRPr/>
          </a:p>
        </p:txBody>
      </p:sp>
      <p:sp>
        <p:nvSpPr>
          <p:cNvPr id="7" name="Rectangle 6"/>
          <p:cNvSpPr/>
          <p:nvPr/>
        </p:nvSpPr>
        <p:spPr>
          <a:xfrm>
            <a:off x="502920" y="1417320"/>
            <a:ext cx="5074920" cy="1078992"/>
          </a:xfrm>
          <a:prstGeom prst="rect">
            <a:avLst/>
          </a:prstGeom>
          <a:solidFill>
            <a:srgbClr val="FB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417320"/>
            <a:ext cx="91440" cy="107899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508760"/>
            <a:ext cx="4663440" cy="365760"/>
          </a:xfrm>
          <a:prstGeom prst="rect">
            <a:avLst/>
          </a:prstGeom>
          <a:noFill/>
        </p:spPr>
        <p:txBody>
          <a:bodyPr wrap="square" lIns="0" tIns="0" rIns="0" bIns="0" anchor="t">
            <a:spAutoFit/>
          </a:bodyPr>
          <a:lstStyle/>
          <a:p>
            <a:pPr algn="l">
              <a:lnSpc>
                <a:spcPct val="105000"/>
              </a:lnSpc>
            </a:pPr>
            <a:r>
              <a:rPr sz="1300" b="1">
                <a:solidFill>
                  <a:srgbClr val="C0392B"/>
                </a:solidFill>
                <a:latin typeface="Calibri"/>
              </a:rPr>
              <a:t>Données dispersées</a:t>
            </a:r>
          </a:p>
        </p:txBody>
      </p:sp>
      <p:sp>
        <p:nvSpPr>
          <p:cNvPr id="10" name="TextBox 9"/>
          <p:cNvSpPr txBox="1"/>
          <p:nvPr/>
        </p:nvSpPr>
        <p:spPr>
          <a:xfrm>
            <a:off x="731520" y="1920240"/>
            <a:ext cx="4663440" cy="502920"/>
          </a:xfrm>
          <a:prstGeom prst="rect">
            <a:avLst/>
          </a:prstGeom>
          <a:noFill/>
        </p:spPr>
        <p:txBody>
          <a:bodyPr wrap="square" lIns="0" tIns="0" rIns="0" bIns="0" anchor="t">
            <a:spAutoFit/>
          </a:bodyPr>
          <a:lstStyle/>
          <a:p>
            <a:pPr algn="l">
              <a:lnSpc>
                <a:spcPct val="105000"/>
              </a:lnSpc>
            </a:pPr>
            <a:r>
              <a:rPr sz="1050" b="0">
                <a:solidFill>
                  <a:srgbClr val="152042"/>
                </a:solidFill>
                <a:latin typeface="Calibri"/>
              </a:rPr>
              <a:t>emails, formulaires papier, appels, Excel</a:t>
            </a:r>
          </a:p>
        </p:txBody>
      </p:sp>
      <p:sp>
        <p:nvSpPr>
          <p:cNvPr id="11" name="Octagon 10"/>
          <p:cNvSpPr/>
          <p:nvPr/>
        </p:nvSpPr>
        <p:spPr>
          <a:xfrm>
            <a:off x="5760720" y="1773936"/>
            <a:ext cx="237744" cy="365760"/>
          </a:xfrm>
          <a:prstGeom prst="octagon">
            <a:avLst/>
          </a:prstGeom>
          <a:solidFill>
            <a:srgbClr val="2E6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63640" y="1417320"/>
            <a:ext cx="5440680" cy="1078992"/>
          </a:xfrm>
          <a:prstGeom prst="rect">
            <a:avLst/>
          </a:prstGeom>
          <a:solidFill>
            <a:srgbClr val="E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417320"/>
            <a:ext cx="91440" cy="1078992"/>
          </a:xfrm>
          <a:prstGeom prst="rect">
            <a:avLst/>
          </a:prstGeom>
          <a:solidFill>
            <a:srgbClr val="2EA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1508760"/>
            <a:ext cx="5029200" cy="365760"/>
          </a:xfrm>
          <a:prstGeom prst="rect">
            <a:avLst/>
          </a:prstGeom>
          <a:noFill/>
        </p:spPr>
        <p:txBody>
          <a:bodyPr wrap="square" lIns="0" tIns="0" rIns="0" bIns="0" anchor="t">
            <a:spAutoFit/>
          </a:bodyPr>
          <a:lstStyle/>
          <a:p>
            <a:pPr algn="l">
              <a:lnSpc>
                <a:spcPct val="105000"/>
              </a:lnSpc>
            </a:pPr>
            <a:r>
              <a:rPr sz="1300" b="1">
                <a:solidFill>
                  <a:srgbClr val="2EA06E"/>
                </a:solidFill>
                <a:latin typeface="Calibri"/>
              </a:rPr>
              <a:t>Solution</a:t>
            </a:r>
          </a:p>
        </p:txBody>
      </p:sp>
      <p:sp>
        <p:nvSpPr>
          <p:cNvPr id="15" name="TextBox 14"/>
          <p:cNvSpPr txBox="1"/>
          <p:nvPr/>
        </p:nvSpPr>
        <p:spPr>
          <a:xfrm>
            <a:off x="6492240" y="1920240"/>
            <a:ext cx="5029200" cy="502920"/>
          </a:xfrm>
          <a:prstGeom prst="rect">
            <a:avLst/>
          </a:prstGeom>
          <a:noFill/>
        </p:spPr>
        <p:txBody>
          <a:bodyPr wrap="square" lIns="0" tIns="0" rIns="0" bIns="0" anchor="t">
            <a:spAutoFit/>
          </a:bodyPr>
          <a:lstStyle/>
          <a:p>
            <a:pPr algn="l">
              <a:lnSpc>
                <a:spcPct val="105000"/>
              </a:lnSpc>
            </a:pPr>
            <a:r>
              <a:rPr sz="1050" b="0">
                <a:solidFill>
                  <a:srgbClr val="152042"/>
                </a:solidFill>
                <a:latin typeface="Calibri"/>
              </a:rPr>
              <a:t>Base centralisée : 14 tables + import Excel / CSV</a:t>
            </a:r>
          </a:p>
        </p:txBody>
      </p:sp>
      <p:sp>
        <p:nvSpPr>
          <p:cNvPr id="16" name="Rectangle 15"/>
          <p:cNvSpPr/>
          <p:nvPr/>
        </p:nvSpPr>
        <p:spPr>
          <a:xfrm>
            <a:off x="502920" y="2660904"/>
            <a:ext cx="5074920" cy="1078992"/>
          </a:xfrm>
          <a:prstGeom prst="rect">
            <a:avLst/>
          </a:prstGeom>
          <a:solidFill>
            <a:srgbClr val="FB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2660904"/>
            <a:ext cx="91440" cy="107899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2752344"/>
            <a:ext cx="4663440" cy="365760"/>
          </a:xfrm>
          <a:prstGeom prst="rect">
            <a:avLst/>
          </a:prstGeom>
          <a:noFill/>
        </p:spPr>
        <p:txBody>
          <a:bodyPr wrap="square" lIns="0" tIns="0" rIns="0" bIns="0" anchor="t">
            <a:spAutoFit/>
          </a:bodyPr>
          <a:lstStyle/>
          <a:p>
            <a:pPr algn="l">
              <a:lnSpc>
                <a:spcPct val="105000"/>
              </a:lnSpc>
            </a:pPr>
            <a:r>
              <a:rPr sz="1300" b="1">
                <a:solidFill>
                  <a:srgbClr val="C0392B"/>
                </a:solidFill>
                <a:latin typeface="Calibri"/>
              </a:rPr>
              <a:t>Indicateurs non fiables</a:t>
            </a:r>
          </a:p>
        </p:txBody>
      </p:sp>
      <p:sp>
        <p:nvSpPr>
          <p:cNvPr id="19" name="TextBox 18"/>
          <p:cNvSpPr txBox="1"/>
          <p:nvPr/>
        </p:nvSpPr>
        <p:spPr>
          <a:xfrm>
            <a:off x="731520" y="3163824"/>
            <a:ext cx="4663440" cy="502920"/>
          </a:xfrm>
          <a:prstGeom prst="rect">
            <a:avLst/>
          </a:prstGeom>
          <a:noFill/>
        </p:spPr>
        <p:txBody>
          <a:bodyPr wrap="square" lIns="0" tIns="0" rIns="0" bIns="0" anchor="t">
            <a:spAutoFit/>
          </a:bodyPr>
          <a:lstStyle/>
          <a:p>
            <a:pPr algn="l">
              <a:lnSpc>
                <a:spcPct val="105000"/>
              </a:lnSpc>
            </a:pPr>
            <a:r>
              <a:rPr sz="1050" b="0">
                <a:solidFill>
                  <a:srgbClr val="152042"/>
                </a:solidFill>
                <a:latin typeface="Calibri"/>
              </a:rPr>
              <a:t>croisements manuels, source d'erreurs</a:t>
            </a:r>
          </a:p>
        </p:txBody>
      </p:sp>
      <p:sp>
        <p:nvSpPr>
          <p:cNvPr id="20" name="Octagon 19"/>
          <p:cNvSpPr/>
          <p:nvPr/>
        </p:nvSpPr>
        <p:spPr>
          <a:xfrm>
            <a:off x="5760720" y="3017520"/>
            <a:ext cx="237744" cy="365760"/>
          </a:xfrm>
          <a:prstGeom prst="octagon">
            <a:avLst/>
          </a:prstGeom>
          <a:solidFill>
            <a:srgbClr val="2E6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2660904"/>
            <a:ext cx="5440680" cy="1078992"/>
          </a:xfrm>
          <a:prstGeom prst="rect">
            <a:avLst/>
          </a:prstGeom>
          <a:solidFill>
            <a:srgbClr val="E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63640" y="2660904"/>
            <a:ext cx="91440" cy="1078992"/>
          </a:xfrm>
          <a:prstGeom prst="rect">
            <a:avLst/>
          </a:prstGeom>
          <a:solidFill>
            <a:srgbClr val="2EA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92240" y="2752344"/>
            <a:ext cx="5029200" cy="365760"/>
          </a:xfrm>
          <a:prstGeom prst="rect">
            <a:avLst/>
          </a:prstGeom>
          <a:noFill/>
        </p:spPr>
        <p:txBody>
          <a:bodyPr wrap="square" lIns="0" tIns="0" rIns="0" bIns="0" anchor="t">
            <a:spAutoFit/>
          </a:bodyPr>
          <a:lstStyle/>
          <a:p>
            <a:pPr algn="l">
              <a:lnSpc>
                <a:spcPct val="105000"/>
              </a:lnSpc>
            </a:pPr>
            <a:r>
              <a:rPr sz="1300" b="1">
                <a:solidFill>
                  <a:srgbClr val="2EA06E"/>
                </a:solidFill>
                <a:latin typeface="Calibri"/>
              </a:rPr>
              <a:t>Solution</a:t>
            </a:r>
          </a:p>
        </p:txBody>
      </p:sp>
      <p:sp>
        <p:nvSpPr>
          <p:cNvPr id="24" name="TextBox 23"/>
          <p:cNvSpPr txBox="1"/>
          <p:nvPr/>
        </p:nvSpPr>
        <p:spPr>
          <a:xfrm>
            <a:off x="6492240" y="3163824"/>
            <a:ext cx="5029200" cy="502920"/>
          </a:xfrm>
          <a:prstGeom prst="rect">
            <a:avLst/>
          </a:prstGeom>
          <a:noFill/>
        </p:spPr>
        <p:txBody>
          <a:bodyPr wrap="square" lIns="0" tIns="0" rIns="0" bIns="0" anchor="t">
            <a:spAutoFit/>
          </a:bodyPr>
          <a:lstStyle/>
          <a:p>
            <a:pPr algn="l">
              <a:lnSpc>
                <a:spcPct val="105000"/>
              </a:lnSpc>
            </a:pPr>
            <a:r>
              <a:rPr sz="1050" b="0">
                <a:solidFill>
                  <a:srgbClr val="152042"/>
                </a:solidFill>
                <a:latin typeface="Calibri"/>
              </a:rPr>
              <a:t>8 indicateurs automatisés + dérivés par tags KPI</a:t>
            </a:r>
          </a:p>
        </p:txBody>
      </p:sp>
      <p:sp>
        <p:nvSpPr>
          <p:cNvPr id="25" name="Rectangle 24"/>
          <p:cNvSpPr/>
          <p:nvPr/>
        </p:nvSpPr>
        <p:spPr>
          <a:xfrm>
            <a:off x="502920" y="3904488"/>
            <a:ext cx="5074920" cy="1078992"/>
          </a:xfrm>
          <a:prstGeom prst="rect">
            <a:avLst/>
          </a:prstGeom>
          <a:solidFill>
            <a:srgbClr val="FB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3904488"/>
            <a:ext cx="91440" cy="107899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1520" y="3995928"/>
            <a:ext cx="4663440" cy="365760"/>
          </a:xfrm>
          <a:prstGeom prst="rect">
            <a:avLst/>
          </a:prstGeom>
          <a:noFill/>
        </p:spPr>
        <p:txBody>
          <a:bodyPr wrap="square" lIns="0" tIns="0" rIns="0" bIns="0" anchor="t">
            <a:spAutoFit/>
          </a:bodyPr>
          <a:lstStyle/>
          <a:p>
            <a:pPr algn="l">
              <a:lnSpc>
                <a:spcPct val="105000"/>
              </a:lnSpc>
            </a:pPr>
            <a:r>
              <a:rPr sz="1300" b="1">
                <a:solidFill>
                  <a:srgbClr val="C0392B"/>
                </a:solidFill>
                <a:latin typeface="Calibri"/>
              </a:rPr>
              <a:t>Réseau inanimé</a:t>
            </a:r>
          </a:p>
        </p:txBody>
      </p:sp>
      <p:sp>
        <p:nvSpPr>
          <p:cNvPr id="28" name="TextBox 27"/>
          <p:cNvSpPr txBox="1"/>
          <p:nvPr/>
        </p:nvSpPr>
        <p:spPr>
          <a:xfrm>
            <a:off x="731520" y="4407408"/>
            <a:ext cx="4663440" cy="502920"/>
          </a:xfrm>
          <a:prstGeom prst="rect">
            <a:avLst/>
          </a:prstGeom>
          <a:noFill/>
        </p:spPr>
        <p:txBody>
          <a:bodyPr wrap="square" lIns="0" tIns="0" rIns="0" bIns="0" anchor="t">
            <a:spAutoFit/>
          </a:bodyPr>
          <a:lstStyle/>
          <a:p>
            <a:pPr algn="l">
              <a:lnSpc>
                <a:spcPct val="105000"/>
              </a:lnSpc>
            </a:pPr>
            <a:r>
              <a:rPr sz="1050" b="0">
                <a:solidFill>
                  <a:srgbClr val="152042"/>
                </a:solidFill>
                <a:latin typeface="Calibri"/>
              </a:rPr>
              <a:t>aucun canal pour rester en contact</a:t>
            </a:r>
          </a:p>
        </p:txBody>
      </p:sp>
      <p:sp>
        <p:nvSpPr>
          <p:cNvPr id="29" name="Octagon 28"/>
          <p:cNvSpPr/>
          <p:nvPr/>
        </p:nvSpPr>
        <p:spPr>
          <a:xfrm>
            <a:off x="5760720" y="4261104"/>
            <a:ext cx="237744" cy="365760"/>
          </a:xfrm>
          <a:prstGeom prst="octagon">
            <a:avLst/>
          </a:prstGeom>
          <a:solidFill>
            <a:srgbClr val="2E6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263640" y="3904488"/>
            <a:ext cx="5440680" cy="1078992"/>
          </a:xfrm>
          <a:prstGeom prst="rect">
            <a:avLst/>
          </a:prstGeom>
          <a:solidFill>
            <a:srgbClr val="E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263640" y="3904488"/>
            <a:ext cx="91440" cy="1078992"/>
          </a:xfrm>
          <a:prstGeom prst="rect">
            <a:avLst/>
          </a:prstGeom>
          <a:solidFill>
            <a:srgbClr val="2EA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92240" y="3995928"/>
            <a:ext cx="5029200" cy="365760"/>
          </a:xfrm>
          <a:prstGeom prst="rect">
            <a:avLst/>
          </a:prstGeom>
          <a:noFill/>
        </p:spPr>
        <p:txBody>
          <a:bodyPr wrap="square" lIns="0" tIns="0" rIns="0" bIns="0" anchor="t">
            <a:spAutoFit/>
          </a:bodyPr>
          <a:lstStyle/>
          <a:p>
            <a:pPr algn="l">
              <a:lnSpc>
                <a:spcPct val="105000"/>
              </a:lnSpc>
            </a:pPr>
            <a:r>
              <a:rPr sz="1300" b="1">
                <a:solidFill>
                  <a:srgbClr val="2EA06E"/>
                </a:solidFill>
                <a:latin typeface="Calibri"/>
              </a:rPr>
              <a:t>Solution</a:t>
            </a:r>
          </a:p>
        </p:txBody>
      </p:sp>
      <p:sp>
        <p:nvSpPr>
          <p:cNvPr id="33" name="TextBox 32"/>
          <p:cNvSpPr txBox="1"/>
          <p:nvPr/>
        </p:nvSpPr>
        <p:spPr>
          <a:xfrm>
            <a:off x="6492240" y="4407408"/>
            <a:ext cx="5029200" cy="502920"/>
          </a:xfrm>
          <a:prstGeom prst="rect">
            <a:avLst/>
          </a:prstGeom>
          <a:noFill/>
        </p:spPr>
        <p:txBody>
          <a:bodyPr wrap="square" lIns="0" tIns="0" rIns="0" bIns="0" anchor="t">
            <a:spAutoFit/>
          </a:bodyPr>
          <a:lstStyle/>
          <a:p>
            <a:pPr algn="l">
              <a:lnSpc>
                <a:spcPct val="105000"/>
              </a:lnSpc>
            </a:pPr>
            <a:r>
              <a:rPr sz="1050" b="0">
                <a:solidFill>
                  <a:srgbClr val="152042"/>
                </a:solidFill>
                <a:latin typeface="Calibri"/>
              </a:rPr>
              <a:t>Espace alumni : profil, parcours, questionnaire, newsletter</a:t>
            </a:r>
          </a:p>
        </p:txBody>
      </p:sp>
      <p:sp>
        <p:nvSpPr>
          <p:cNvPr id="34" name="Rectangle 33"/>
          <p:cNvSpPr/>
          <p:nvPr/>
        </p:nvSpPr>
        <p:spPr>
          <a:xfrm>
            <a:off x="502920" y="5148072"/>
            <a:ext cx="5074920" cy="1078992"/>
          </a:xfrm>
          <a:prstGeom prst="rect">
            <a:avLst/>
          </a:prstGeom>
          <a:solidFill>
            <a:srgbClr val="FB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502920" y="5148072"/>
            <a:ext cx="91440" cy="107899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31520" y="5239512"/>
            <a:ext cx="4663440" cy="365760"/>
          </a:xfrm>
          <a:prstGeom prst="rect">
            <a:avLst/>
          </a:prstGeom>
          <a:noFill/>
        </p:spPr>
        <p:txBody>
          <a:bodyPr wrap="square" lIns="0" tIns="0" rIns="0" bIns="0" anchor="t">
            <a:spAutoFit/>
          </a:bodyPr>
          <a:lstStyle/>
          <a:p>
            <a:pPr algn="l">
              <a:lnSpc>
                <a:spcPct val="105000"/>
              </a:lnSpc>
            </a:pPr>
            <a:r>
              <a:rPr sz="1300" b="1">
                <a:solidFill>
                  <a:srgbClr val="C0392B"/>
                </a:solidFill>
                <a:latin typeface="Calibri"/>
              </a:rPr>
              <a:t>RGPD non formalisé</a:t>
            </a:r>
          </a:p>
        </p:txBody>
      </p:sp>
      <p:sp>
        <p:nvSpPr>
          <p:cNvPr id="37" name="TextBox 36"/>
          <p:cNvSpPr txBox="1"/>
          <p:nvPr/>
        </p:nvSpPr>
        <p:spPr>
          <a:xfrm>
            <a:off x="731520" y="5650992"/>
            <a:ext cx="4663440" cy="502920"/>
          </a:xfrm>
          <a:prstGeom prst="rect">
            <a:avLst/>
          </a:prstGeom>
          <a:noFill/>
        </p:spPr>
        <p:txBody>
          <a:bodyPr wrap="square" lIns="0" tIns="0" rIns="0" bIns="0" anchor="t">
            <a:spAutoFit/>
          </a:bodyPr>
          <a:lstStyle/>
          <a:p>
            <a:pPr algn="l">
              <a:lnSpc>
                <a:spcPct val="105000"/>
              </a:lnSpc>
            </a:pPr>
            <a:r>
              <a:rPr sz="1050" b="0">
                <a:solidFill>
                  <a:srgbClr val="152042"/>
                </a:solidFill>
                <a:latin typeface="Calibri"/>
              </a:rPr>
              <a:t>aucun workflow traçable</a:t>
            </a:r>
          </a:p>
        </p:txBody>
      </p:sp>
      <p:sp>
        <p:nvSpPr>
          <p:cNvPr id="38" name="Octagon 37"/>
          <p:cNvSpPr/>
          <p:nvPr/>
        </p:nvSpPr>
        <p:spPr>
          <a:xfrm>
            <a:off x="5760720" y="5504688"/>
            <a:ext cx="237744" cy="365760"/>
          </a:xfrm>
          <a:prstGeom prst="octagon">
            <a:avLst/>
          </a:prstGeom>
          <a:solidFill>
            <a:srgbClr val="2E6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263640" y="5148072"/>
            <a:ext cx="5440680" cy="1078992"/>
          </a:xfrm>
          <a:prstGeom prst="rect">
            <a:avLst/>
          </a:prstGeom>
          <a:solidFill>
            <a:srgbClr val="E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263640" y="5148072"/>
            <a:ext cx="91440" cy="1078992"/>
          </a:xfrm>
          <a:prstGeom prst="rect">
            <a:avLst/>
          </a:prstGeom>
          <a:solidFill>
            <a:srgbClr val="2EA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92240" y="5239512"/>
            <a:ext cx="5029200" cy="365760"/>
          </a:xfrm>
          <a:prstGeom prst="rect">
            <a:avLst/>
          </a:prstGeom>
          <a:noFill/>
        </p:spPr>
        <p:txBody>
          <a:bodyPr wrap="square" lIns="0" tIns="0" rIns="0" bIns="0" anchor="t">
            <a:spAutoFit/>
          </a:bodyPr>
          <a:lstStyle/>
          <a:p>
            <a:pPr algn="l">
              <a:lnSpc>
                <a:spcPct val="105000"/>
              </a:lnSpc>
            </a:pPr>
            <a:r>
              <a:rPr sz="1300" b="1">
                <a:solidFill>
                  <a:srgbClr val="2EA06E"/>
                </a:solidFill>
                <a:latin typeface="Calibri"/>
              </a:rPr>
              <a:t>Solution</a:t>
            </a:r>
          </a:p>
        </p:txBody>
      </p:sp>
      <p:sp>
        <p:nvSpPr>
          <p:cNvPr id="42" name="TextBox 41"/>
          <p:cNvSpPr txBox="1"/>
          <p:nvPr/>
        </p:nvSpPr>
        <p:spPr>
          <a:xfrm>
            <a:off x="6492240" y="5650992"/>
            <a:ext cx="5029200" cy="502920"/>
          </a:xfrm>
          <a:prstGeom prst="rect">
            <a:avLst/>
          </a:prstGeom>
          <a:noFill/>
        </p:spPr>
        <p:txBody>
          <a:bodyPr wrap="square" lIns="0" tIns="0" rIns="0" bIns="0" anchor="t">
            <a:spAutoFit/>
          </a:bodyPr>
          <a:lstStyle/>
          <a:p>
            <a:pPr algn="l">
              <a:lnSpc>
                <a:spcPct val="105000"/>
              </a:lnSpc>
            </a:pPr>
            <a:r>
              <a:rPr sz="1050" b="0">
                <a:solidFill>
                  <a:srgbClr val="152042"/>
                </a:solidFill>
                <a:latin typeface="Calibri"/>
              </a:rPr>
              <a:t>Consentements tracés, workflow de demandes, journal d'audit, DPO</a:t>
            </a:r>
          </a:p>
        </p:txBody>
      </p:sp>
      <p:sp>
        <p:nvSpPr>
          <p:cNvPr id="43" name="TextBox 42"/>
          <p:cNvSpPr txBox="1"/>
          <p:nvPr/>
        </p:nvSpPr>
        <p:spPr>
          <a:xfrm>
            <a:off x="640080" y="6355080"/>
            <a:ext cx="10881360" cy="365760"/>
          </a:xfrm>
          <a:prstGeom prst="rect">
            <a:avLst/>
          </a:prstGeom>
          <a:noFill/>
        </p:spPr>
        <p:txBody>
          <a:bodyPr wrap="square" lIns="0" tIns="0" rIns="0" bIns="0" anchor="t">
            <a:spAutoFit/>
          </a:bodyPr>
          <a:lstStyle/>
          <a:p>
            <a:pPr algn="ctr">
              <a:lnSpc>
                <a:spcPct val="105000"/>
              </a:lnSpc>
            </a:pPr>
            <a:r>
              <a:rPr sz="1300" b="0">
                <a:solidFill>
                  <a:srgbClr val="606A7E"/>
                </a:solidFill>
                <a:latin typeface="Calibri"/>
              </a:rPr>
              <a:t>Chaque problème identifié au départ est couvert par le système — détail dans le rapport, table 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2191695" cy="1051560"/>
          </a:xfrm>
          <a:prstGeom prst="rect">
            <a:avLst/>
          </a:prstGeom>
          <a:noFill/>
        </p:spPr>
        <p:txBody>
          <a:bodyPr wrap="square" lIns="0" tIns="0" rIns="0" bIns="0" anchor="t">
            <a:spAutoFit/>
          </a:bodyPr>
          <a:lstStyle/>
          <a:p>
            <a:pPr algn="l">
              <a:lnSpc>
                <a:spcPct val="105000"/>
              </a:lnSpc>
            </a:pPr>
            <a:r>
              <a:rPr sz="2700" b="1">
                <a:solidFill>
                  <a:srgbClr val="152042"/>
                </a:solidFill>
                <a:latin typeface="Calibri"/>
              </a:rPr>
              <a:t>Difficultés rencontrées et leçons</a:t>
            </a:r>
          </a:p>
        </p:txBody>
      </p:sp>
      <p:sp>
        <p:nvSpPr>
          <p:cNvPr id="3" name="TextBox 2"/>
          <p:cNvSpPr txBox="1"/>
          <p:nvPr/>
        </p:nvSpPr>
        <p:spPr>
          <a:xfrm>
            <a:off x="502920" y="932688"/>
            <a:ext cx="2377440" cy="82296"/>
          </a:xfrm>
          <a:prstGeom prst="rect">
            <a:avLst/>
          </a:prstGeom>
          <a:solidFill>
            <a:srgbClr val="2EA06E"/>
          </a:solidFill>
        </p:spPr>
        <p:txBody>
          <a:bodyPr wrap="square" lIns="0" tIns="0" rIns="0" bIns="0" anchor="t">
            <a:spAutoFit/>
          </a:bodyPr>
          <a:lstStyle/>
          <a:p>
            <a:pPr algn="l">
              <a:lnSpc>
                <a:spcPct val="105000"/>
              </a:lnSpc>
            </a:pPr>
            <a:endParaRPr/>
          </a:p>
        </p:txBody>
      </p:sp>
      <p:sp>
        <p:nvSpPr>
          <p:cNvPr id="4" name="TextBox 3"/>
          <p:cNvSpPr txBox="1"/>
          <p:nvPr/>
        </p:nvSpPr>
        <p:spPr>
          <a:xfrm>
            <a:off x="0" y="1078992"/>
            <a:ext cx="12191695" cy="365760"/>
          </a:xfrm>
          <a:prstGeom prst="rect">
            <a:avLst/>
          </a:prstGeom>
          <a:noFill/>
        </p:spPr>
        <p:txBody>
          <a:bodyPr wrap="square" lIns="0" tIns="0" rIns="0" bIns="0" anchor="t">
            <a:spAutoFit/>
          </a:bodyPr>
          <a:lstStyle/>
          <a:p>
            <a:pPr algn="l">
              <a:lnSpc>
                <a:spcPct val="105000"/>
              </a:lnSpc>
            </a:pPr>
            <a:r>
              <a:rPr sz="1500" b="0">
                <a:solidFill>
                  <a:srgbClr val="606A7E"/>
                </a:solidFill>
                <a:latin typeface="Calibri"/>
              </a:rPr>
              <a:t>5 incidents réels du rapport (§ 3.2)</a:t>
            </a:r>
          </a:p>
        </p:txBody>
      </p:sp>
      <p:sp>
        <p:nvSpPr>
          <p:cNvPr id="5" name="TextBox 4"/>
          <p:cNvSpPr txBox="1"/>
          <p:nvPr/>
        </p:nvSpPr>
        <p:spPr>
          <a:xfrm>
            <a:off x="11109960" y="201168"/>
            <a:ext cx="868680" cy="365760"/>
          </a:xfrm>
          <a:prstGeom prst="rect">
            <a:avLst/>
          </a:prstGeom>
          <a:noFill/>
        </p:spPr>
        <p:txBody>
          <a:bodyPr wrap="square" lIns="0" tIns="0" rIns="0" bIns="0" anchor="t">
            <a:spAutoFit/>
          </a:bodyPr>
          <a:lstStyle/>
          <a:p>
            <a:pPr algn="r">
              <a:lnSpc>
                <a:spcPct val="105000"/>
              </a:lnSpc>
            </a:pPr>
            <a:r>
              <a:rPr sz="1200" b="0">
                <a:solidFill>
                  <a:srgbClr val="606A7E"/>
                </a:solidFill>
                <a:latin typeface="Calibri"/>
              </a:rPr>
              <a:t>0:45</a:t>
            </a:r>
          </a:p>
        </p:txBody>
      </p:sp>
      <p:sp>
        <p:nvSpPr>
          <p:cNvPr id="6" name="TextBox 5"/>
          <p:cNvSpPr txBox="1"/>
          <p:nvPr/>
        </p:nvSpPr>
        <p:spPr>
          <a:xfrm>
            <a:off x="0" y="6446520"/>
            <a:ext cx="12191695" cy="320040"/>
          </a:xfrm>
          <a:prstGeom prst="rect">
            <a:avLst/>
          </a:prstGeom>
          <a:solidFill>
            <a:srgbClr val="152042"/>
          </a:solidFill>
        </p:spPr>
        <p:txBody>
          <a:bodyPr wrap="square" lIns="0" tIns="0" rIns="0" bIns="0" anchor="t">
            <a:spAutoFit/>
          </a:bodyPr>
          <a:lstStyle/>
          <a:p>
            <a:pPr algn="l">
              <a:lnSpc>
                <a:spcPct val="105000"/>
              </a:lnSpc>
            </a:pPr>
            <a:endParaRPr/>
          </a:p>
        </p:txBody>
      </p:sp>
      <p:sp>
        <p:nvSpPr>
          <p:cNvPr id="7" name="Rectangle 6"/>
          <p:cNvSpPr/>
          <p:nvPr/>
        </p:nvSpPr>
        <p:spPr>
          <a:xfrm>
            <a:off x="640080" y="1371600"/>
            <a:ext cx="5806440" cy="9144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444752"/>
            <a:ext cx="5486400" cy="384048"/>
          </a:xfrm>
          <a:prstGeom prst="rect">
            <a:avLst/>
          </a:prstGeom>
          <a:noFill/>
        </p:spPr>
        <p:txBody>
          <a:bodyPr wrap="square" lIns="0" tIns="0" rIns="0" bIns="0" anchor="t">
            <a:spAutoFit/>
          </a:bodyPr>
          <a:lstStyle/>
          <a:p>
            <a:pPr algn="l">
              <a:lnSpc>
                <a:spcPct val="105000"/>
              </a:lnSpc>
            </a:pPr>
            <a:r>
              <a:rPr sz="1350" b="1">
                <a:solidFill>
                  <a:srgbClr val="152042"/>
                </a:solidFill>
                <a:latin typeface="Calibri"/>
              </a:rPr>
              <a:t>Workflow RGPD : deux admins pouvaient traiter la même demande</a:t>
            </a:r>
          </a:p>
        </p:txBody>
      </p:sp>
      <p:sp>
        <p:nvSpPr>
          <p:cNvPr id="9" name="TextBox 8"/>
          <p:cNvSpPr txBox="1"/>
          <p:nvPr/>
        </p:nvSpPr>
        <p:spPr>
          <a:xfrm>
            <a:off x="777240" y="1847088"/>
            <a:ext cx="5532120" cy="384048"/>
          </a:xfrm>
          <a:prstGeom prst="rect">
            <a:avLst/>
          </a:prstGeom>
          <a:noFill/>
        </p:spPr>
        <p:txBody>
          <a:bodyPr wrap="square" lIns="0" tIns="0" rIns="0" bIns="0" anchor="t">
            <a:spAutoFit/>
          </a:bodyPr>
          <a:lstStyle/>
          <a:p>
            <a:pPr algn="l">
              <a:lnSpc>
                <a:spcPct val="105000"/>
              </a:lnSpc>
            </a:pPr>
            <a:r>
              <a:rPr sz="1100" b="0">
                <a:solidFill>
                  <a:srgbClr val="606A7E"/>
                </a:solidFill>
                <a:latin typeface="Calibri"/>
              </a:rPr>
              <a:t>leçon : statut « en cours de traitement » + verrou prise_en_charge_par</a:t>
            </a:r>
          </a:p>
        </p:txBody>
      </p:sp>
      <p:sp>
        <p:nvSpPr>
          <p:cNvPr id="10" name="Rectangle 9"/>
          <p:cNvSpPr/>
          <p:nvPr/>
        </p:nvSpPr>
        <p:spPr>
          <a:xfrm>
            <a:off x="640080" y="2368296"/>
            <a:ext cx="5806440" cy="9144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441448"/>
            <a:ext cx="5486400" cy="384048"/>
          </a:xfrm>
          <a:prstGeom prst="rect">
            <a:avLst/>
          </a:prstGeom>
          <a:noFill/>
        </p:spPr>
        <p:txBody>
          <a:bodyPr wrap="square" lIns="0" tIns="0" rIns="0" bIns="0" anchor="t">
            <a:spAutoFit/>
          </a:bodyPr>
          <a:lstStyle/>
          <a:p>
            <a:pPr algn="l">
              <a:lnSpc>
                <a:spcPct val="105000"/>
              </a:lnSpc>
            </a:pPr>
            <a:r>
              <a:rPr sz="1350" b="1">
                <a:solidFill>
                  <a:srgbClr val="152042"/>
                </a:solidFill>
                <a:latin typeface="Calibri"/>
              </a:rPr>
              <a:t>Pas de versionning Git : incident de synchronisation OneDrive</a:t>
            </a:r>
          </a:p>
        </p:txBody>
      </p:sp>
      <p:sp>
        <p:nvSpPr>
          <p:cNvPr id="12" name="TextBox 11"/>
          <p:cNvSpPr txBox="1"/>
          <p:nvPr/>
        </p:nvSpPr>
        <p:spPr>
          <a:xfrm>
            <a:off x="777240" y="2843784"/>
            <a:ext cx="5532120" cy="384048"/>
          </a:xfrm>
          <a:prstGeom prst="rect">
            <a:avLst/>
          </a:prstGeom>
          <a:noFill/>
        </p:spPr>
        <p:txBody>
          <a:bodyPr wrap="square" lIns="0" tIns="0" rIns="0" bIns="0" anchor="t">
            <a:spAutoFit/>
          </a:bodyPr>
          <a:lstStyle/>
          <a:p>
            <a:pPr algn="l">
              <a:lnSpc>
                <a:spcPct val="105000"/>
              </a:lnSpc>
            </a:pPr>
            <a:r>
              <a:rPr sz="1100" b="0">
                <a:solidFill>
                  <a:srgbClr val="606A7E"/>
                </a:solidFill>
                <a:latin typeface="Calibri"/>
              </a:rPr>
              <a:t>leçon : dépôt Git + .gitignore consolidé — versionner avant de coder</a:t>
            </a:r>
          </a:p>
        </p:txBody>
      </p:sp>
      <p:sp>
        <p:nvSpPr>
          <p:cNvPr id="13" name="Rectangle 12"/>
          <p:cNvSpPr/>
          <p:nvPr/>
        </p:nvSpPr>
        <p:spPr>
          <a:xfrm>
            <a:off x="640080" y="3364991"/>
            <a:ext cx="5806440" cy="9144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3438144"/>
            <a:ext cx="5486400" cy="384048"/>
          </a:xfrm>
          <a:prstGeom prst="rect">
            <a:avLst/>
          </a:prstGeom>
          <a:noFill/>
        </p:spPr>
        <p:txBody>
          <a:bodyPr wrap="square" lIns="0" tIns="0" rIns="0" bIns="0" anchor="t">
            <a:spAutoFit/>
          </a:bodyPr>
          <a:lstStyle/>
          <a:p>
            <a:pPr algn="l">
              <a:lnSpc>
                <a:spcPct val="105000"/>
              </a:lnSpc>
            </a:pPr>
            <a:r>
              <a:rPr sz="1350" b="1">
                <a:solidFill>
                  <a:srgbClr val="152042"/>
                </a:solidFill>
                <a:latin typeface="Calibri"/>
              </a:rPr>
              <a:t>Identifiants PostgreSQL en dur dans le code</a:t>
            </a:r>
          </a:p>
        </p:txBody>
      </p:sp>
      <p:sp>
        <p:nvSpPr>
          <p:cNvPr id="15" name="TextBox 14"/>
          <p:cNvSpPr txBox="1"/>
          <p:nvPr/>
        </p:nvSpPr>
        <p:spPr>
          <a:xfrm>
            <a:off x="777240" y="3840479"/>
            <a:ext cx="5532120" cy="384048"/>
          </a:xfrm>
          <a:prstGeom prst="rect">
            <a:avLst/>
          </a:prstGeom>
          <a:noFill/>
        </p:spPr>
        <p:txBody>
          <a:bodyPr wrap="square" lIns="0" tIns="0" rIns="0" bIns="0" anchor="t">
            <a:spAutoFit/>
          </a:bodyPr>
          <a:lstStyle/>
          <a:p>
            <a:pPr algn="l">
              <a:lnSpc>
                <a:spcPct val="105000"/>
              </a:lnSpc>
            </a:pPr>
            <a:r>
              <a:rPr sz="1100" b="0">
                <a:solidFill>
                  <a:srgbClr val="606A7E"/>
                </a:solidFill>
                <a:latin typeface="Calibri"/>
              </a:rPr>
              <a:t>leçon : variables d'environnement (.env), aucun secret versionné</a:t>
            </a:r>
          </a:p>
        </p:txBody>
      </p:sp>
      <p:sp>
        <p:nvSpPr>
          <p:cNvPr id="16" name="Rectangle 15"/>
          <p:cNvSpPr/>
          <p:nvPr/>
        </p:nvSpPr>
        <p:spPr>
          <a:xfrm>
            <a:off x="640080" y="4361688"/>
            <a:ext cx="5806440" cy="9144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4434840"/>
            <a:ext cx="5486400" cy="384048"/>
          </a:xfrm>
          <a:prstGeom prst="rect">
            <a:avLst/>
          </a:prstGeom>
          <a:noFill/>
        </p:spPr>
        <p:txBody>
          <a:bodyPr wrap="square" lIns="0" tIns="0" rIns="0" bIns="0" anchor="t">
            <a:spAutoFit/>
          </a:bodyPr>
          <a:lstStyle/>
          <a:p>
            <a:pPr algn="l">
              <a:lnSpc>
                <a:spcPct val="105000"/>
              </a:lnSpc>
            </a:pPr>
            <a:r>
              <a:rPr sz="1350" b="1">
                <a:solidFill>
                  <a:srgbClr val="152042"/>
                </a:solidFill>
                <a:latin typeface="Calibri"/>
              </a:rPr>
              <a:t>Données temporaires sans purge : OTP expirés et journal d'audit s'accumulent</a:t>
            </a:r>
          </a:p>
        </p:txBody>
      </p:sp>
      <p:sp>
        <p:nvSpPr>
          <p:cNvPr id="18" name="TextBox 17"/>
          <p:cNvSpPr txBox="1"/>
          <p:nvPr/>
        </p:nvSpPr>
        <p:spPr>
          <a:xfrm>
            <a:off x="777240" y="4837175"/>
            <a:ext cx="5532120" cy="384048"/>
          </a:xfrm>
          <a:prstGeom prst="rect">
            <a:avLst/>
          </a:prstGeom>
          <a:noFill/>
        </p:spPr>
        <p:txBody>
          <a:bodyPr wrap="square" lIns="0" tIns="0" rIns="0" bIns="0" anchor="t">
            <a:spAutoFit/>
          </a:bodyPr>
          <a:lstStyle/>
          <a:p>
            <a:pPr algn="l">
              <a:lnSpc>
                <a:spcPct val="105000"/>
              </a:lnSpc>
            </a:pPr>
            <a:r>
              <a:rPr sz="1100" b="0">
                <a:solidFill>
                  <a:srgbClr val="606A7E"/>
                </a:solidFill>
                <a:latin typeface="Calibri"/>
              </a:rPr>
              <a:t>leçon : prévoir la rétention dès la conception</a:t>
            </a:r>
          </a:p>
        </p:txBody>
      </p:sp>
      <p:sp>
        <p:nvSpPr>
          <p:cNvPr id="19" name="Rectangle 18"/>
          <p:cNvSpPr/>
          <p:nvPr/>
        </p:nvSpPr>
        <p:spPr>
          <a:xfrm>
            <a:off x="640080" y="5358383"/>
            <a:ext cx="5806440" cy="9144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5431536"/>
            <a:ext cx="5486400" cy="384048"/>
          </a:xfrm>
          <a:prstGeom prst="rect">
            <a:avLst/>
          </a:prstGeom>
          <a:noFill/>
        </p:spPr>
        <p:txBody>
          <a:bodyPr wrap="square" lIns="0" tIns="0" rIns="0" bIns="0" anchor="t">
            <a:spAutoFit/>
          </a:bodyPr>
          <a:lstStyle/>
          <a:p>
            <a:pPr algn="l">
              <a:lnSpc>
                <a:spcPct val="105000"/>
              </a:lnSpc>
            </a:pPr>
            <a:r>
              <a:rPr sz="1350" b="1">
                <a:solidFill>
                  <a:srgbClr val="152042"/>
                </a:solidFill>
                <a:latin typeface="Calibri"/>
              </a:rPr>
              <a:t>Spécificités du driver pg8000 : JSONB non uniforme, pas d'ID auto, pas de pool</a:t>
            </a:r>
          </a:p>
        </p:txBody>
      </p:sp>
      <p:sp>
        <p:nvSpPr>
          <p:cNvPr id="21" name="TextBox 20"/>
          <p:cNvSpPr txBox="1"/>
          <p:nvPr/>
        </p:nvSpPr>
        <p:spPr>
          <a:xfrm>
            <a:off x="777240" y="5833871"/>
            <a:ext cx="5532120" cy="384048"/>
          </a:xfrm>
          <a:prstGeom prst="rect">
            <a:avLst/>
          </a:prstGeom>
          <a:noFill/>
        </p:spPr>
        <p:txBody>
          <a:bodyPr wrap="square" lIns="0" tIns="0" rIns="0" bIns="0" anchor="t">
            <a:spAutoFit/>
          </a:bodyPr>
          <a:lstStyle/>
          <a:p>
            <a:pPr algn="l">
              <a:lnSpc>
                <a:spcPct val="105000"/>
              </a:lnSpc>
            </a:pPr>
            <a:r>
              <a:rPr sz="1100" b="0">
                <a:solidFill>
                  <a:srgbClr val="606A7E"/>
                </a:solidFill>
                <a:latin typeface="Calibri"/>
              </a:rPr>
              <a:t>leçon : helpers centralisés (rows_to_dicts, IntegrityError, ::jsonb)</a:t>
            </a:r>
          </a:p>
        </p:txBody>
      </p:sp>
      <p:pic>
        <p:nvPicPr>
          <p:cNvPr id="22" name="Picture 21" descr="otp_error_light.png"/>
          <p:cNvPicPr>
            <a:picLocks noChangeAspect="1"/>
          </p:cNvPicPr>
          <p:nvPr/>
        </p:nvPicPr>
        <p:blipFill>
          <a:blip r:embed="rId3"/>
          <a:stretch>
            <a:fillRect/>
          </a:stretch>
        </p:blipFill>
        <p:spPr>
          <a:xfrm>
            <a:off x="6766560" y="1943100"/>
            <a:ext cx="4754880" cy="2971800"/>
          </a:xfrm>
          <a:prstGeom prst="rect">
            <a:avLst/>
          </a:prstGeom>
        </p:spPr>
      </p:pic>
      <p:sp>
        <p:nvSpPr>
          <p:cNvPr id="23" name="TextBox 22"/>
          <p:cNvSpPr txBox="1"/>
          <p:nvPr/>
        </p:nvSpPr>
        <p:spPr>
          <a:xfrm>
            <a:off x="6766560" y="5257800"/>
            <a:ext cx="4754880" cy="365760"/>
          </a:xfrm>
          <a:prstGeom prst="rect">
            <a:avLst/>
          </a:prstGeom>
          <a:noFill/>
        </p:spPr>
        <p:txBody>
          <a:bodyPr wrap="square" lIns="0" tIns="0" rIns="0" bIns="0" anchor="t">
            <a:spAutoFit/>
          </a:bodyPr>
          <a:lstStyle/>
          <a:p>
            <a:pPr algn="ctr">
              <a:lnSpc>
                <a:spcPct val="105000"/>
              </a:lnSpc>
            </a:pPr>
            <a:r>
              <a:rPr sz="1300" b="0">
                <a:solidFill>
                  <a:srgbClr val="606A7E"/>
                </a:solidFill>
                <a:latin typeface="Calibri"/>
              </a:rPr>
              <a:t>le flux OTP — codes expirés et journal s'accumulaient sans purge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2191695" cy="1051560"/>
          </a:xfrm>
          <a:prstGeom prst="rect">
            <a:avLst/>
          </a:prstGeom>
          <a:noFill/>
        </p:spPr>
        <p:txBody>
          <a:bodyPr wrap="square" lIns="0" tIns="0" rIns="0" bIns="0" anchor="t">
            <a:spAutoFit/>
          </a:bodyPr>
          <a:lstStyle/>
          <a:p>
            <a:pPr algn="l">
              <a:lnSpc>
                <a:spcPct val="105000"/>
              </a:lnSpc>
            </a:pPr>
            <a:r>
              <a:rPr sz="2700" b="1">
                <a:solidFill>
                  <a:srgbClr val="152042"/>
                </a:solidFill>
                <a:latin typeface="Calibri"/>
              </a:rPr>
              <a:t>Les 5 livrables Management</a:t>
            </a:r>
          </a:p>
        </p:txBody>
      </p:sp>
      <p:sp>
        <p:nvSpPr>
          <p:cNvPr id="3" name="TextBox 2"/>
          <p:cNvSpPr txBox="1"/>
          <p:nvPr/>
        </p:nvSpPr>
        <p:spPr>
          <a:xfrm>
            <a:off x="502920" y="932688"/>
            <a:ext cx="2377440" cy="82296"/>
          </a:xfrm>
          <a:prstGeom prst="rect">
            <a:avLst/>
          </a:prstGeom>
          <a:solidFill>
            <a:srgbClr val="2EA06E"/>
          </a:solidFill>
        </p:spPr>
        <p:txBody>
          <a:bodyPr wrap="square" lIns="0" tIns="0" rIns="0" bIns="0" anchor="t">
            <a:spAutoFit/>
          </a:bodyPr>
          <a:lstStyle/>
          <a:p>
            <a:pPr algn="l">
              <a:lnSpc>
                <a:spcPct val="105000"/>
              </a:lnSpc>
            </a:pPr>
            <a:endParaRPr/>
          </a:p>
        </p:txBody>
      </p:sp>
      <p:sp>
        <p:nvSpPr>
          <p:cNvPr id="4" name="TextBox 3"/>
          <p:cNvSpPr txBox="1"/>
          <p:nvPr/>
        </p:nvSpPr>
        <p:spPr>
          <a:xfrm>
            <a:off x="0" y="1078992"/>
            <a:ext cx="12191695" cy="365760"/>
          </a:xfrm>
          <a:prstGeom prst="rect">
            <a:avLst/>
          </a:prstGeom>
          <a:noFill/>
        </p:spPr>
        <p:txBody>
          <a:bodyPr wrap="square" lIns="0" tIns="0" rIns="0" bIns="0" anchor="t">
            <a:spAutoFit/>
          </a:bodyPr>
          <a:lstStyle/>
          <a:p>
            <a:pPr algn="l">
              <a:lnSpc>
                <a:spcPct val="105000"/>
              </a:lnSpc>
            </a:pPr>
            <a:r>
              <a:rPr sz="1500" b="0">
                <a:solidFill>
                  <a:srgbClr val="606A7E"/>
                </a:solidFill>
                <a:latin typeface="Calibri"/>
              </a:rPr>
              <a:t>le volet Management du sujet couvert par 5 documents</a:t>
            </a:r>
          </a:p>
        </p:txBody>
      </p:sp>
      <p:sp>
        <p:nvSpPr>
          <p:cNvPr id="5" name="TextBox 4"/>
          <p:cNvSpPr txBox="1"/>
          <p:nvPr/>
        </p:nvSpPr>
        <p:spPr>
          <a:xfrm>
            <a:off x="11109960" y="201168"/>
            <a:ext cx="868680" cy="365760"/>
          </a:xfrm>
          <a:prstGeom prst="rect">
            <a:avLst/>
          </a:prstGeom>
          <a:noFill/>
        </p:spPr>
        <p:txBody>
          <a:bodyPr wrap="square" lIns="0" tIns="0" rIns="0" bIns="0" anchor="t">
            <a:spAutoFit/>
          </a:bodyPr>
          <a:lstStyle/>
          <a:p>
            <a:pPr algn="r">
              <a:lnSpc>
                <a:spcPct val="105000"/>
              </a:lnSpc>
            </a:pPr>
            <a:r>
              <a:rPr sz="1200" b="0">
                <a:solidFill>
                  <a:srgbClr val="606A7E"/>
                </a:solidFill>
                <a:latin typeface="Calibri"/>
              </a:rPr>
              <a:t>0:30</a:t>
            </a:r>
          </a:p>
        </p:txBody>
      </p:sp>
      <p:sp>
        <p:nvSpPr>
          <p:cNvPr id="6" name="TextBox 5"/>
          <p:cNvSpPr txBox="1"/>
          <p:nvPr/>
        </p:nvSpPr>
        <p:spPr>
          <a:xfrm>
            <a:off x="0" y="6446520"/>
            <a:ext cx="12191695" cy="320040"/>
          </a:xfrm>
          <a:prstGeom prst="rect">
            <a:avLst/>
          </a:prstGeom>
          <a:solidFill>
            <a:srgbClr val="152042"/>
          </a:solidFill>
        </p:spPr>
        <p:txBody>
          <a:bodyPr wrap="square" lIns="0" tIns="0" rIns="0" bIns="0" anchor="t">
            <a:spAutoFit/>
          </a:bodyPr>
          <a:lstStyle/>
          <a:p>
            <a:pPr algn="l">
              <a:lnSpc>
                <a:spcPct val="105000"/>
              </a:lnSpc>
            </a:pPr>
            <a:endParaRPr/>
          </a:p>
        </p:txBody>
      </p:sp>
      <p:sp>
        <p:nvSpPr>
          <p:cNvPr id="7" name="Rectangle 6"/>
          <p:cNvSpPr/>
          <p:nvPr/>
        </p:nvSpPr>
        <p:spPr>
          <a:xfrm>
            <a:off x="640080" y="1417320"/>
            <a:ext cx="10881360" cy="86868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417320"/>
            <a:ext cx="128016" cy="868680"/>
          </a:xfrm>
          <a:prstGeom prst="rect">
            <a:avLst/>
          </a:prstGeom>
          <a:solidFill>
            <a:srgbClr val="2E6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490472"/>
            <a:ext cx="10332720" cy="365760"/>
          </a:xfrm>
          <a:prstGeom prst="rect">
            <a:avLst/>
          </a:prstGeom>
          <a:noFill/>
        </p:spPr>
        <p:txBody>
          <a:bodyPr wrap="square" lIns="0" tIns="0" rIns="0" bIns="0" anchor="t">
            <a:spAutoFit/>
          </a:bodyPr>
          <a:lstStyle/>
          <a:p>
            <a:pPr algn="l">
              <a:lnSpc>
                <a:spcPct val="105000"/>
              </a:lnSpc>
            </a:pPr>
            <a:r>
              <a:rPr sz="1500" b="1">
                <a:solidFill>
                  <a:srgbClr val="152042"/>
                </a:solidFill>
                <a:latin typeface="Calibri"/>
              </a:rPr>
              <a:t>1. Cartographie des données</a:t>
            </a:r>
          </a:p>
        </p:txBody>
      </p:sp>
      <p:sp>
        <p:nvSpPr>
          <p:cNvPr id="10" name="TextBox 9"/>
          <p:cNvSpPr txBox="1"/>
          <p:nvPr/>
        </p:nvSpPr>
        <p:spPr>
          <a:xfrm>
            <a:off x="960120" y="1874519"/>
            <a:ext cx="10332720" cy="365760"/>
          </a:xfrm>
          <a:prstGeom prst="rect">
            <a:avLst/>
          </a:prstGeom>
          <a:noFill/>
        </p:spPr>
        <p:txBody>
          <a:bodyPr wrap="square" lIns="0" tIns="0" rIns="0" bIns="0" anchor="t">
            <a:spAutoFit/>
          </a:bodyPr>
          <a:lstStyle/>
          <a:p>
            <a:pPr algn="l">
              <a:lnSpc>
                <a:spcPct val="105000"/>
              </a:lnSpc>
            </a:pPr>
            <a:r>
              <a:rPr sz="1300" b="0">
                <a:solidFill>
                  <a:srgbClr val="606A7E"/>
                </a:solidFill>
                <a:latin typeface="Calibri"/>
              </a:rPr>
              <a:t>inventaire des données personnelles par phase de vie — socle RGPD</a:t>
            </a:r>
          </a:p>
        </p:txBody>
      </p:sp>
      <p:sp>
        <p:nvSpPr>
          <p:cNvPr id="11" name="Rectangle 10"/>
          <p:cNvSpPr/>
          <p:nvPr/>
        </p:nvSpPr>
        <p:spPr>
          <a:xfrm>
            <a:off x="640080" y="2386584"/>
            <a:ext cx="10881360" cy="868680"/>
          </a:xfrm>
          <a:prstGeom prst="rect">
            <a:avLst/>
          </a:prstGeom>
          <a:solidFill>
            <a:srgbClr val="E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0080" y="2386584"/>
            <a:ext cx="128016" cy="868680"/>
          </a:xfrm>
          <a:prstGeom prst="rect">
            <a:avLst/>
          </a:prstGeom>
          <a:solidFill>
            <a:srgbClr val="2EA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2459736"/>
            <a:ext cx="10332720" cy="365760"/>
          </a:xfrm>
          <a:prstGeom prst="rect">
            <a:avLst/>
          </a:prstGeom>
          <a:noFill/>
        </p:spPr>
        <p:txBody>
          <a:bodyPr wrap="square" lIns="0" tIns="0" rIns="0" bIns="0" anchor="t">
            <a:spAutoFit/>
          </a:bodyPr>
          <a:lstStyle/>
          <a:p>
            <a:pPr algn="l">
              <a:lnSpc>
                <a:spcPct val="105000"/>
              </a:lnSpc>
            </a:pPr>
            <a:r>
              <a:rPr sz="1500" b="1">
                <a:solidFill>
                  <a:srgbClr val="152042"/>
                </a:solidFill>
                <a:latin typeface="Calibri"/>
              </a:rPr>
              <a:t>2. Charte de conformité RGPD</a:t>
            </a:r>
          </a:p>
        </p:txBody>
      </p:sp>
      <p:sp>
        <p:nvSpPr>
          <p:cNvPr id="14" name="TextBox 13"/>
          <p:cNvSpPr txBox="1"/>
          <p:nvPr/>
        </p:nvSpPr>
        <p:spPr>
          <a:xfrm>
            <a:off x="960120" y="2843784"/>
            <a:ext cx="10332720" cy="365760"/>
          </a:xfrm>
          <a:prstGeom prst="rect">
            <a:avLst/>
          </a:prstGeom>
          <a:noFill/>
        </p:spPr>
        <p:txBody>
          <a:bodyPr wrap="square" lIns="0" tIns="0" rIns="0" bIns="0" anchor="t">
            <a:spAutoFit/>
          </a:bodyPr>
          <a:lstStyle/>
          <a:p>
            <a:pPr algn="l">
              <a:lnSpc>
                <a:spcPct val="105000"/>
              </a:lnSpc>
            </a:pPr>
            <a:r>
              <a:rPr sz="1300" b="0">
                <a:solidFill>
                  <a:srgbClr val="606A7E"/>
                </a:solidFill>
                <a:latin typeface="Calibri"/>
              </a:rPr>
              <a:t>droits, 4 consentements, durées de conservation, contact DPO</a:t>
            </a:r>
          </a:p>
        </p:txBody>
      </p:sp>
      <p:sp>
        <p:nvSpPr>
          <p:cNvPr id="15" name="Rectangle 14"/>
          <p:cNvSpPr/>
          <p:nvPr/>
        </p:nvSpPr>
        <p:spPr>
          <a:xfrm>
            <a:off x="640080" y="3355848"/>
            <a:ext cx="10881360" cy="86868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 y="3355848"/>
            <a:ext cx="128016" cy="868680"/>
          </a:xfrm>
          <a:prstGeom prst="rect">
            <a:avLst/>
          </a:prstGeom>
          <a:solidFill>
            <a:srgbClr val="2E6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3429000"/>
            <a:ext cx="10332720" cy="365760"/>
          </a:xfrm>
          <a:prstGeom prst="rect">
            <a:avLst/>
          </a:prstGeom>
          <a:noFill/>
        </p:spPr>
        <p:txBody>
          <a:bodyPr wrap="square" lIns="0" tIns="0" rIns="0" bIns="0" anchor="t">
            <a:spAutoFit/>
          </a:bodyPr>
          <a:lstStyle/>
          <a:p>
            <a:pPr algn="l">
              <a:lnSpc>
                <a:spcPct val="105000"/>
              </a:lnSpc>
            </a:pPr>
            <a:r>
              <a:rPr sz="1500" b="1">
                <a:solidFill>
                  <a:srgbClr val="152042"/>
                </a:solidFill>
                <a:latin typeface="Calibri"/>
              </a:rPr>
              <a:t>3. Analyse des indicateurs d'insertion</a:t>
            </a:r>
          </a:p>
        </p:txBody>
      </p:sp>
      <p:sp>
        <p:nvSpPr>
          <p:cNvPr id="18" name="TextBox 17"/>
          <p:cNvSpPr txBox="1"/>
          <p:nvPr/>
        </p:nvSpPr>
        <p:spPr>
          <a:xfrm>
            <a:off x="960120" y="3813048"/>
            <a:ext cx="10332720" cy="365760"/>
          </a:xfrm>
          <a:prstGeom prst="rect">
            <a:avLst/>
          </a:prstGeom>
          <a:noFill/>
        </p:spPr>
        <p:txBody>
          <a:bodyPr wrap="square" lIns="0" tIns="0" rIns="0" bIns="0" anchor="t">
            <a:spAutoFit/>
          </a:bodyPr>
          <a:lstStyle/>
          <a:p>
            <a:pPr algn="l">
              <a:lnSpc>
                <a:spcPct val="105000"/>
              </a:lnSpc>
            </a:pPr>
            <a:r>
              <a:rPr sz="1300" b="0">
                <a:solidFill>
                  <a:srgbClr val="606A7E"/>
                </a:solidFill>
                <a:latin typeface="Calibri"/>
              </a:rPr>
              <a:t>les 8 indicateurs : formules, sources, cas limites</a:t>
            </a:r>
          </a:p>
        </p:txBody>
      </p:sp>
      <p:sp>
        <p:nvSpPr>
          <p:cNvPr id="19" name="Rectangle 18"/>
          <p:cNvSpPr/>
          <p:nvPr/>
        </p:nvSpPr>
        <p:spPr>
          <a:xfrm>
            <a:off x="640080" y="4325112"/>
            <a:ext cx="10881360" cy="868680"/>
          </a:xfrm>
          <a:prstGeom prst="rect">
            <a:avLst/>
          </a:prstGeom>
          <a:solidFill>
            <a:srgbClr val="E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40080" y="4325112"/>
            <a:ext cx="128016" cy="868680"/>
          </a:xfrm>
          <a:prstGeom prst="rect">
            <a:avLst/>
          </a:prstGeom>
          <a:solidFill>
            <a:srgbClr val="2EA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0120" y="4398264"/>
            <a:ext cx="10332720" cy="365760"/>
          </a:xfrm>
          <a:prstGeom prst="rect">
            <a:avLst/>
          </a:prstGeom>
          <a:noFill/>
        </p:spPr>
        <p:txBody>
          <a:bodyPr wrap="square" lIns="0" tIns="0" rIns="0" bIns="0" anchor="t">
            <a:spAutoFit/>
          </a:bodyPr>
          <a:lstStyle/>
          <a:p>
            <a:pPr algn="l">
              <a:lnSpc>
                <a:spcPct val="105000"/>
              </a:lnSpc>
            </a:pPr>
            <a:r>
              <a:rPr sz="1500" b="1">
                <a:solidFill>
                  <a:srgbClr val="152042"/>
                </a:solidFill>
                <a:latin typeface="Calibri"/>
              </a:rPr>
              <a:t>4. Stratégie de mise à jour des données</a:t>
            </a:r>
          </a:p>
        </p:txBody>
      </p:sp>
      <p:sp>
        <p:nvSpPr>
          <p:cNvPr id="22" name="TextBox 21"/>
          <p:cNvSpPr txBox="1"/>
          <p:nvPr/>
        </p:nvSpPr>
        <p:spPr>
          <a:xfrm>
            <a:off x="960120" y="4782312"/>
            <a:ext cx="10332720" cy="365760"/>
          </a:xfrm>
          <a:prstGeom prst="rect">
            <a:avLst/>
          </a:prstGeom>
          <a:noFill/>
        </p:spPr>
        <p:txBody>
          <a:bodyPr wrap="square" lIns="0" tIns="0" rIns="0" bIns="0" anchor="t">
            <a:spAutoFit/>
          </a:bodyPr>
          <a:lstStyle/>
          <a:p>
            <a:pPr algn="l">
              <a:lnSpc>
                <a:spcPct val="105000"/>
              </a:lnSpc>
            </a:pPr>
            <a:r>
              <a:rPr sz="1300" b="0">
                <a:solidFill>
                  <a:srgbClr val="606A7E"/>
                </a:solidFill>
                <a:latin typeface="Calibri"/>
              </a:rPr>
              <a:t>gouvernance contre l'obsolescence de l'annuaire alumni</a:t>
            </a:r>
          </a:p>
        </p:txBody>
      </p:sp>
      <p:sp>
        <p:nvSpPr>
          <p:cNvPr id="23" name="Rectangle 22"/>
          <p:cNvSpPr/>
          <p:nvPr/>
        </p:nvSpPr>
        <p:spPr>
          <a:xfrm>
            <a:off x="640080" y="5294376"/>
            <a:ext cx="10881360" cy="86868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40080" y="5294376"/>
            <a:ext cx="128016" cy="868680"/>
          </a:xfrm>
          <a:prstGeom prst="rect">
            <a:avLst/>
          </a:prstGeom>
          <a:solidFill>
            <a:srgbClr val="2E6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60120" y="5367528"/>
            <a:ext cx="10332720" cy="365760"/>
          </a:xfrm>
          <a:prstGeom prst="rect">
            <a:avLst/>
          </a:prstGeom>
          <a:noFill/>
        </p:spPr>
        <p:txBody>
          <a:bodyPr wrap="square" lIns="0" tIns="0" rIns="0" bIns="0" anchor="t">
            <a:spAutoFit/>
          </a:bodyPr>
          <a:lstStyle/>
          <a:p>
            <a:pPr algn="l">
              <a:lnSpc>
                <a:spcPct val="105000"/>
              </a:lnSpc>
            </a:pPr>
            <a:r>
              <a:rPr sz="1500" b="1">
                <a:solidFill>
                  <a:srgbClr val="152042"/>
                </a:solidFill>
                <a:latin typeface="Calibri"/>
              </a:rPr>
              <a:t>5. Guide des processus d'animation du réseau</a:t>
            </a:r>
          </a:p>
        </p:txBody>
      </p:sp>
      <p:sp>
        <p:nvSpPr>
          <p:cNvPr id="26" name="TextBox 25"/>
          <p:cNvSpPr txBox="1"/>
          <p:nvPr/>
        </p:nvSpPr>
        <p:spPr>
          <a:xfrm>
            <a:off x="960120" y="5751576"/>
            <a:ext cx="10332720" cy="365760"/>
          </a:xfrm>
          <a:prstGeom prst="rect">
            <a:avLst/>
          </a:prstGeom>
          <a:noFill/>
        </p:spPr>
        <p:txBody>
          <a:bodyPr wrap="square" lIns="0" tIns="0" rIns="0" bIns="0" anchor="t">
            <a:spAutoFit/>
          </a:bodyPr>
          <a:lstStyle/>
          <a:p>
            <a:pPr algn="l">
              <a:lnSpc>
                <a:spcPct val="105000"/>
              </a:lnSpc>
            </a:pPr>
            <a:r>
              <a:rPr sz="1300" b="0">
                <a:solidFill>
                  <a:srgbClr val="606A7E"/>
                </a:solidFill>
                <a:latin typeface="Calibri"/>
              </a:rPr>
              <a:t>7 processus opérationnels pour le service Relations Entreprises</a:t>
            </a:r>
          </a:p>
        </p:txBody>
      </p:sp>
      <p:sp>
        <p:nvSpPr>
          <p:cNvPr id="27" name="TextBox 26"/>
          <p:cNvSpPr txBox="1"/>
          <p:nvPr/>
        </p:nvSpPr>
        <p:spPr>
          <a:xfrm>
            <a:off x="640080" y="6217920"/>
            <a:ext cx="10881360" cy="365760"/>
          </a:xfrm>
          <a:prstGeom prst="rect">
            <a:avLst/>
          </a:prstGeom>
          <a:noFill/>
        </p:spPr>
        <p:txBody>
          <a:bodyPr wrap="square" lIns="0" tIns="0" rIns="0" bIns="0" anchor="t">
            <a:spAutoFit/>
          </a:bodyPr>
          <a:lstStyle/>
          <a:p>
            <a:pPr algn="ctr">
              <a:lnSpc>
                <a:spcPct val="105000"/>
              </a:lnSpc>
            </a:pPr>
            <a:r>
              <a:rPr sz="1300" b="0">
                <a:solidFill>
                  <a:srgbClr val="606A7E"/>
                </a:solidFill>
                <a:latin typeface="Calibri"/>
              </a:rPr>
              <a:t>Tous générés par scripts (fpdf2, python-docx) : régénérables, donc toujours synchronisés avec le rapport.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2191695" cy="1051560"/>
          </a:xfrm>
          <a:prstGeom prst="rect">
            <a:avLst/>
          </a:prstGeom>
          <a:noFill/>
        </p:spPr>
        <p:txBody>
          <a:bodyPr wrap="square" lIns="0" tIns="0" rIns="0" bIns="0" anchor="t">
            <a:spAutoFit/>
          </a:bodyPr>
          <a:lstStyle/>
          <a:p>
            <a:pPr algn="l">
              <a:lnSpc>
                <a:spcPct val="105000"/>
              </a:lnSpc>
            </a:pPr>
            <a:r>
              <a:rPr sz="2700" b="1">
                <a:solidFill>
                  <a:srgbClr val="152042"/>
                </a:solidFill>
                <a:latin typeface="Calibri"/>
              </a:rPr>
              <a:t>Bilan, limites, pistes</a:t>
            </a:r>
          </a:p>
        </p:txBody>
      </p:sp>
      <p:sp>
        <p:nvSpPr>
          <p:cNvPr id="3" name="TextBox 2"/>
          <p:cNvSpPr txBox="1"/>
          <p:nvPr/>
        </p:nvSpPr>
        <p:spPr>
          <a:xfrm>
            <a:off x="502920" y="932688"/>
            <a:ext cx="2377440" cy="82296"/>
          </a:xfrm>
          <a:prstGeom prst="rect">
            <a:avLst/>
          </a:prstGeom>
          <a:solidFill>
            <a:srgbClr val="2EA06E"/>
          </a:solidFill>
        </p:spPr>
        <p:txBody>
          <a:bodyPr wrap="square" lIns="0" tIns="0" rIns="0" bIns="0" anchor="t">
            <a:spAutoFit/>
          </a:bodyPr>
          <a:lstStyle/>
          <a:p>
            <a:pPr algn="l">
              <a:lnSpc>
                <a:spcPct val="105000"/>
              </a:lnSpc>
            </a:pPr>
            <a:endParaRPr/>
          </a:p>
        </p:txBody>
      </p:sp>
      <p:sp>
        <p:nvSpPr>
          <p:cNvPr id="4" name="TextBox 3"/>
          <p:cNvSpPr txBox="1"/>
          <p:nvPr/>
        </p:nvSpPr>
        <p:spPr>
          <a:xfrm>
            <a:off x="11109960" y="201168"/>
            <a:ext cx="868680" cy="365760"/>
          </a:xfrm>
          <a:prstGeom prst="rect">
            <a:avLst/>
          </a:prstGeom>
          <a:noFill/>
        </p:spPr>
        <p:txBody>
          <a:bodyPr wrap="square" lIns="0" tIns="0" rIns="0" bIns="0" anchor="t">
            <a:spAutoFit/>
          </a:bodyPr>
          <a:lstStyle/>
          <a:p>
            <a:pPr algn="r">
              <a:lnSpc>
                <a:spcPct val="105000"/>
              </a:lnSpc>
            </a:pPr>
            <a:r>
              <a:rPr sz="1200" b="0">
                <a:solidFill>
                  <a:srgbClr val="606A7E"/>
                </a:solidFill>
                <a:latin typeface="Calibri"/>
              </a:rPr>
              <a:t>0:45</a:t>
            </a:r>
          </a:p>
        </p:txBody>
      </p:sp>
      <p:sp>
        <p:nvSpPr>
          <p:cNvPr id="5" name="TextBox 4"/>
          <p:cNvSpPr txBox="1"/>
          <p:nvPr/>
        </p:nvSpPr>
        <p:spPr>
          <a:xfrm>
            <a:off x="0" y="6446520"/>
            <a:ext cx="12191695" cy="320040"/>
          </a:xfrm>
          <a:prstGeom prst="rect">
            <a:avLst/>
          </a:prstGeom>
          <a:solidFill>
            <a:srgbClr val="152042"/>
          </a:solidFill>
        </p:spPr>
        <p:txBody>
          <a:bodyPr wrap="square" lIns="0" tIns="0" rIns="0" bIns="0" anchor="t">
            <a:spAutoFit/>
          </a:bodyPr>
          <a:lstStyle/>
          <a:p>
            <a:pPr algn="l">
              <a:lnSpc>
                <a:spcPct val="105000"/>
              </a:lnSpc>
            </a:pPr>
            <a:endParaRPr/>
          </a:p>
        </p:txBody>
      </p:sp>
      <p:sp>
        <p:nvSpPr>
          <p:cNvPr id="6" name="Rectangle 5"/>
          <p:cNvSpPr/>
          <p:nvPr/>
        </p:nvSpPr>
        <p:spPr>
          <a:xfrm>
            <a:off x="502920" y="1371600"/>
            <a:ext cx="3657600" cy="448056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371600"/>
            <a:ext cx="3657600" cy="640080"/>
          </a:xfrm>
          <a:prstGeom prst="rect">
            <a:avLst/>
          </a:prstGeom>
          <a:solidFill>
            <a:srgbClr val="2E6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444752"/>
            <a:ext cx="3383280" cy="457200"/>
          </a:xfrm>
          <a:prstGeom prst="rect">
            <a:avLst/>
          </a:prstGeom>
          <a:noFill/>
        </p:spPr>
        <p:txBody>
          <a:bodyPr wrap="square" lIns="0" tIns="0" rIns="0" bIns="0" anchor="t">
            <a:spAutoFit/>
          </a:bodyPr>
          <a:lstStyle/>
          <a:p>
            <a:pPr algn="ctr">
              <a:lnSpc>
                <a:spcPct val="105000"/>
              </a:lnSpc>
            </a:pPr>
            <a:r>
              <a:rPr sz="1700" b="1">
                <a:solidFill>
                  <a:srgbClr val="FFFFFF"/>
                </a:solidFill>
                <a:latin typeface="Calibri"/>
              </a:rPr>
              <a:t>Bilan</a:t>
            </a:r>
          </a:p>
        </p:txBody>
      </p:sp>
      <p:sp>
        <p:nvSpPr>
          <p:cNvPr id="9" name="TextBox 8"/>
          <p:cNvSpPr txBox="1"/>
          <p:nvPr/>
        </p:nvSpPr>
        <p:spPr>
          <a:xfrm>
            <a:off x="685800" y="2286000"/>
            <a:ext cx="3291840" cy="3383280"/>
          </a:xfrm>
          <a:prstGeom prst="rect">
            <a:avLst/>
          </a:prstGeom>
          <a:noFill/>
        </p:spPr>
        <p:txBody>
          <a:bodyPr wrap="square" lIns="0" tIns="0" rIns="0" bIns="0" anchor="t">
            <a:spAutoFit/>
          </a:bodyPr>
          <a:lstStyle/>
          <a:p>
            <a:pPr algn="l">
              <a:lnSpc>
                <a:spcPct val="105000"/>
              </a:lnSpc>
            </a:pPr>
            <a:r>
              <a:rPr sz="1350" b="0">
                <a:solidFill>
                  <a:srgbClr val="152042"/>
                </a:solidFill>
                <a:latin typeface="Calibri"/>
              </a:rPr>
              <a:t>full-stack complet : données, API FastAPI, front React</a:t>
            </a:r>
          </a:p>
          <a:p>
            <a:pPr algn="l">
              <a:lnSpc>
                <a:spcPct val="105000"/>
              </a:lnSpc>
            </a:pPr>
            <a:r>
              <a:rPr sz="1350" b="0">
                <a:solidFill>
                  <a:srgbClr val="152042"/>
                </a:solidFill>
                <a:latin typeface="Calibri"/>
              </a:rPr>
              <a:t>sécurité appliquée : IDOR, TOCTOU, messages sanitaires</a:t>
            </a:r>
          </a:p>
          <a:p>
            <a:pPr algn="l">
              <a:lnSpc>
                <a:spcPct val="105000"/>
              </a:lnSpc>
            </a:pPr>
            <a:r>
              <a:rPr sz="1350" b="0">
                <a:solidFill>
                  <a:srgbClr val="152042"/>
                </a:solidFill>
                <a:latin typeface="Calibri"/>
              </a:rPr>
              <a:t>rigueur : migrations versionnées, documents traités comme du code</a:t>
            </a:r>
          </a:p>
        </p:txBody>
      </p:sp>
      <p:sp>
        <p:nvSpPr>
          <p:cNvPr id="10" name="Rectangle 9"/>
          <p:cNvSpPr/>
          <p:nvPr/>
        </p:nvSpPr>
        <p:spPr>
          <a:xfrm>
            <a:off x="4270248" y="1371600"/>
            <a:ext cx="3657600" cy="4480560"/>
          </a:xfrm>
          <a:prstGeom prst="rect">
            <a:avLst/>
          </a:prstGeom>
          <a:solidFill>
            <a:srgbClr val="FB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70248" y="1371600"/>
            <a:ext cx="3657600" cy="6400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07408" y="1444752"/>
            <a:ext cx="3383280" cy="457200"/>
          </a:xfrm>
          <a:prstGeom prst="rect">
            <a:avLst/>
          </a:prstGeom>
          <a:noFill/>
        </p:spPr>
        <p:txBody>
          <a:bodyPr wrap="square" lIns="0" tIns="0" rIns="0" bIns="0" anchor="t">
            <a:spAutoFit/>
          </a:bodyPr>
          <a:lstStyle/>
          <a:p>
            <a:pPr algn="ctr">
              <a:lnSpc>
                <a:spcPct val="105000"/>
              </a:lnSpc>
            </a:pPr>
            <a:r>
              <a:rPr sz="1700" b="1">
                <a:solidFill>
                  <a:srgbClr val="FFFFFF"/>
                </a:solidFill>
                <a:latin typeface="Calibri"/>
              </a:rPr>
              <a:t>Limites</a:t>
            </a:r>
          </a:p>
        </p:txBody>
      </p:sp>
      <p:sp>
        <p:nvSpPr>
          <p:cNvPr id="13" name="TextBox 12"/>
          <p:cNvSpPr txBox="1"/>
          <p:nvPr/>
        </p:nvSpPr>
        <p:spPr>
          <a:xfrm>
            <a:off x="4453128" y="2286000"/>
            <a:ext cx="3291840" cy="3383280"/>
          </a:xfrm>
          <a:prstGeom prst="rect">
            <a:avLst/>
          </a:prstGeom>
          <a:noFill/>
        </p:spPr>
        <p:txBody>
          <a:bodyPr wrap="square" lIns="0" tIns="0" rIns="0" bIns="0" anchor="t">
            <a:spAutoFit/>
          </a:bodyPr>
          <a:lstStyle/>
          <a:p>
            <a:pPr algn="l">
              <a:lnSpc>
                <a:spcPct val="105000"/>
              </a:lnSpc>
            </a:pPr>
            <a:r>
              <a:rPr sz="1350" b="0" dirty="0">
                <a:solidFill>
                  <a:srgbClr val="152042"/>
                </a:solidFill>
                <a:latin typeface="Calibri"/>
              </a:rPr>
              <a:t>pas de tests </a:t>
            </a:r>
            <a:r>
              <a:rPr sz="1350" b="0" dirty="0" err="1">
                <a:solidFill>
                  <a:srgbClr val="152042"/>
                </a:solidFill>
                <a:latin typeface="Calibri"/>
              </a:rPr>
              <a:t>automatisés</a:t>
            </a:r>
            <a:r>
              <a:rPr sz="1350" b="0" dirty="0">
                <a:solidFill>
                  <a:srgbClr val="152042"/>
                </a:solidFill>
                <a:latin typeface="Calibri"/>
              </a:rPr>
              <a:t> — </a:t>
            </a:r>
            <a:r>
              <a:rPr sz="1350" b="0" dirty="0" err="1">
                <a:solidFill>
                  <a:srgbClr val="152042"/>
                </a:solidFill>
                <a:latin typeface="Calibri"/>
              </a:rPr>
              <a:t>prérequis</a:t>
            </a:r>
            <a:r>
              <a:rPr sz="1350" b="0" dirty="0">
                <a:solidFill>
                  <a:srgbClr val="152042"/>
                </a:solidFill>
                <a:latin typeface="Calibri"/>
              </a:rPr>
              <a:t> avant la production</a:t>
            </a:r>
          </a:p>
          <a:p>
            <a:pPr algn="l">
              <a:lnSpc>
                <a:spcPct val="105000"/>
              </a:lnSpc>
            </a:pPr>
            <a:r>
              <a:rPr sz="1350" b="0" dirty="0">
                <a:solidFill>
                  <a:srgbClr val="152042"/>
                </a:solidFill>
                <a:latin typeface="Calibri"/>
              </a:rPr>
              <a:t>pas de </a:t>
            </a:r>
            <a:r>
              <a:rPr sz="1350" b="0" dirty="0" err="1">
                <a:solidFill>
                  <a:srgbClr val="152042"/>
                </a:solidFill>
                <a:latin typeface="Calibri"/>
              </a:rPr>
              <a:t>chiffrement</a:t>
            </a:r>
            <a:r>
              <a:rPr sz="1350" b="0" dirty="0">
                <a:solidFill>
                  <a:srgbClr val="152042"/>
                </a:solidFill>
                <a:latin typeface="Calibri"/>
              </a:rPr>
              <a:t> des données </a:t>
            </a:r>
            <a:r>
              <a:rPr sz="1350" b="0" dirty="0" err="1">
                <a:solidFill>
                  <a:srgbClr val="152042"/>
                </a:solidFill>
                <a:latin typeface="Calibri"/>
              </a:rPr>
              <a:t>sensibles</a:t>
            </a:r>
            <a:endParaRPr sz="1350" b="0" dirty="0">
              <a:solidFill>
                <a:srgbClr val="152042"/>
              </a:solidFill>
              <a:latin typeface="Calibri"/>
            </a:endParaRPr>
          </a:p>
          <a:p>
            <a:pPr algn="l">
              <a:lnSpc>
                <a:spcPct val="105000"/>
              </a:lnSpc>
            </a:pPr>
            <a:r>
              <a:rPr sz="1350" b="0" dirty="0" err="1">
                <a:solidFill>
                  <a:srgbClr val="152042"/>
                </a:solidFill>
                <a:latin typeface="Calibri"/>
              </a:rPr>
              <a:t>déploiement</a:t>
            </a:r>
            <a:r>
              <a:rPr sz="1350" b="0" dirty="0">
                <a:solidFill>
                  <a:srgbClr val="152042"/>
                </a:solidFill>
                <a:latin typeface="Calibri"/>
              </a:rPr>
              <a:t> </a:t>
            </a:r>
            <a:r>
              <a:rPr sz="1350" b="0" dirty="0" err="1">
                <a:solidFill>
                  <a:srgbClr val="152042"/>
                </a:solidFill>
                <a:latin typeface="Calibri"/>
              </a:rPr>
              <a:t>côté</a:t>
            </a:r>
            <a:r>
              <a:rPr sz="1350" b="0" dirty="0">
                <a:solidFill>
                  <a:srgbClr val="152042"/>
                </a:solidFill>
                <a:latin typeface="Calibri"/>
              </a:rPr>
              <a:t> école : </a:t>
            </a:r>
            <a:r>
              <a:rPr sz="1350" b="0" dirty="0" err="1">
                <a:solidFill>
                  <a:srgbClr val="152042"/>
                </a:solidFill>
                <a:latin typeface="Calibri"/>
              </a:rPr>
              <a:t>une</a:t>
            </a:r>
            <a:r>
              <a:rPr sz="1350" b="0" dirty="0">
                <a:solidFill>
                  <a:srgbClr val="152042"/>
                </a:solidFill>
                <a:latin typeface="Calibri"/>
              </a:rPr>
              <a:t> infrastructure à </a:t>
            </a:r>
            <a:r>
              <a:rPr sz="1350" b="0" dirty="0" err="1">
                <a:solidFill>
                  <a:srgbClr val="152042"/>
                </a:solidFill>
                <a:latin typeface="Calibri"/>
              </a:rPr>
              <a:t>prévoir</a:t>
            </a:r>
            <a:endParaRPr sz="1350" b="0" dirty="0">
              <a:solidFill>
                <a:srgbClr val="152042"/>
              </a:solidFill>
              <a:latin typeface="Calibri"/>
            </a:endParaRPr>
          </a:p>
        </p:txBody>
      </p:sp>
      <p:sp>
        <p:nvSpPr>
          <p:cNvPr id="14" name="Rectangle 13"/>
          <p:cNvSpPr/>
          <p:nvPr/>
        </p:nvSpPr>
        <p:spPr>
          <a:xfrm>
            <a:off x="8037575" y="1371600"/>
            <a:ext cx="3657600" cy="4480560"/>
          </a:xfrm>
          <a:prstGeom prst="rect">
            <a:avLst/>
          </a:prstGeom>
          <a:solidFill>
            <a:srgbClr val="E7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37575" y="1371600"/>
            <a:ext cx="3657600" cy="640080"/>
          </a:xfrm>
          <a:prstGeom prst="rect">
            <a:avLst/>
          </a:prstGeom>
          <a:solidFill>
            <a:srgbClr val="2EA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74736" y="1444752"/>
            <a:ext cx="3383280" cy="457200"/>
          </a:xfrm>
          <a:prstGeom prst="rect">
            <a:avLst/>
          </a:prstGeom>
          <a:noFill/>
        </p:spPr>
        <p:txBody>
          <a:bodyPr wrap="square" lIns="0" tIns="0" rIns="0" bIns="0" anchor="t">
            <a:spAutoFit/>
          </a:bodyPr>
          <a:lstStyle/>
          <a:p>
            <a:pPr algn="ctr">
              <a:lnSpc>
                <a:spcPct val="105000"/>
              </a:lnSpc>
            </a:pPr>
            <a:r>
              <a:rPr sz="1700" b="1">
                <a:solidFill>
                  <a:srgbClr val="FFFFFF"/>
                </a:solidFill>
                <a:latin typeface="Calibri"/>
              </a:rPr>
              <a:t>Pistes</a:t>
            </a:r>
          </a:p>
        </p:txBody>
      </p:sp>
      <p:sp>
        <p:nvSpPr>
          <p:cNvPr id="17" name="TextBox 16"/>
          <p:cNvSpPr txBox="1"/>
          <p:nvPr/>
        </p:nvSpPr>
        <p:spPr>
          <a:xfrm>
            <a:off x="8220455" y="2286000"/>
            <a:ext cx="3291840" cy="3383280"/>
          </a:xfrm>
          <a:prstGeom prst="rect">
            <a:avLst/>
          </a:prstGeom>
          <a:noFill/>
        </p:spPr>
        <p:txBody>
          <a:bodyPr wrap="square" lIns="0" tIns="0" rIns="0" bIns="0" anchor="t">
            <a:spAutoFit/>
          </a:bodyPr>
          <a:lstStyle/>
          <a:p>
            <a:pPr algn="l">
              <a:lnSpc>
                <a:spcPct val="105000"/>
              </a:lnSpc>
            </a:pPr>
            <a:r>
              <a:rPr sz="1350" b="0" dirty="0">
                <a:solidFill>
                  <a:srgbClr val="152042"/>
                </a:solidFill>
                <a:latin typeface="Calibri"/>
              </a:rPr>
              <a:t>court </a:t>
            </a:r>
            <a:r>
              <a:rPr sz="1350" b="0" dirty="0" err="1">
                <a:solidFill>
                  <a:srgbClr val="152042"/>
                </a:solidFill>
                <a:latin typeface="Calibri"/>
              </a:rPr>
              <a:t>terme</a:t>
            </a:r>
            <a:r>
              <a:rPr sz="1350" b="0" dirty="0">
                <a:solidFill>
                  <a:srgbClr val="152042"/>
                </a:solidFill>
                <a:latin typeface="Calibri"/>
              </a:rPr>
              <a:t> : tests </a:t>
            </a:r>
            <a:r>
              <a:rPr sz="1350" b="0" dirty="0" err="1">
                <a:solidFill>
                  <a:srgbClr val="152042"/>
                </a:solidFill>
                <a:latin typeface="Calibri"/>
              </a:rPr>
              <a:t>automatisés</a:t>
            </a:r>
            <a:r>
              <a:rPr sz="1350" b="0" dirty="0">
                <a:solidFill>
                  <a:srgbClr val="152042"/>
                </a:solidFill>
                <a:latin typeface="Calibri"/>
              </a:rPr>
              <a:t>, newsletter, relances</a:t>
            </a:r>
          </a:p>
          <a:p>
            <a:pPr algn="l">
              <a:lnSpc>
                <a:spcPct val="105000"/>
              </a:lnSpc>
            </a:pPr>
            <a:r>
              <a:rPr sz="1350" b="0" dirty="0">
                <a:solidFill>
                  <a:srgbClr val="152042"/>
                </a:solidFill>
                <a:latin typeface="Calibri"/>
              </a:rPr>
              <a:t>moyen </a:t>
            </a:r>
            <a:r>
              <a:rPr sz="1350" b="0" dirty="0" err="1">
                <a:solidFill>
                  <a:srgbClr val="152042"/>
                </a:solidFill>
                <a:latin typeface="Calibri"/>
              </a:rPr>
              <a:t>terme</a:t>
            </a:r>
            <a:r>
              <a:rPr sz="1350" b="0" dirty="0">
                <a:solidFill>
                  <a:srgbClr val="152042"/>
                </a:solidFill>
                <a:latin typeface="Calibri"/>
              </a:rPr>
              <a:t> : </a:t>
            </a:r>
            <a:r>
              <a:rPr sz="1350" b="0" dirty="0" err="1">
                <a:solidFill>
                  <a:srgbClr val="152042"/>
                </a:solidFill>
                <a:latin typeface="Calibri"/>
              </a:rPr>
              <a:t>mentorat</a:t>
            </a:r>
            <a:r>
              <a:rPr sz="1350" b="0" dirty="0">
                <a:solidFill>
                  <a:srgbClr val="152042"/>
                </a:solidFill>
                <a:latin typeface="Calibri"/>
              </a:rPr>
              <a:t>, </a:t>
            </a:r>
            <a:r>
              <a:rPr sz="1350" b="0" dirty="0" err="1">
                <a:solidFill>
                  <a:srgbClr val="152042"/>
                </a:solidFill>
                <a:latin typeface="Calibri"/>
              </a:rPr>
              <a:t>chiffrement</a:t>
            </a:r>
            <a:r>
              <a:rPr sz="1350" b="0" dirty="0">
                <a:solidFill>
                  <a:srgbClr val="152042"/>
                </a:solidFill>
                <a:latin typeface="Calibri"/>
              </a:rPr>
              <a:t>, </a:t>
            </a:r>
            <a:r>
              <a:rPr sz="1350" b="0" dirty="0" err="1">
                <a:solidFill>
                  <a:srgbClr val="152042"/>
                </a:solidFill>
                <a:latin typeface="Calibri"/>
              </a:rPr>
              <a:t>édition</a:t>
            </a:r>
            <a:r>
              <a:rPr sz="1350" b="0" dirty="0">
                <a:solidFill>
                  <a:srgbClr val="152042"/>
                </a:solidFill>
                <a:latin typeface="Calibri"/>
              </a:rPr>
              <a:t> </a:t>
            </a:r>
            <a:r>
              <a:rPr sz="1350" b="0" dirty="0" err="1">
                <a:solidFill>
                  <a:srgbClr val="152042"/>
                </a:solidFill>
                <a:latin typeface="Calibri"/>
              </a:rPr>
              <a:t>en</a:t>
            </a:r>
            <a:r>
              <a:rPr sz="1350" b="0" dirty="0">
                <a:solidFill>
                  <a:srgbClr val="152042"/>
                </a:solidFill>
                <a:latin typeface="Calibri"/>
              </a:rPr>
              <a:t> </a:t>
            </a:r>
            <a:r>
              <a:rPr sz="1350" b="0" dirty="0" err="1">
                <a:solidFill>
                  <a:srgbClr val="152042"/>
                </a:solidFill>
                <a:latin typeface="Calibri"/>
              </a:rPr>
              <a:t>ligne</a:t>
            </a:r>
            <a:endParaRPr sz="1350" b="0" dirty="0">
              <a:solidFill>
                <a:srgbClr val="152042"/>
              </a:solidFill>
              <a:latin typeface="Calibri"/>
            </a:endParaRPr>
          </a:p>
          <a:p>
            <a:pPr algn="l">
              <a:lnSpc>
                <a:spcPct val="105000"/>
              </a:lnSpc>
            </a:pPr>
            <a:r>
              <a:rPr sz="1350" b="0" dirty="0">
                <a:solidFill>
                  <a:srgbClr val="152042"/>
                </a:solidFill>
                <a:latin typeface="Calibri"/>
              </a:rPr>
              <a:t>long </a:t>
            </a:r>
            <a:r>
              <a:rPr sz="1350" b="0" dirty="0" err="1">
                <a:solidFill>
                  <a:srgbClr val="152042"/>
                </a:solidFill>
                <a:latin typeface="Calibri"/>
              </a:rPr>
              <a:t>terme</a:t>
            </a:r>
            <a:r>
              <a:rPr sz="1350" b="0" dirty="0">
                <a:solidFill>
                  <a:srgbClr val="152042"/>
                </a:solidFill>
                <a:latin typeface="Calibri"/>
              </a:rPr>
              <a:t> : PWA, tests E2E, notification de violation (art. 33)</a:t>
            </a:r>
          </a:p>
        </p:txBody>
      </p:sp>
      <p:sp>
        <p:nvSpPr>
          <p:cNvPr id="18" name="TextBox 17"/>
          <p:cNvSpPr txBox="1"/>
          <p:nvPr/>
        </p:nvSpPr>
        <p:spPr>
          <a:xfrm>
            <a:off x="640080" y="5989320"/>
            <a:ext cx="10881360" cy="365760"/>
          </a:xfrm>
          <a:prstGeom prst="rect">
            <a:avLst/>
          </a:prstGeom>
          <a:noFill/>
        </p:spPr>
        <p:txBody>
          <a:bodyPr wrap="square" lIns="0" tIns="0" rIns="0" bIns="0" anchor="t">
            <a:spAutoFit/>
          </a:bodyPr>
          <a:lstStyle/>
          <a:p>
            <a:pPr algn="l">
              <a:lnSpc>
                <a:spcPct val="105000"/>
              </a:lnSpc>
            </a:pPr>
            <a:r>
              <a:rPr sz="1400" b="0">
                <a:solidFill>
                  <a:srgbClr val="606A7E"/>
                </a:solidFill>
                <a:latin typeface="Calibri"/>
              </a:rPr>
              <a:t>Bilan : les 4 objectifs du départ sont couverts par un prototype opérationnel, conforme au RGPD.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52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053328"/>
            <a:ext cx="12191695" cy="804672"/>
          </a:xfrm>
          <a:prstGeom prst="rect">
            <a:avLst/>
          </a:prstGeom>
          <a:solidFill>
            <a:srgbClr val="2EA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468880"/>
            <a:ext cx="10515600" cy="1280160"/>
          </a:xfrm>
          <a:prstGeom prst="rect">
            <a:avLst/>
          </a:prstGeom>
          <a:noFill/>
        </p:spPr>
        <p:txBody>
          <a:bodyPr wrap="square" lIns="0" tIns="0" rIns="0" bIns="0" anchor="t">
            <a:spAutoFit/>
          </a:bodyPr>
          <a:lstStyle/>
          <a:p>
            <a:pPr algn="ctr">
              <a:lnSpc>
                <a:spcPct val="105000"/>
              </a:lnSpc>
            </a:pPr>
            <a:r>
              <a:rPr sz="4000" b="1">
                <a:solidFill>
                  <a:srgbClr val="FFFFFF"/>
                </a:solidFill>
                <a:latin typeface="Calibri"/>
              </a:rPr>
              <a:t>Merci, je suis prêt pour vos questions</a:t>
            </a:r>
          </a:p>
        </p:txBody>
      </p:sp>
      <p:sp>
        <p:nvSpPr>
          <p:cNvPr id="5" name="TextBox 4"/>
          <p:cNvSpPr txBox="1"/>
          <p:nvPr/>
        </p:nvSpPr>
        <p:spPr>
          <a:xfrm>
            <a:off x="1188720" y="3840480"/>
            <a:ext cx="9784080" cy="731520"/>
          </a:xfrm>
          <a:prstGeom prst="rect">
            <a:avLst/>
          </a:prstGeom>
          <a:noFill/>
        </p:spPr>
        <p:txBody>
          <a:bodyPr wrap="square" lIns="0" tIns="0" rIns="0" bIns="0" anchor="t">
            <a:spAutoFit/>
          </a:bodyPr>
          <a:lstStyle/>
          <a:p>
            <a:pPr algn="ctr">
              <a:lnSpc>
                <a:spcPct val="105000"/>
              </a:lnSpc>
            </a:pPr>
            <a:r>
              <a:rPr sz="1600" b="0">
                <a:solidFill>
                  <a:srgbClr val="C7D4EE"/>
                </a:solidFill>
                <a:latin typeface="Calibri"/>
              </a:rPr>
              <a:t>Alumni CRM — 14 tables · 84 endpoints · 14 routes · 8 indicateurs · conforme RGPD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4107</Words>
  <Application>Microsoft Office PowerPoint</Application>
  <PresentationFormat>Widescreen</PresentationFormat>
  <Paragraphs>273</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Rafik djemadi</cp:lastModifiedBy>
  <cp:revision>1</cp:revision>
  <dcterms:created xsi:type="dcterms:W3CDTF">2013-01-27T09:14:16Z</dcterms:created>
  <dcterms:modified xsi:type="dcterms:W3CDTF">2026-09-15T13:46:22Z</dcterms:modified>
  <cp:category/>
</cp:coreProperties>
</file>